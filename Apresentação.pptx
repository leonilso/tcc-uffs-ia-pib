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13"/>
  </p:notesMasterIdLst>
  <p:sldIdLst>
    <p:sldId id="256" r:id="rId2"/>
    <p:sldId id="257" r:id="rId3"/>
    <p:sldId id="281" r:id="rId4"/>
    <p:sldId id="282" r:id="rId5"/>
    <p:sldId id="258" r:id="rId6"/>
    <p:sldId id="259" r:id="rId7"/>
    <p:sldId id="260" r:id="rId8"/>
    <p:sldId id="280" r:id="rId9"/>
    <p:sldId id="261" r:id="rId10"/>
    <p:sldId id="262" r:id="rId11"/>
    <p:sldId id="278" r:id="rId12"/>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32" roundtripDataSignature="AMtx7mjMnhkxMwBxEZm/FGvuU7QH/chp5A=="/>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75" d="100"/>
          <a:sy n="75" d="100"/>
        </p:scale>
        <p:origin x="43" y="25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33"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32" Type="http://customschemas.google.com/relationships/presentationmetadata" Target="metadata"/><Relationship Id="rId5" Type="http://schemas.openxmlformats.org/officeDocument/2006/relationships/slide" Target="slides/slide4.xml"/><Relationship Id="rId36"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35"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pt-BR" sz="1200" b="0" i="0" u="none" strike="noStrike" cap="none">
                <a:solidFill>
                  <a:schemeClr val="dk1"/>
                </a:solidFill>
                <a:latin typeface="Calibri"/>
                <a:ea typeface="Calibri"/>
                <a:cs typeface="Calibri"/>
                <a:sym typeface="Calibri"/>
              </a:rPr>
              <a:t>‹nº›</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4" name="Google Shape;94;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pt-BR" dirty="0"/>
              <a:t>A imagem foi gerada usando a IA </a:t>
            </a:r>
            <a:r>
              <a:rPr lang="pt-BR" dirty="0" err="1"/>
              <a:t>ChatGPT</a:t>
            </a:r>
            <a:r>
              <a:rPr lang="pt-BR" dirty="0"/>
              <a:t> com o prompt: “gere uma imagem com setas passando pelos seguintes itens, pode adaptar para que fiquem visualmente encaixados economia -&gt; escassez -&gt; como alocar recursos -&gt; estimar o futuro -&gt; incerteza -&gt; para combater precisa-se de dados -&gt; geram informação -&gt; que são base para a tomada de decisões”</a:t>
            </a:r>
            <a:endParaRPr dirty="0"/>
          </a:p>
        </p:txBody>
      </p:sp>
      <p:sp>
        <p:nvSpPr>
          <p:cNvPr id="94" name="Google Shape;94;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3538651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4" name="Google Shape;94;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4413503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a:extLst>
            <a:ext uri="{FF2B5EF4-FFF2-40B4-BE49-F238E27FC236}">
              <a16:creationId xmlns:a16="http://schemas.microsoft.com/office/drawing/2014/main" id="{F705D598-0F63-2A54-D65E-D1B8319931DE}"/>
            </a:ext>
          </a:extLst>
        </p:cNvPr>
        <p:cNvGrpSpPr/>
        <p:nvPr/>
      </p:nvGrpSpPr>
      <p:grpSpPr>
        <a:xfrm>
          <a:off x="0" y="0"/>
          <a:ext cx="0" cy="0"/>
          <a:chOff x="0" y="0"/>
          <a:chExt cx="0" cy="0"/>
        </a:xfrm>
      </p:grpSpPr>
      <p:sp>
        <p:nvSpPr>
          <p:cNvPr id="93" name="Google Shape;93;p2:notes">
            <a:extLst>
              <a:ext uri="{FF2B5EF4-FFF2-40B4-BE49-F238E27FC236}">
                <a16:creationId xmlns:a16="http://schemas.microsoft.com/office/drawing/2014/main" id="{A3667E6F-0597-ABD7-4390-5386E1AE6AD2}"/>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4" name="Google Shape;94;p2:notes">
            <a:extLst>
              <a:ext uri="{FF2B5EF4-FFF2-40B4-BE49-F238E27FC236}">
                <a16:creationId xmlns:a16="http://schemas.microsoft.com/office/drawing/2014/main" id="{6F781B63-0167-5DCB-5C80-A335CCB74F9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1951598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a:extLst>
            <a:ext uri="{FF2B5EF4-FFF2-40B4-BE49-F238E27FC236}">
              <a16:creationId xmlns:a16="http://schemas.microsoft.com/office/drawing/2014/main" id="{EDB110AE-C86F-A102-5A47-2D3D2FEA2565}"/>
            </a:ext>
          </a:extLst>
        </p:cNvPr>
        <p:cNvGrpSpPr/>
        <p:nvPr/>
      </p:nvGrpSpPr>
      <p:grpSpPr>
        <a:xfrm>
          <a:off x="0" y="0"/>
          <a:ext cx="0" cy="0"/>
          <a:chOff x="0" y="0"/>
          <a:chExt cx="0" cy="0"/>
        </a:xfrm>
      </p:grpSpPr>
      <p:sp>
        <p:nvSpPr>
          <p:cNvPr id="93" name="Google Shape;93;p2:notes">
            <a:extLst>
              <a:ext uri="{FF2B5EF4-FFF2-40B4-BE49-F238E27FC236}">
                <a16:creationId xmlns:a16="http://schemas.microsoft.com/office/drawing/2014/main" id="{C470488B-8C8E-55D2-A1B9-F34D8760BA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4" name="Google Shape;94;p2:notes">
            <a:extLst>
              <a:ext uri="{FF2B5EF4-FFF2-40B4-BE49-F238E27FC236}">
                <a16:creationId xmlns:a16="http://schemas.microsoft.com/office/drawing/2014/main" id="{C0C8A059-14B3-0E38-3557-BD45C841ECE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5333130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a:extLst>
            <a:ext uri="{FF2B5EF4-FFF2-40B4-BE49-F238E27FC236}">
              <a16:creationId xmlns:a16="http://schemas.microsoft.com/office/drawing/2014/main" id="{B76675B6-9CA5-2880-A46F-E5B153E3A2A8}"/>
            </a:ext>
          </a:extLst>
        </p:cNvPr>
        <p:cNvGrpSpPr/>
        <p:nvPr/>
      </p:nvGrpSpPr>
      <p:grpSpPr>
        <a:xfrm>
          <a:off x="0" y="0"/>
          <a:ext cx="0" cy="0"/>
          <a:chOff x="0" y="0"/>
          <a:chExt cx="0" cy="0"/>
        </a:xfrm>
      </p:grpSpPr>
      <p:sp>
        <p:nvSpPr>
          <p:cNvPr id="93" name="Google Shape;93;p2:notes">
            <a:extLst>
              <a:ext uri="{FF2B5EF4-FFF2-40B4-BE49-F238E27FC236}">
                <a16:creationId xmlns:a16="http://schemas.microsoft.com/office/drawing/2014/main" id="{8C054B05-07A3-9037-530C-B39204CD717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4" name="Google Shape;94;p2:notes">
            <a:extLst>
              <a:ext uri="{FF2B5EF4-FFF2-40B4-BE49-F238E27FC236}">
                <a16:creationId xmlns:a16="http://schemas.microsoft.com/office/drawing/2014/main" id="{C7169559-1112-48F7-E8C0-A196F4563AA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2249613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a:extLst>
            <a:ext uri="{FF2B5EF4-FFF2-40B4-BE49-F238E27FC236}">
              <a16:creationId xmlns:a16="http://schemas.microsoft.com/office/drawing/2014/main" id="{3528375B-B43B-6991-262D-74B1CFA9F94B}"/>
            </a:ext>
          </a:extLst>
        </p:cNvPr>
        <p:cNvGrpSpPr/>
        <p:nvPr/>
      </p:nvGrpSpPr>
      <p:grpSpPr>
        <a:xfrm>
          <a:off x="0" y="0"/>
          <a:ext cx="0" cy="0"/>
          <a:chOff x="0" y="0"/>
          <a:chExt cx="0" cy="0"/>
        </a:xfrm>
      </p:grpSpPr>
      <p:sp>
        <p:nvSpPr>
          <p:cNvPr id="93" name="Google Shape;93;p2:notes">
            <a:extLst>
              <a:ext uri="{FF2B5EF4-FFF2-40B4-BE49-F238E27FC236}">
                <a16:creationId xmlns:a16="http://schemas.microsoft.com/office/drawing/2014/main" id="{25446B83-42B1-EB10-5E4E-853B93CFB87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4" name="Google Shape;94;p2:notes">
            <a:extLst>
              <a:ext uri="{FF2B5EF4-FFF2-40B4-BE49-F238E27FC236}">
                <a16:creationId xmlns:a16="http://schemas.microsoft.com/office/drawing/2014/main" id="{880B9A52-9BFA-39EC-C034-44294369755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47783972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a:extLst>
            <a:ext uri="{FF2B5EF4-FFF2-40B4-BE49-F238E27FC236}">
              <a16:creationId xmlns:a16="http://schemas.microsoft.com/office/drawing/2014/main" id="{C777774B-D0CD-DC9D-EF74-B04AF4976A1E}"/>
            </a:ext>
          </a:extLst>
        </p:cNvPr>
        <p:cNvGrpSpPr/>
        <p:nvPr/>
      </p:nvGrpSpPr>
      <p:grpSpPr>
        <a:xfrm>
          <a:off x="0" y="0"/>
          <a:ext cx="0" cy="0"/>
          <a:chOff x="0" y="0"/>
          <a:chExt cx="0" cy="0"/>
        </a:xfrm>
      </p:grpSpPr>
      <p:sp>
        <p:nvSpPr>
          <p:cNvPr id="93" name="Google Shape;93;p2:notes">
            <a:extLst>
              <a:ext uri="{FF2B5EF4-FFF2-40B4-BE49-F238E27FC236}">
                <a16:creationId xmlns:a16="http://schemas.microsoft.com/office/drawing/2014/main" id="{0EF2A94E-9220-1403-8174-584611B5F76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4" name="Google Shape;94;p2:notes">
            <a:extLst>
              <a:ext uri="{FF2B5EF4-FFF2-40B4-BE49-F238E27FC236}">
                <a16:creationId xmlns:a16="http://schemas.microsoft.com/office/drawing/2014/main" id="{C61DD690-9033-1340-FA4B-3FB47329305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3642404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a:extLst>
            <a:ext uri="{FF2B5EF4-FFF2-40B4-BE49-F238E27FC236}">
              <a16:creationId xmlns:a16="http://schemas.microsoft.com/office/drawing/2014/main" id="{4CEAF695-F5F7-5EC9-7300-19E6C0A73AEB}"/>
            </a:ext>
          </a:extLst>
        </p:cNvPr>
        <p:cNvGrpSpPr/>
        <p:nvPr/>
      </p:nvGrpSpPr>
      <p:grpSpPr>
        <a:xfrm>
          <a:off x="0" y="0"/>
          <a:ext cx="0" cy="0"/>
          <a:chOff x="0" y="0"/>
          <a:chExt cx="0" cy="0"/>
        </a:xfrm>
      </p:grpSpPr>
      <p:sp>
        <p:nvSpPr>
          <p:cNvPr id="93" name="Google Shape;93;p2:notes">
            <a:extLst>
              <a:ext uri="{FF2B5EF4-FFF2-40B4-BE49-F238E27FC236}">
                <a16:creationId xmlns:a16="http://schemas.microsoft.com/office/drawing/2014/main" id="{2D53F9AC-81A9-0551-87BE-245B4B2F9B6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4" name="Google Shape;94;p2:notes">
            <a:extLst>
              <a:ext uri="{FF2B5EF4-FFF2-40B4-BE49-F238E27FC236}">
                <a16:creationId xmlns:a16="http://schemas.microsoft.com/office/drawing/2014/main" id="{F8638F3E-46E8-C538-A954-01273A5D383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6441687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a:extLst>
            <a:ext uri="{FF2B5EF4-FFF2-40B4-BE49-F238E27FC236}">
              <a16:creationId xmlns:a16="http://schemas.microsoft.com/office/drawing/2014/main" id="{2470D780-169E-BFDD-9C0F-A87A54C633CD}"/>
            </a:ext>
          </a:extLst>
        </p:cNvPr>
        <p:cNvGrpSpPr/>
        <p:nvPr/>
      </p:nvGrpSpPr>
      <p:grpSpPr>
        <a:xfrm>
          <a:off x="0" y="0"/>
          <a:ext cx="0" cy="0"/>
          <a:chOff x="0" y="0"/>
          <a:chExt cx="0" cy="0"/>
        </a:xfrm>
      </p:grpSpPr>
      <p:sp>
        <p:nvSpPr>
          <p:cNvPr id="93" name="Google Shape;93;p2:notes">
            <a:extLst>
              <a:ext uri="{FF2B5EF4-FFF2-40B4-BE49-F238E27FC236}">
                <a16:creationId xmlns:a16="http://schemas.microsoft.com/office/drawing/2014/main" id="{CBC0F284-DC10-6EAC-7476-A5765F927DA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4" name="Google Shape;94;p2:notes">
            <a:extLst>
              <a:ext uri="{FF2B5EF4-FFF2-40B4-BE49-F238E27FC236}">
                <a16:creationId xmlns:a16="http://schemas.microsoft.com/office/drawing/2014/main" id="{509CD5CE-4AFF-857C-2CDE-7F0F031E951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2991692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Slide de Título" type="title">
  <p:cSld name="TITLE">
    <p:spTree>
      <p:nvGrpSpPr>
        <p:cNvPr id="1" name="Shape 15"/>
        <p:cNvGrpSpPr/>
        <p:nvPr/>
      </p:nvGrpSpPr>
      <p:grpSpPr>
        <a:xfrm>
          <a:off x="0" y="0"/>
          <a:ext cx="0" cy="0"/>
          <a:chOff x="0" y="0"/>
          <a:chExt cx="0" cy="0"/>
        </a:xfrm>
      </p:grpSpPr>
      <p:sp>
        <p:nvSpPr>
          <p:cNvPr id="16" name="Google Shape;16;p10"/>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 name="Google Shape;17;p10"/>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18" name="Google Shape;18;p1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1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pt-BR"/>
              <a:t>‹nº›</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ítulo e Conteúdo" type="obj">
  <p:cSld name="OBJECT">
    <p:spTree>
      <p:nvGrpSpPr>
        <p:cNvPr id="1" name="Shape 21"/>
        <p:cNvGrpSpPr/>
        <p:nvPr/>
      </p:nvGrpSpPr>
      <p:grpSpPr>
        <a:xfrm>
          <a:off x="0" y="0"/>
          <a:ext cx="0" cy="0"/>
          <a:chOff x="0" y="0"/>
          <a:chExt cx="0" cy="0"/>
        </a:xfrm>
      </p:grpSpPr>
      <p:sp>
        <p:nvSpPr>
          <p:cNvPr id="22" name="Google Shape;22;p1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 name="Google Shape;23;p1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4" name="Google Shape;24;p1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1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pt-BR"/>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Cabeçalho da Seção" type="secHead">
  <p:cSld name="SECTION_HEADER">
    <p:spTree>
      <p:nvGrpSpPr>
        <p:cNvPr id="1" name="Shape 27"/>
        <p:cNvGrpSpPr/>
        <p:nvPr/>
      </p:nvGrpSpPr>
      <p:grpSpPr>
        <a:xfrm>
          <a:off x="0" y="0"/>
          <a:ext cx="0" cy="0"/>
          <a:chOff x="0" y="0"/>
          <a:chExt cx="0" cy="0"/>
        </a:xfrm>
      </p:grpSpPr>
      <p:sp>
        <p:nvSpPr>
          <p:cNvPr id="28" name="Google Shape;28;p12"/>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 name="Google Shape;29;p12"/>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30" name="Google Shape;30;p1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 name="Google Shape;31;p1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 name="Google Shape;32;p1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pt-BR"/>
              <a:t>‹nº›</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Duas Partes de Conteúdo" type="twoObj">
  <p:cSld name="TWO_OBJECTS">
    <p:spTree>
      <p:nvGrpSpPr>
        <p:cNvPr id="1" name="Shape 33"/>
        <p:cNvGrpSpPr/>
        <p:nvPr/>
      </p:nvGrpSpPr>
      <p:grpSpPr>
        <a:xfrm>
          <a:off x="0" y="0"/>
          <a:ext cx="0" cy="0"/>
          <a:chOff x="0" y="0"/>
          <a:chExt cx="0" cy="0"/>
        </a:xfrm>
      </p:grpSpPr>
      <p:sp>
        <p:nvSpPr>
          <p:cNvPr id="34" name="Google Shape;34;p1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5" name="Google Shape;35;p13"/>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6" name="Google Shape;36;p13"/>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7" name="Google Shape;37;p1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8" name="Google Shape;38;p1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9" name="Google Shape;39;p1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pt-BR"/>
              <a:t>‹nº›</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ação" type="twoTxTwoObj">
  <p:cSld name="TWO_OBJECTS_WITH_TEXT">
    <p:spTree>
      <p:nvGrpSpPr>
        <p:cNvPr id="1" name="Shape 40"/>
        <p:cNvGrpSpPr/>
        <p:nvPr/>
      </p:nvGrpSpPr>
      <p:grpSpPr>
        <a:xfrm>
          <a:off x="0" y="0"/>
          <a:ext cx="0" cy="0"/>
          <a:chOff x="0" y="0"/>
          <a:chExt cx="0" cy="0"/>
        </a:xfrm>
      </p:grpSpPr>
      <p:sp>
        <p:nvSpPr>
          <p:cNvPr id="41" name="Google Shape;41;p14"/>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2" name="Google Shape;42;p14"/>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4"/>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4"/>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5" name="Google Shape;45;p14"/>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6" name="Google Shape;46;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 name="Google Shape;47;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pt-BR"/>
              <a:t>‹nº›</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omente Título" type="titleOnly">
  <p:cSld name="TITLE_ONLY">
    <p:spTree>
      <p:nvGrpSpPr>
        <p:cNvPr id="1" name="Shape 49"/>
        <p:cNvGrpSpPr/>
        <p:nvPr/>
      </p:nvGrpSpPr>
      <p:grpSpPr>
        <a:xfrm>
          <a:off x="0" y="0"/>
          <a:ext cx="0" cy="0"/>
          <a:chOff x="0" y="0"/>
          <a:chExt cx="0" cy="0"/>
        </a:xfrm>
      </p:grpSpPr>
      <p:sp>
        <p:nvSpPr>
          <p:cNvPr id="50" name="Google Shape;50;p1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1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1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1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pt-BR"/>
              <a:t>‹nº›</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Em Branco" type="blank">
  <p:cSld name="BLANK">
    <p:spTree>
      <p:nvGrpSpPr>
        <p:cNvPr id="1" name="Shape 54"/>
        <p:cNvGrpSpPr/>
        <p:nvPr/>
      </p:nvGrpSpPr>
      <p:grpSpPr>
        <a:xfrm>
          <a:off x="0" y="0"/>
          <a:ext cx="0" cy="0"/>
          <a:chOff x="0" y="0"/>
          <a:chExt cx="0" cy="0"/>
        </a:xfrm>
      </p:grpSpPr>
      <p:sp>
        <p:nvSpPr>
          <p:cNvPr id="55" name="Google Shape;55;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6" name="Google Shape;56;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7" name="Google Shape;57;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pt-BR"/>
              <a:t>‹nº›</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údo com Legenda" type="objTx">
  <p:cSld name="OBJECT_WITH_CAPTION_TEXT">
    <p:spTree>
      <p:nvGrpSpPr>
        <p:cNvPr id="1" name="Shape 58"/>
        <p:cNvGrpSpPr/>
        <p:nvPr/>
      </p:nvGrpSpPr>
      <p:grpSpPr>
        <a:xfrm>
          <a:off x="0" y="0"/>
          <a:ext cx="0" cy="0"/>
          <a:chOff x="0" y="0"/>
          <a:chExt cx="0" cy="0"/>
        </a:xfrm>
      </p:grpSpPr>
      <p:sp>
        <p:nvSpPr>
          <p:cNvPr id="59" name="Google Shape;59;p17"/>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0" name="Google Shape;60;p17"/>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61" name="Google Shape;61;p17"/>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2" name="Google Shape;62;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3" name="Google Shape;63;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4" name="Google Shape;64;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pt-BR"/>
              <a:t>‹nº›</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Imagem com Legenda" type="picTx">
  <p:cSld name="PICTURE_WITH_CAPTION_TEXT">
    <p:spTree>
      <p:nvGrpSpPr>
        <p:cNvPr id="1" name="Shape 65"/>
        <p:cNvGrpSpPr/>
        <p:nvPr/>
      </p:nvGrpSpPr>
      <p:grpSpPr>
        <a:xfrm>
          <a:off x="0" y="0"/>
          <a:ext cx="0" cy="0"/>
          <a:chOff x="0" y="0"/>
          <a:chExt cx="0" cy="0"/>
        </a:xfrm>
      </p:grpSpPr>
      <p:sp>
        <p:nvSpPr>
          <p:cNvPr id="66" name="Google Shape;66;p18"/>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7" name="Google Shape;67;p18"/>
          <p:cNvSpPr>
            <a:spLocks noGrp="1"/>
          </p:cNvSpPr>
          <p:nvPr>
            <p:ph type="pic" idx="2"/>
          </p:nvPr>
        </p:nvSpPr>
        <p:spPr>
          <a:xfrm>
            <a:off x="5183188" y="987425"/>
            <a:ext cx="6172200" cy="4873625"/>
          </a:xfrm>
          <a:prstGeom prst="rect">
            <a:avLst/>
          </a:prstGeom>
          <a:noFill/>
          <a:ln>
            <a:noFill/>
          </a:ln>
        </p:spPr>
      </p:sp>
      <p:sp>
        <p:nvSpPr>
          <p:cNvPr id="68" name="Google Shape;68;p18"/>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9" name="Google Shape;69;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0" name="Google Shape;70;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1" name="Google Shape;71;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pt-BR"/>
              <a:t>‹nº›</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ítulo e Texto Vertical" type="vertTx">
  <p:cSld name="VERTICAL_TEXT">
    <p:spTree>
      <p:nvGrpSpPr>
        <p:cNvPr id="1" name="Shape 72"/>
        <p:cNvGrpSpPr/>
        <p:nvPr/>
      </p:nvGrpSpPr>
      <p:grpSpPr>
        <a:xfrm>
          <a:off x="0" y="0"/>
          <a:ext cx="0" cy="0"/>
          <a:chOff x="0" y="0"/>
          <a:chExt cx="0" cy="0"/>
        </a:xfrm>
      </p:grpSpPr>
      <p:sp>
        <p:nvSpPr>
          <p:cNvPr id="73" name="Google Shape;73;p19"/>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4" name="Google Shape;74;p19"/>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6" name="Google Shape;76;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7" name="Google Shape;77;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pt-BR"/>
              <a:t>‹nº›</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exto e Título Vertical" type="vertTitleAndTx">
  <p:cSld name="VERTICAL_TITLE_AND_VERTICAL_TEXT">
    <p:spTree>
      <p:nvGrpSpPr>
        <p:cNvPr id="1" name="Shape 78"/>
        <p:cNvGrpSpPr/>
        <p:nvPr/>
      </p:nvGrpSpPr>
      <p:grpSpPr>
        <a:xfrm>
          <a:off x="0" y="0"/>
          <a:ext cx="0" cy="0"/>
          <a:chOff x="0" y="0"/>
          <a:chExt cx="0" cy="0"/>
        </a:xfrm>
      </p:grpSpPr>
      <p:sp>
        <p:nvSpPr>
          <p:cNvPr id="79" name="Google Shape;79;p20"/>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0" name="Google Shape;80;p20"/>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1" name="Google Shape;81;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2" name="Google Shape;82;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3" name="Google Shape;83;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pt-BR"/>
              <a:t>‹nº›</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9"/>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9"/>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pt-BR"/>
              <a:t>‹nº›</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hyperlink" Target="https://arxiv.org/abs/2501.04607" TargetMode="External"/><Relationship Id="rId4" Type="http://schemas.openxmlformats.org/officeDocument/2006/relationships/hyperlink" Target="https://www.ibge.gov.br/explica/pib.php"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sp>
        <p:nvSpPr>
          <p:cNvPr id="88" name="Google Shape;88;p1"/>
          <p:cNvSpPr txBox="1">
            <a:spLocks noGrp="1"/>
          </p:cNvSpPr>
          <p:nvPr>
            <p:ph type="ctrTitle"/>
          </p:nvPr>
        </p:nvSpPr>
        <p:spPr>
          <a:xfrm>
            <a:off x="439332" y="2929631"/>
            <a:ext cx="11313335" cy="2185531"/>
          </a:xfrm>
          <a:prstGeom prst="rect">
            <a:avLst/>
          </a:prstGeom>
          <a:noFill/>
          <a:ln>
            <a:noFill/>
          </a:ln>
        </p:spPr>
        <p:txBody>
          <a:bodyPr spcFirstLastPara="1" wrap="square" lIns="91425" tIns="45700" rIns="91425" bIns="45700" anchor="b" anchorCtr="0">
            <a:noAutofit/>
          </a:bodyPr>
          <a:lstStyle/>
          <a:p>
            <a:pPr lvl="0">
              <a:lnSpc>
                <a:spcPct val="100000"/>
              </a:lnSpc>
              <a:buSzPts val="1100"/>
            </a:pPr>
            <a:r>
              <a:rPr lang="pt-BR" sz="4400" dirty="0">
                <a:latin typeface="+mj-lt"/>
              </a:rPr>
              <a:t>AS MÁQUINAS ECONÔMICAS: </a:t>
            </a:r>
            <a:br>
              <a:rPr lang="pt-BR" sz="4400" dirty="0">
                <a:latin typeface="+mj-lt"/>
              </a:rPr>
            </a:br>
            <a:r>
              <a:rPr lang="pt-BR" sz="4400" dirty="0">
                <a:latin typeface="+mj-lt"/>
              </a:rPr>
              <a:t>PREDIÇÃO DO PIB BRASILEIRO UTILIZANDO INTELIGÊNCIA ARTIFICIAL</a:t>
            </a:r>
            <a:endParaRPr lang="pt-BR" sz="4400" b="1" dirty="0">
              <a:latin typeface="+mj-lt"/>
              <a:ea typeface="Arial"/>
              <a:cs typeface="Arial"/>
              <a:sym typeface="Arial"/>
            </a:endParaRPr>
          </a:p>
        </p:txBody>
      </p:sp>
      <p:pic>
        <p:nvPicPr>
          <p:cNvPr id="89" name="Google Shape;89;p1"/>
          <p:cNvPicPr preferRelativeResize="0"/>
          <p:nvPr/>
        </p:nvPicPr>
        <p:blipFill rotWithShape="1">
          <a:blip r:embed="rId3">
            <a:alphaModFix/>
          </a:blip>
          <a:srcRect/>
          <a:stretch/>
        </p:blipFill>
        <p:spPr>
          <a:xfrm>
            <a:off x="0" y="-212900"/>
            <a:ext cx="12192000" cy="2766060"/>
          </a:xfrm>
          <a:prstGeom prst="rect">
            <a:avLst/>
          </a:prstGeom>
          <a:noFill/>
          <a:ln>
            <a:noFill/>
          </a:ln>
        </p:spPr>
      </p:pic>
      <p:sp>
        <p:nvSpPr>
          <p:cNvPr id="90" name="Google Shape;90;p1"/>
          <p:cNvSpPr txBox="1"/>
          <p:nvPr/>
        </p:nvSpPr>
        <p:spPr>
          <a:xfrm>
            <a:off x="332800" y="5491633"/>
            <a:ext cx="7098900" cy="76940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pt-BR" sz="2200" dirty="0">
                <a:solidFill>
                  <a:schemeClr val="tx1"/>
                </a:solidFill>
              </a:rPr>
              <a:t>Autor: Leonilso </a:t>
            </a:r>
            <a:r>
              <a:rPr lang="pt-BR" sz="2200" dirty="0" err="1">
                <a:solidFill>
                  <a:schemeClr val="tx1"/>
                </a:solidFill>
              </a:rPr>
              <a:t>Fandres</a:t>
            </a:r>
            <a:r>
              <a:rPr lang="pt-BR" sz="2200" dirty="0">
                <a:solidFill>
                  <a:schemeClr val="tx1"/>
                </a:solidFill>
              </a:rPr>
              <a:t> Wrublak</a:t>
            </a:r>
          </a:p>
          <a:p>
            <a:pPr marL="0" marR="0" lvl="0" indent="0" algn="l" rtl="0">
              <a:spcBef>
                <a:spcPts val="0"/>
              </a:spcBef>
              <a:spcAft>
                <a:spcPts val="0"/>
              </a:spcAft>
              <a:buNone/>
            </a:pPr>
            <a:r>
              <a:rPr lang="pt-BR" sz="2200" dirty="0">
                <a:solidFill>
                  <a:schemeClr val="tx1"/>
                </a:solidFill>
              </a:rPr>
              <a:t>Orientador: Prof. Dr. Alexandre Manoel dos Santos</a:t>
            </a:r>
            <a:endParaRPr sz="2200" dirty="0">
              <a:solidFill>
                <a:schemeClr val="tx1"/>
              </a:solidFill>
            </a:endParaRPr>
          </a:p>
        </p:txBody>
      </p:sp>
      <p:sp>
        <p:nvSpPr>
          <p:cNvPr id="91" name="Google Shape;91;p1"/>
          <p:cNvSpPr txBox="1">
            <a:spLocks noGrp="1"/>
          </p:cNvSpPr>
          <p:nvPr>
            <p:ph type="sldNum" idx="12"/>
          </p:nvPr>
        </p:nvSpPr>
        <p:spPr>
          <a:xfrm>
            <a:off x="9448800" y="6492900"/>
            <a:ext cx="2743200" cy="365100"/>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pt-BR" sz="1800"/>
              <a:t>1</a:t>
            </a:fld>
            <a:endParaRPr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5"/>
        <p:cNvGrpSpPr/>
        <p:nvPr/>
      </p:nvGrpSpPr>
      <p:grpSpPr>
        <a:xfrm>
          <a:off x="0" y="0"/>
          <a:ext cx="0" cy="0"/>
          <a:chOff x="0" y="0"/>
          <a:chExt cx="0" cy="0"/>
        </a:xfrm>
      </p:grpSpPr>
      <p:sp>
        <p:nvSpPr>
          <p:cNvPr id="96" name="Google Shape;96;p2"/>
          <p:cNvSpPr txBox="1">
            <a:spLocks noGrp="1"/>
          </p:cNvSpPr>
          <p:nvPr>
            <p:ph type="title"/>
          </p:nvPr>
        </p:nvSpPr>
        <p:spPr>
          <a:xfrm>
            <a:off x="170268" y="190105"/>
            <a:ext cx="10329566" cy="768438"/>
          </a:xfrm>
          <a:prstGeom prst="rect">
            <a:avLst/>
          </a:prstGeom>
          <a:noFill/>
          <a:ln>
            <a:noFill/>
          </a:ln>
        </p:spPr>
        <p:txBody>
          <a:bodyPr spcFirstLastPara="1" wrap="square" lIns="91425" tIns="45700" rIns="91425" bIns="45700" anchor="ctr" anchorCtr="0">
            <a:noAutofit/>
          </a:bodyPr>
          <a:lstStyle/>
          <a:p>
            <a:pPr lvl="0">
              <a:buSzPts val="4400"/>
            </a:pPr>
            <a:r>
              <a:rPr lang="pt-BR" sz="3200" b="1" dirty="0">
                <a:latin typeface="+mj-lt"/>
              </a:rPr>
              <a:t>Introdução</a:t>
            </a:r>
            <a:endParaRPr sz="3200" b="1" dirty="0">
              <a:latin typeface="+mj-lt"/>
            </a:endParaRPr>
          </a:p>
        </p:txBody>
      </p:sp>
      <p:sp>
        <p:nvSpPr>
          <p:cNvPr id="97" name="Google Shape;97;p2"/>
          <p:cNvSpPr txBox="1">
            <a:spLocks noGrp="1"/>
          </p:cNvSpPr>
          <p:nvPr>
            <p:ph type="body" idx="1"/>
          </p:nvPr>
        </p:nvSpPr>
        <p:spPr>
          <a:xfrm>
            <a:off x="170268" y="1092372"/>
            <a:ext cx="11855669" cy="5732658"/>
          </a:xfrm>
          <a:prstGeom prst="rect">
            <a:avLst/>
          </a:prstGeom>
          <a:noFill/>
          <a:ln>
            <a:noFill/>
          </a:ln>
        </p:spPr>
        <p:txBody>
          <a:bodyPr spcFirstLastPara="1" wrap="square" lIns="91425" tIns="45700" rIns="91425" bIns="45700" anchor="t" anchorCtr="0">
            <a:noAutofit/>
          </a:bodyPr>
          <a:lstStyle/>
          <a:p>
            <a:pPr marL="0" indent="-457200">
              <a:buNone/>
            </a:pPr>
            <a:r>
              <a:rPr lang="pt-BR" sz="2400" dirty="0">
                <a:latin typeface="+mn-lt"/>
              </a:rPr>
              <a:t>Para onde vamos? Uma das questões fundamentais da natureza humana, objeto de estudo de diferentes ciências, dentre elas, a economia. Parte do trabalho de um economista é entender os fatos passados e presentes para predizer (ou tentar) o futuro.</a:t>
            </a:r>
          </a:p>
          <a:p>
            <a:pPr marL="0" indent="-457200">
              <a:buNone/>
            </a:pPr>
            <a:r>
              <a:rPr lang="pt-BR" sz="2400" dirty="0">
                <a:latin typeface="+mn-lt"/>
              </a:rPr>
              <a:t>E é a escassez  a motivadora para a preocupação dos economistas com o futuro. Afinal “a economia é o estudo de como a sociedade administra seus recursos escassos”. (</a:t>
            </a:r>
            <a:r>
              <a:rPr lang="pt-BR" sz="2400" dirty="0" err="1">
                <a:latin typeface="+mn-lt"/>
              </a:rPr>
              <a:t>Mankiw</a:t>
            </a:r>
            <a:r>
              <a:rPr lang="pt-BR" sz="2400" dirty="0">
                <a:latin typeface="+mn-lt"/>
              </a:rPr>
              <a:t>, 2025, p. 1). </a:t>
            </a:r>
          </a:p>
          <a:p>
            <a:pPr marL="0" indent="-457200">
              <a:buNone/>
            </a:pPr>
            <a:r>
              <a:rPr lang="pt-BR" sz="2400" dirty="0">
                <a:latin typeface="+mn-lt"/>
              </a:rPr>
              <a:t>De fato prever o futuro com precisão é impossível atualmente, o que nos leva a noção de incerteza, proposta por Keynes (1936). </a:t>
            </a:r>
          </a:p>
          <a:p>
            <a:pPr marL="0" indent="-457200">
              <a:buNone/>
            </a:pPr>
            <a:r>
              <a:rPr lang="pt-BR" sz="2400" dirty="0">
                <a:latin typeface="+mn-lt"/>
              </a:rPr>
              <a:t>Porém as decisões ainda precisam ser tomadas, para fundamentar as decisões, sem depender unicamente de intuição, são necessárias informações, e essas devem ser extraídas de dados brutos.</a:t>
            </a:r>
          </a:p>
          <a:p>
            <a:pPr marL="0" indent="-457200">
              <a:buNone/>
            </a:pPr>
            <a:r>
              <a:rPr lang="pt-BR" sz="2400" dirty="0">
                <a:latin typeface="+mn-lt"/>
              </a:rPr>
              <a:t>Dados estes que são produzidos a cada atividade humana, porém o processo de coleta e transformação desses dados em informação vem sendo alterado nas últimas décadas, e justamente esses novos métodos são o objeto do presente estudo.</a:t>
            </a:r>
          </a:p>
        </p:txBody>
      </p:sp>
      <p:pic>
        <p:nvPicPr>
          <p:cNvPr id="98" name="Google Shape;98;p2" descr="Universidade Federal da Fronteira Sul – Wikipédia, a enciclopédia livre"/>
          <p:cNvPicPr preferRelativeResize="0"/>
          <p:nvPr/>
        </p:nvPicPr>
        <p:blipFill rotWithShape="1">
          <a:blip r:embed="rId3">
            <a:alphaModFix/>
          </a:blip>
          <a:srcRect/>
          <a:stretch/>
        </p:blipFill>
        <p:spPr>
          <a:xfrm>
            <a:off x="10978329" y="18255"/>
            <a:ext cx="975614" cy="1325563"/>
          </a:xfrm>
          <a:prstGeom prst="rect">
            <a:avLst/>
          </a:prstGeom>
          <a:noFill/>
          <a:ln>
            <a:noFill/>
          </a:ln>
        </p:spPr>
      </p:pic>
      <p:sp>
        <p:nvSpPr>
          <p:cNvPr id="99" name="Google Shape;99;p2"/>
          <p:cNvSpPr/>
          <p:nvPr/>
        </p:nvSpPr>
        <p:spPr>
          <a:xfrm>
            <a:off x="170268" y="958543"/>
            <a:ext cx="10515600" cy="63062"/>
          </a:xfrm>
          <a:prstGeom prst="rect">
            <a:avLst/>
          </a:prstGeom>
          <a:solidFill>
            <a:srgbClr val="548135"/>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00" name="Google Shape;100;p2"/>
          <p:cNvSpPr txBox="1">
            <a:spLocks noGrp="1"/>
          </p:cNvSpPr>
          <p:nvPr>
            <p:ph type="sldNum" idx="12"/>
          </p:nvPr>
        </p:nvSpPr>
        <p:spPr>
          <a:xfrm>
            <a:off x="9440152" y="6492875"/>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pt-BR" sz="1800" smtClean="0"/>
              <a:t>2</a:t>
            </a:fld>
            <a:endParaRPr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95"/>
        <p:cNvGrpSpPr/>
        <p:nvPr/>
      </p:nvGrpSpPr>
      <p:grpSpPr>
        <a:xfrm>
          <a:off x="0" y="0"/>
          <a:ext cx="0" cy="0"/>
          <a:chOff x="0" y="0"/>
          <a:chExt cx="0" cy="0"/>
        </a:xfrm>
      </p:grpSpPr>
      <p:sp>
        <p:nvSpPr>
          <p:cNvPr id="96" name="Google Shape;96;p2"/>
          <p:cNvSpPr txBox="1">
            <a:spLocks noGrp="1"/>
          </p:cNvSpPr>
          <p:nvPr>
            <p:ph type="title"/>
          </p:nvPr>
        </p:nvSpPr>
        <p:spPr>
          <a:xfrm>
            <a:off x="170268" y="190105"/>
            <a:ext cx="10329566" cy="768438"/>
          </a:xfrm>
          <a:prstGeom prst="rect">
            <a:avLst/>
          </a:prstGeom>
          <a:noFill/>
          <a:ln>
            <a:noFill/>
          </a:ln>
        </p:spPr>
        <p:txBody>
          <a:bodyPr spcFirstLastPara="1" wrap="square" lIns="91425" tIns="45700" rIns="91425" bIns="45700" anchor="ctr" anchorCtr="0">
            <a:noAutofit/>
          </a:bodyPr>
          <a:lstStyle/>
          <a:p>
            <a:pPr lvl="0">
              <a:buSzPts val="4400"/>
            </a:pPr>
            <a:r>
              <a:rPr lang="pt-BR" sz="3200" b="1" dirty="0">
                <a:latin typeface="+mj-lt"/>
              </a:rPr>
              <a:t>Introdução</a:t>
            </a:r>
            <a:endParaRPr sz="3200" b="1" dirty="0">
              <a:latin typeface="+mj-lt"/>
            </a:endParaRPr>
          </a:p>
        </p:txBody>
      </p:sp>
      <p:pic>
        <p:nvPicPr>
          <p:cNvPr id="98" name="Google Shape;98;p2" descr="Universidade Federal da Fronteira Sul – Wikipédia, a enciclopédia livre"/>
          <p:cNvPicPr preferRelativeResize="0"/>
          <p:nvPr/>
        </p:nvPicPr>
        <p:blipFill rotWithShape="1">
          <a:blip r:embed="rId3">
            <a:alphaModFix/>
          </a:blip>
          <a:srcRect/>
          <a:stretch/>
        </p:blipFill>
        <p:spPr>
          <a:xfrm>
            <a:off x="10978329" y="18255"/>
            <a:ext cx="975614" cy="1325563"/>
          </a:xfrm>
          <a:prstGeom prst="rect">
            <a:avLst/>
          </a:prstGeom>
          <a:noFill/>
          <a:ln>
            <a:noFill/>
          </a:ln>
        </p:spPr>
      </p:pic>
      <p:sp>
        <p:nvSpPr>
          <p:cNvPr id="99" name="Google Shape;99;p2"/>
          <p:cNvSpPr/>
          <p:nvPr/>
        </p:nvSpPr>
        <p:spPr>
          <a:xfrm>
            <a:off x="170268" y="958543"/>
            <a:ext cx="10515600" cy="63062"/>
          </a:xfrm>
          <a:prstGeom prst="rect">
            <a:avLst/>
          </a:prstGeom>
          <a:solidFill>
            <a:srgbClr val="548135"/>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00" name="Google Shape;100;p2"/>
          <p:cNvSpPr txBox="1">
            <a:spLocks noGrp="1"/>
          </p:cNvSpPr>
          <p:nvPr>
            <p:ph type="sldNum" idx="12"/>
          </p:nvPr>
        </p:nvSpPr>
        <p:spPr>
          <a:xfrm>
            <a:off x="9440152" y="6492875"/>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pt-BR" sz="1800"/>
              <a:t>3</a:t>
            </a:fld>
            <a:endParaRPr sz="1800" dirty="0"/>
          </a:p>
        </p:txBody>
      </p:sp>
      <p:sp>
        <p:nvSpPr>
          <p:cNvPr id="7" name="AutoShape 8" descr="Ciclo de decisões econômicas">
            <a:extLst>
              <a:ext uri="{FF2B5EF4-FFF2-40B4-BE49-F238E27FC236}">
                <a16:creationId xmlns:a16="http://schemas.microsoft.com/office/drawing/2014/main" id="{242161F9-79CD-467C-9D86-F30266709615}"/>
              </a:ext>
            </a:extLst>
          </p:cNvPr>
          <p:cNvSpPr>
            <a:spLocks noChangeAspect="1" noChangeArrowheads="1"/>
          </p:cNvSpPr>
          <p:nvPr/>
        </p:nvSpPr>
        <p:spPr bwMode="auto">
          <a:xfrm>
            <a:off x="6400800" y="3733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pt-BR"/>
          </a:p>
        </p:txBody>
      </p:sp>
      <p:pic>
        <p:nvPicPr>
          <p:cNvPr id="10" name="Imagem 9">
            <a:extLst>
              <a:ext uri="{FF2B5EF4-FFF2-40B4-BE49-F238E27FC236}">
                <a16:creationId xmlns:a16="http://schemas.microsoft.com/office/drawing/2014/main" id="{70B5345C-B630-4863-A002-4A26D0A838FB}"/>
              </a:ext>
            </a:extLst>
          </p:cNvPr>
          <p:cNvPicPr>
            <a:picLocks noChangeAspect="1"/>
          </p:cNvPicPr>
          <p:nvPr/>
        </p:nvPicPr>
        <p:blipFill>
          <a:blip r:embed="rId4"/>
          <a:stretch>
            <a:fillRect/>
          </a:stretch>
        </p:blipFill>
        <p:spPr>
          <a:xfrm>
            <a:off x="1847850" y="1086247"/>
            <a:ext cx="8496300" cy="5664200"/>
          </a:xfrm>
          <a:prstGeom prst="rect">
            <a:avLst/>
          </a:prstGeom>
        </p:spPr>
      </p:pic>
    </p:spTree>
    <p:extLst>
      <p:ext uri="{BB962C8B-B14F-4D97-AF65-F5344CB8AC3E}">
        <p14:creationId xmlns:p14="http://schemas.microsoft.com/office/powerpoint/2010/main" val="100982581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95"/>
        <p:cNvGrpSpPr/>
        <p:nvPr/>
      </p:nvGrpSpPr>
      <p:grpSpPr>
        <a:xfrm>
          <a:off x="0" y="0"/>
          <a:ext cx="0" cy="0"/>
          <a:chOff x="0" y="0"/>
          <a:chExt cx="0" cy="0"/>
        </a:xfrm>
      </p:grpSpPr>
      <p:sp>
        <p:nvSpPr>
          <p:cNvPr id="96" name="Google Shape;96;p2"/>
          <p:cNvSpPr txBox="1">
            <a:spLocks noGrp="1"/>
          </p:cNvSpPr>
          <p:nvPr>
            <p:ph type="title"/>
          </p:nvPr>
        </p:nvSpPr>
        <p:spPr>
          <a:xfrm>
            <a:off x="170268" y="190105"/>
            <a:ext cx="10329566" cy="768438"/>
          </a:xfrm>
          <a:prstGeom prst="rect">
            <a:avLst/>
          </a:prstGeom>
          <a:noFill/>
          <a:ln>
            <a:noFill/>
          </a:ln>
        </p:spPr>
        <p:txBody>
          <a:bodyPr spcFirstLastPara="1" wrap="square" lIns="91425" tIns="45700" rIns="91425" bIns="45700" anchor="ctr" anchorCtr="0">
            <a:noAutofit/>
          </a:bodyPr>
          <a:lstStyle/>
          <a:p>
            <a:pPr lvl="0">
              <a:buSzPts val="4400"/>
            </a:pPr>
            <a:r>
              <a:rPr lang="pt-BR" sz="3200" b="1" dirty="0">
                <a:latin typeface="+mj-lt"/>
              </a:rPr>
              <a:t>Tema</a:t>
            </a:r>
            <a:endParaRPr sz="3200" b="1" dirty="0">
              <a:latin typeface="+mj-lt"/>
            </a:endParaRPr>
          </a:p>
        </p:txBody>
      </p:sp>
      <p:pic>
        <p:nvPicPr>
          <p:cNvPr id="98" name="Google Shape;98;p2" descr="Universidade Federal da Fronteira Sul – Wikipédia, a enciclopédia livre"/>
          <p:cNvPicPr preferRelativeResize="0"/>
          <p:nvPr/>
        </p:nvPicPr>
        <p:blipFill rotWithShape="1">
          <a:blip r:embed="rId3">
            <a:alphaModFix/>
          </a:blip>
          <a:srcRect/>
          <a:stretch/>
        </p:blipFill>
        <p:spPr>
          <a:xfrm>
            <a:off x="10978329" y="18255"/>
            <a:ext cx="975614" cy="1325563"/>
          </a:xfrm>
          <a:prstGeom prst="rect">
            <a:avLst/>
          </a:prstGeom>
          <a:noFill/>
          <a:ln>
            <a:noFill/>
          </a:ln>
        </p:spPr>
      </p:pic>
      <p:sp>
        <p:nvSpPr>
          <p:cNvPr id="99" name="Google Shape;99;p2"/>
          <p:cNvSpPr/>
          <p:nvPr/>
        </p:nvSpPr>
        <p:spPr>
          <a:xfrm>
            <a:off x="170268" y="958543"/>
            <a:ext cx="10515600" cy="63062"/>
          </a:xfrm>
          <a:prstGeom prst="rect">
            <a:avLst/>
          </a:prstGeom>
          <a:solidFill>
            <a:srgbClr val="548135"/>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00" name="Google Shape;100;p2"/>
          <p:cNvSpPr txBox="1">
            <a:spLocks noGrp="1"/>
          </p:cNvSpPr>
          <p:nvPr>
            <p:ph type="sldNum" idx="12"/>
          </p:nvPr>
        </p:nvSpPr>
        <p:spPr>
          <a:xfrm>
            <a:off x="9440152" y="6492875"/>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pt-BR" sz="1800"/>
              <a:t>4</a:t>
            </a:fld>
            <a:endParaRPr sz="1800" dirty="0"/>
          </a:p>
        </p:txBody>
      </p:sp>
      <p:sp>
        <p:nvSpPr>
          <p:cNvPr id="7" name="AutoShape 8" descr="Ciclo de decisões econômicas">
            <a:extLst>
              <a:ext uri="{FF2B5EF4-FFF2-40B4-BE49-F238E27FC236}">
                <a16:creationId xmlns:a16="http://schemas.microsoft.com/office/drawing/2014/main" id="{242161F9-79CD-467C-9D86-F30266709615}"/>
              </a:ext>
            </a:extLst>
          </p:cNvPr>
          <p:cNvSpPr>
            <a:spLocks noChangeAspect="1" noChangeArrowheads="1"/>
          </p:cNvSpPr>
          <p:nvPr/>
        </p:nvSpPr>
        <p:spPr bwMode="auto">
          <a:xfrm>
            <a:off x="6400800" y="3733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pt-BR"/>
          </a:p>
        </p:txBody>
      </p:sp>
      <p:pic>
        <p:nvPicPr>
          <p:cNvPr id="10" name="Imagem 9">
            <a:extLst>
              <a:ext uri="{FF2B5EF4-FFF2-40B4-BE49-F238E27FC236}">
                <a16:creationId xmlns:a16="http://schemas.microsoft.com/office/drawing/2014/main" id="{70B5345C-B630-4863-A002-4A26D0A838FB}"/>
              </a:ext>
            </a:extLst>
          </p:cNvPr>
          <p:cNvPicPr>
            <a:picLocks noChangeAspect="1"/>
          </p:cNvPicPr>
          <p:nvPr/>
        </p:nvPicPr>
        <p:blipFill>
          <a:blip r:embed="rId4"/>
          <a:stretch>
            <a:fillRect/>
          </a:stretch>
        </p:blipFill>
        <p:spPr>
          <a:xfrm>
            <a:off x="1847850" y="1086247"/>
            <a:ext cx="8496300" cy="5664200"/>
          </a:xfrm>
          <a:prstGeom prst="rect">
            <a:avLst/>
          </a:prstGeom>
        </p:spPr>
      </p:pic>
      <p:sp>
        <p:nvSpPr>
          <p:cNvPr id="2" name="Retângulo: Cantos Arredondados 1">
            <a:extLst>
              <a:ext uri="{FF2B5EF4-FFF2-40B4-BE49-F238E27FC236}">
                <a16:creationId xmlns:a16="http://schemas.microsoft.com/office/drawing/2014/main" id="{00D4DCFE-5317-46EA-A0FE-CBB1BBF7F4F9}"/>
              </a:ext>
            </a:extLst>
          </p:cNvPr>
          <p:cNvSpPr/>
          <p:nvPr/>
        </p:nvSpPr>
        <p:spPr>
          <a:xfrm>
            <a:off x="2997200" y="4175760"/>
            <a:ext cx="3708400" cy="2397760"/>
          </a:xfrm>
          <a:prstGeom prst="roundRect">
            <a:avLst/>
          </a:prstGeom>
          <a:noFill/>
          <a:ln w="76200">
            <a:solidFill>
              <a:srgbClr val="FF0000"/>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pt-BR"/>
          </a:p>
        </p:txBody>
      </p:sp>
    </p:spTree>
    <p:extLst>
      <p:ext uri="{BB962C8B-B14F-4D97-AF65-F5344CB8AC3E}">
        <p14:creationId xmlns:p14="http://schemas.microsoft.com/office/powerpoint/2010/main" val="319388619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95">
          <a:extLst>
            <a:ext uri="{FF2B5EF4-FFF2-40B4-BE49-F238E27FC236}">
              <a16:creationId xmlns:a16="http://schemas.microsoft.com/office/drawing/2014/main" id="{549E3069-603D-179A-F64D-E81A71F18C1C}"/>
            </a:ext>
          </a:extLst>
        </p:cNvPr>
        <p:cNvGrpSpPr/>
        <p:nvPr/>
      </p:nvGrpSpPr>
      <p:grpSpPr>
        <a:xfrm>
          <a:off x="0" y="0"/>
          <a:ext cx="0" cy="0"/>
          <a:chOff x="0" y="0"/>
          <a:chExt cx="0" cy="0"/>
        </a:xfrm>
      </p:grpSpPr>
      <p:sp>
        <p:nvSpPr>
          <p:cNvPr id="96" name="Google Shape;96;p2">
            <a:extLst>
              <a:ext uri="{FF2B5EF4-FFF2-40B4-BE49-F238E27FC236}">
                <a16:creationId xmlns:a16="http://schemas.microsoft.com/office/drawing/2014/main" id="{8C486850-B5A0-4BAF-FEF4-9D3E8CF25D02}"/>
              </a:ext>
            </a:extLst>
          </p:cNvPr>
          <p:cNvSpPr txBox="1">
            <a:spLocks noGrp="1"/>
          </p:cNvSpPr>
          <p:nvPr>
            <p:ph type="title"/>
          </p:nvPr>
        </p:nvSpPr>
        <p:spPr>
          <a:xfrm>
            <a:off x="170268" y="190105"/>
            <a:ext cx="10329566" cy="768438"/>
          </a:xfrm>
          <a:prstGeom prst="rect">
            <a:avLst/>
          </a:prstGeom>
          <a:noFill/>
          <a:ln>
            <a:noFill/>
          </a:ln>
        </p:spPr>
        <p:txBody>
          <a:bodyPr spcFirstLastPara="1" wrap="square" lIns="91425" tIns="45700" rIns="91425" bIns="45700" anchor="ctr" anchorCtr="0">
            <a:noAutofit/>
          </a:bodyPr>
          <a:lstStyle/>
          <a:p>
            <a:pPr lvl="0">
              <a:buSzPts val="4400"/>
            </a:pPr>
            <a:r>
              <a:rPr lang="pt-BR" sz="3200" b="1" dirty="0">
                <a:latin typeface="+mj-lt"/>
              </a:rPr>
              <a:t>Problema de Pesquisa</a:t>
            </a:r>
            <a:endParaRPr sz="3200" b="1" dirty="0">
              <a:latin typeface="+mj-lt"/>
            </a:endParaRPr>
          </a:p>
        </p:txBody>
      </p:sp>
      <p:pic>
        <p:nvPicPr>
          <p:cNvPr id="98" name="Google Shape;98;p2" descr="Universidade Federal da Fronteira Sul – Wikipédia, a enciclopédia livre">
            <a:extLst>
              <a:ext uri="{FF2B5EF4-FFF2-40B4-BE49-F238E27FC236}">
                <a16:creationId xmlns:a16="http://schemas.microsoft.com/office/drawing/2014/main" id="{30512D07-8D02-82AD-7BC8-B9D4422BC054}"/>
              </a:ext>
            </a:extLst>
          </p:cNvPr>
          <p:cNvPicPr preferRelativeResize="0"/>
          <p:nvPr/>
        </p:nvPicPr>
        <p:blipFill rotWithShape="1">
          <a:blip r:embed="rId3">
            <a:alphaModFix/>
          </a:blip>
          <a:srcRect/>
          <a:stretch/>
        </p:blipFill>
        <p:spPr>
          <a:xfrm>
            <a:off x="10978329" y="18255"/>
            <a:ext cx="975614" cy="1325563"/>
          </a:xfrm>
          <a:prstGeom prst="rect">
            <a:avLst/>
          </a:prstGeom>
          <a:noFill/>
          <a:ln>
            <a:noFill/>
          </a:ln>
        </p:spPr>
      </p:pic>
      <p:sp>
        <p:nvSpPr>
          <p:cNvPr id="99" name="Google Shape;99;p2">
            <a:extLst>
              <a:ext uri="{FF2B5EF4-FFF2-40B4-BE49-F238E27FC236}">
                <a16:creationId xmlns:a16="http://schemas.microsoft.com/office/drawing/2014/main" id="{C0A1AEB4-DC75-2656-C2D3-8EFCFCB51FFE}"/>
              </a:ext>
            </a:extLst>
          </p:cNvPr>
          <p:cNvSpPr/>
          <p:nvPr/>
        </p:nvSpPr>
        <p:spPr>
          <a:xfrm>
            <a:off x="170268" y="958543"/>
            <a:ext cx="10515600" cy="63062"/>
          </a:xfrm>
          <a:prstGeom prst="rect">
            <a:avLst/>
          </a:prstGeom>
          <a:solidFill>
            <a:srgbClr val="548135"/>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00" name="Google Shape;100;p2">
            <a:extLst>
              <a:ext uri="{FF2B5EF4-FFF2-40B4-BE49-F238E27FC236}">
                <a16:creationId xmlns:a16="http://schemas.microsoft.com/office/drawing/2014/main" id="{2511E7E3-0FCC-EDC8-1BB0-8C7564D1701C}"/>
              </a:ext>
            </a:extLst>
          </p:cNvPr>
          <p:cNvSpPr txBox="1">
            <a:spLocks noGrp="1"/>
          </p:cNvSpPr>
          <p:nvPr>
            <p:ph type="sldNum" idx="12"/>
          </p:nvPr>
        </p:nvSpPr>
        <p:spPr>
          <a:xfrm>
            <a:off x="9440152" y="6492875"/>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pt-BR" sz="1800"/>
              <a:t>5</a:t>
            </a:fld>
            <a:endParaRPr sz="1800" dirty="0"/>
          </a:p>
        </p:txBody>
      </p:sp>
      <p:sp>
        <p:nvSpPr>
          <p:cNvPr id="10" name="Google Shape;97;p2">
            <a:extLst>
              <a:ext uri="{FF2B5EF4-FFF2-40B4-BE49-F238E27FC236}">
                <a16:creationId xmlns:a16="http://schemas.microsoft.com/office/drawing/2014/main" id="{9D6A6B54-BAE8-42EF-980F-7733CEB119B1}"/>
              </a:ext>
            </a:extLst>
          </p:cNvPr>
          <p:cNvSpPr txBox="1">
            <a:spLocks noGrp="1"/>
          </p:cNvSpPr>
          <p:nvPr>
            <p:ph type="body" idx="1"/>
          </p:nvPr>
        </p:nvSpPr>
        <p:spPr>
          <a:xfrm>
            <a:off x="170268" y="1092372"/>
            <a:ext cx="11855669" cy="5732658"/>
          </a:xfrm>
          <a:prstGeom prst="rect">
            <a:avLst/>
          </a:prstGeom>
          <a:noFill/>
          <a:ln>
            <a:noFill/>
          </a:ln>
        </p:spPr>
        <p:txBody>
          <a:bodyPr spcFirstLastPara="1" wrap="square" lIns="91425" tIns="45700" rIns="91425" bIns="45700" anchor="t" anchorCtr="0">
            <a:noAutofit/>
          </a:bodyPr>
          <a:lstStyle/>
          <a:p>
            <a:pPr marL="0" indent="-457200">
              <a:buNone/>
            </a:pPr>
            <a:r>
              <a:rPr lang="pt-BR" sz="2400" dirty="0">
                <a:latin typeface="+mn-lt"/>
              </a:rPr>
              <a:t>Como desenvolver um modelo preditivo baseado em IA para efetivamente estimar o PIB brasileiro, considerando as diferenças e semelhanças significativas entre os modelos tradicionais VAR, ARIMA, DFM e MIDAS.</a:t>
            </a:r>
          </a:p>
        </p:txBody>
      </p:sp>
    </p:spTree>
    <p:extLst>
      <p:ext uri="{BB962C8B-B14F-4D97-AF65-F5344CB8AC3E}">
        <p14:creationId xmlns:p14="http://schemas.microsoft.com/office/powerpoint/2010/main" val="318049488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95">
          <a:extLst>
            <a:ext uri="{FF2B5EF4-FFF2-40B4-BE49-F238E27FC236}">
              <a16:creationId xmlns:a16="http://schemas.microsoft.com/office/drawing/2014/main" id="{7535FED6-87EB-CB7E-FF7B-73F9436E34AC}"/>
            </a:ext>
          </a:extLst>
        </p:cNvPr>
        <p:cNvGrpSpPr/>
        <p:nvPr/>
      </p:nvGrpSpPr>
      <p:grpSpPr>
        <a:xfrm>
          <a:off x="0" y="0"/>
          <a:ext cx="0" cy="0"/>
          <a:chOff x="0" y="0"/>
          <a:chExt cx="0" cy="0"/>
        </a:xfrm>
      </p:grpSpPr>
      <p:sp>
        <p:nvSpPr>
          <p:cNvPr id="96" name="Google Shape;96;p2">
            <a:extLst>
              <a:ext uri="{FF2B5EF4-FFF2-40B4-BE49-F238E27FC236}">
                <a16:creationId xmlns:a16="http://schemas.microsoft.com/office/drawing/2014/main" id="{A7A4E033-D3A3-F4AE-D61A-B7FB568FB209}"/>
              </a:ext>
            </a:extLst>
          </p:cNvPr>
          <p:cNvSpPr txBox="1">
            <a:spLocks noGrp="1"/>
          </p:cNvSpPr>
          <p:nvPr>
            <p:ph type="title"/>
          </p:nvPr>
        </p:nvSpPr>
        <p:spPr>
          <a:xfrm>
            <a:off x="170268" y="190105"/>
            <a:ext cx="10329566" cy="768438"/>
          </a:xfrm>
          <a:prstGeom prst="rect">
            <a:avLst/>
          </a:prstGeom>
          <a:noFill/>
          <a:ln>
            <a:noFill/>
          </a:ln>
        </p:spPr>
        <p:txBody>
          <a:bodyPr spcFirstLastPara="1" wrap="square" lIns="91425" tIns="45700" rIns="91425" bIns="45700" anchor="ctr" anchorCtr="0">
            <a:noAutofit/>
          </a:bodyPr>
          <a:lstStyle/>
          <a:p>
            <a:pPr lvl="0">
              <a:buSzPts val="4400"/>
            </a:pPr>
            <a:r>
              <a:rPr lang="pt-BR" sz="3200" b="1" dirty="0">
                <a:latin typeface="+mj-lt"/>
              </a:rPr>
              <a:t>Objetivos</a:t>
            </a:r>
            <a:endParaRPr sz="3200" b="1" dirty="0">
              <a:latin typeface="+mj-lt"/>
            </a:endParaRPr>
          </a:p>
        </p:txBody>
      </p:sp>
      <p:pic>
        <p:nvPicPr>
          <p:cNvPr id="98" name="Google Shape;98;p2" descr="Universidade Federal da Fronteira Sul – Wikipédia, a enciclopédia livre">
            <a:extLst>
              <a:ext uri="{FF2B5EF4-FFF2-40B4-BE49-F238E27FC236}">
                <a16:creationId xmlns:a16="http://schemas.microsoft.com/office/drawing/2014/main" id="{C8C29CA3-FB6F-F987-E0D0-87D6645982C7}"/>
              </a:ext>
            </a:extLst>
          </p:cNvPr>
          <p:cNvPicPr preferRelativeResize="0"/>
          <p:nvPr/>
        </p:nvPicPr>
        <p:blipFill rotWithShape="1">
          <a:blip r:embed="rId3">
            <a:alphaModFix/>
          </a:blip>
          <a:srcRect/>
          <a:stretch/>
        </p:blipFill>
        <p:spPr>
          <a:xfrm>
            <a:off x="10978329" y="18255"/>
            <a:ext cx="975614" cy="1325563"/>
          </a:xfrm>
          <a:prstGeom prst="rect">
            <a:avLst/>
          </a:prstGeom>
          <a:noFill/>
          <a:ln>
            <a:noFill/>
          </a:ln>
        </p:spPr>
      </p:pic>
      <p:sp>
        <p:nvSpPr>
          <p:cNvPr id="99" name="Google Shape;99;p2">
            <a:extLst>
              <a:ext uri="{FF2B5EF4-FFF2-40B4-BE49-F238E27FC236}">
                <a16:creationId xmlns:a16="http://schemas.microsoft.com/office/drawing/2014/main" id="{A52EC46E-958C-03F5-358A-5975D9272EE6}"/>
              </a:ext>
            </a:extLst>
          </p:cNvPr>
          <p:cNvSpPr/>
          <p:nvPr/>
        </p:nvSpPr>
        <p:spPr>
          <a:xfrm>
            <a:off x="170268" y="958543"/>
            <a:ext cx="10515600" cy="63062"/>
          </a:xfrm>
          <a:prstGeom prst="rect">
            <a:avLst/>
          </a:prstGeom>
          <a:solidFill>
            <a:srgbClr val="548135"/>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00" name="Google Shape;100;p2">
            <a:extLst>
              <a:ext uri="{FF2B5EF4-FFF2-40B4-BE49-F238E27FC236}">
                <a16:creationId xmlns:a16="http://schemas.microsoft.com/office/drawing/2014/main" id="{E9FB65C0-0A87-D7AA-C3A7-DEF94AE9413C}"/>
              </a:ext>
            </a:extLst>
          </p:cNvPr>
          <p:cNvSpPr txBox="1">
            <a:spLocks noGrp="1"/>
          </p:cNvSpPr>
          <p:nvPr>
            <p:ph type="sldNum" idx="12"/>
          </p:nvPr>
        </p:nvSpPr>
        <p:spPr>
          <a:xfrm>
            <a:off x="9440152" y="6492875"/>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pt-BR" sz="1800"/>
              <a:t>6</a:t>
            </a:fld>
            <a:endParaRPr sz="1800" dirty="0"/>
          </a:p>
        </p:txBody>
      </p:sp>
      <p:sp>
        <p:nvSpPr>
          <p:cNvPr id="11" name="Google Shape;97;p2">
            <a:extLst>
              <a:ext uri="{FF2B5EF4-FFF2-40B4-BE49-F238E27FC236}">
                <a16:creationId xmlns:a16="http://schemas.microsoft.com/office/drawing/2014/main" id="{17A4CC5B-A7C9-4E17-89B2-6223CF175D1B}"/>
              </a:ext>
            </a:extLst>
          </p:cNvPr>
          <p:cNvSpPr txBox="1">
            <a:spLocks noGrp="1"/>
          </p:cNvSpPr>
          <p:nvPr>
            <p:ph type="body" idx="1"/>
          </p:nvPr>
        </p:nvSpPr>
        <p:spPr>
          <a:xfrm>
            <a:off x="170268" y="1092372"/>
            <a:ext cx="11855669" cy="5732658"/>
          </a:xfrm>
          <a:prstGeom prst="rect">
            <a:avLst/>
          </a:prstGeom>
          <a:noFill/>
          <a:ln>
            <a:noFill/>
          </a:ln>
        </p:spPr>
        <p:txBody>
          <a:bodyPr spcFirstLastPara="1" wrap="square" lIns="91425" tIns="45700" rIns="91425" bIns="45700" anchor="t" anchorCtr="0">
            <a:noAutofit/>
          </a:bodyPr>
          <a:lstStyle/>
          <a:p>
            <a:pPr marL="0" indent="-457200">
              <a:buNone/>
            </a:pPr>
            <a:r>
              <a:rPr lang="pt-BR" sz="2400" b="1" dirty="0">
                <a:latin typeface="+mn-lt"/>
              </a:rPr>
              <a:t>Objetivo Geral:</a:t>
            </a:r>
          </a:p>
          <a:p>
            <a:pPr marL="0" indent="-457200">
              <a:buNone/>
            </a:pPr>
            <a:r>
              <a:rPr lang="pt-BR" sz="2400" dirty="0">
                <a:latin typeface="+mn-lt"/>
              </a:rPr>
              <a:t>Desenvolver um modelo preditivo baseado em IA para efetivamente estimar o PIB</a:t>
            </a:r>
          </a:p>
          <a:p>
            <a:pPr marL="0" indent="-457200">
              <a:buNone/>
            </a:pPr>
            <a:r>
              <a:rPr lang="pt-BR" sz="2400" dirty="0">
                <a:latin typeface="+mn-lt"/>
              </a:rPr>
              <a:t>brasileiro, considerando as diferenças e semelhanças significativas entre os modelos tradicionais</a:t>
            </a:r>
          </a:p>
          <a:p>
            <a:pPr marL="0" indent="-457200">
              <a:buNone/>
            </a:pPr>
            <a:r>
              <a:rPr lang="pt-BR" sz="2400" dirty="0">
                <a:latin typeface="+mn-lt"/>
              </a:rPr>
              <a:t>VAR, ARIMA, DFM e MIDAS.</a:t>
            </a:r>
          </a:p>
          <a:p>
            <a:pPr marL="0" indent="-457200">
              <a:buNone/>
            </a:pPr>
            <a:r>
              <a:rPr lang="pt-BR" sz="2400" b="1" dirty="0">
                <a:latin typeface="+mn-lt"/>
              </a:rPr>
              <a:t>Objetivos Específicos:</a:t>
            </a:r>
          </a:p>
          <a:p>
            <a:pPr marL="0" indent="-457200">
              <a:buNone/>
            </a:pPr>
            <a:r>
              <a:rPr lang="pt-BR" sz="2400" dirty="0">
                <a:latin typeface="+mn-lt"/>
              </a:rPr>
              <a:t>a) Caracterizar os modelos econométricos tradicionais (VAR, ARIMA, DFM e MIDAS) e de IA para a predição do PIB;</a:t>
            </a:r>
          </a:p>
          <a:p>
            <a:pPr marL="0" indent="-457200">
              <a:buNone/>
            </a:pPr>
            <a:r>
              <a:rPr lang="pt-BR" sz="2400" dirty="0">
                <a:latin typeface="+mn-lt"/>
              </a:rPr>
              <a:t>b) Identificar as diferentes variáveis determinantes na estimativa do PIB;</a:t>
            </a:r>
          </a:p>
          <a:p>
            <a:pPr marL="0" indent="-457200">
              <a:buNone/>
            </a:pPr>
            <a:r>
              <a:rPr lang="pt-BR" sz="2400" dirty="0">
                <a:latin typeface="+mn-lt"/>
              </a:rPr>
              <a:t>c) Desenvolver um ciclo de vida para a produção de um novo modelo econométrico de IA para a predição do PIB;</a:t>
            </a:r>
          </a:p>
          <a:p>
            <a:pPr marL="0" indent="-457200">
              <a:buNone/>
            </a:pPr>
            <a:r>
              <a:rPr lang="pt-BR" sz="2400" dirty="0">
                <a:latin typeface="+mn-lt"/>
              </a:rPr>
              <a:t>d) Comparar o desempenho dos modelos de IA e tradicionais usando diferentes</a:t>
            </a:r>
          </a:p>
          <a:p>
            <a:pPr marL="0" indent="-457200">
              <a:buNone/>
            </a:pPr>
            <a:r>
              <a:rPr lang="pt-BR" sz="2400" dirty="0">
                <a:latin typeface="+mn-lt"/>
              </a:rPr>
              <a:t>métricas, como desempenho computacional, precisão e </a:t>
            </a:r>
            <a:r>
              <a:rPr lang="pt-BR" sz="2400" dirty="0" err="1">
                <a:latin typeface="+mn-lt"/>
              </a:rPr>
              <a:t>interpretabilidade</a:t>
            </a:r>
            <a:r>
              <a:rPr lang="pt-BR" sz="2400" dirty="0">
                <a:latin typeface="+mn-lt"/>
              </a:rPr>
              <a:t>.</a:t>
            </a:r>
          </a:p>
        </p:txBody>
      </p:sp>
    </p:spTree>
    <p:extLst>
      <p:ext uri="{BB962C8B-B14F-4D97-AF65-F5344CB8AC3E}">
        <p14:creationId xmlns:p14="http://schemas.microsoft.com/office/powerpoint/2010/main" val="412136989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95">
          <a:extLst>
            <a:ext uri="{FF2B5EF4-FFF2-40B4-BE49-F238E27FC236}">
              <a16:creationId xmlns:a16="http://schemas.microsoft.com/office/drawing/2014/main" id="{DFCC81BF-908F-AD2B-0451-A63B8FDE747B}"/>
            </a:ext>
          </a:extLst>
        </p:cNvPr>
        <p:cNvGrpSpPr/>
        <p:nvPr/>
      </p:nvGrpSpPr>
      <p:grpSpPr>
        <a:xfrm>
          <a:off x="0" y="0"/>
          <a:ext cx="0" cy="0"/>
          <a:chOff x="0" y="0"/>
          <a:chExt cx="0" cy="0"/>
        </a:xfrm>
      </p:grpSpPr>
      <p:sp>
        <p:nvSpPr>
          <p:cNvPr id="96" name="Google Shape;96;p2">
            <a:extLst>
              <a:ext uri="{FF2B5EF4-FFF2-40B4-BE49-F238E27FC236}">
                <a16:creationId xmlns:a16="http://schemas.microsoft.com/office/drawing/2014/main" id="{5A4E9FF4-1B12-5F93-B798-09D2F0E37DA8}"/>
              </a:ext>
            </a:extLst>
          </p:cNvPr>
          <p:cNvSpPr txBox="1">
            <a:spLocks noGrp="1"/>
          </p:cNvSpPr>
          <p:nvPr>
            <p:ph type="title"/>
          </p:nvPr>
        </p:nvSpPr>
        <p:spPr>
          <a:xfrm>
            <a:off x="170268" y="190105"/>
            <a:ext cx="10329566" cy="768438"/>
          </a:xfrm>
          <a:prstGeom prst="rect">
            <a:avLst/>
          </a:prstGeom>
          <a:noFill/>
          <a:ln>
            <a:noFill/>
          </a:ln>
        </p:spPr>
        <p:txBody>
          <a:bodyPr spcFirstLastPara="1" wrap="square" lIns="91425" tIns="45700" rIns="91425" bIns="45700" anchor="ctr" anchorCtr="0">
            <a:noAutofit/>
          </a:bodyPr>
          <a:lstStyle/>
          <a:p>
            <a:pPr lvl="0">
              <a:buSzPts val="4400"/>
            </a:pPr>
            <a:r>
              <a:rPr lang="pt-BR" sz="3200" b="1" dirty="0">
                <a:latin typeface="+mj-lt"/>
              </a:rPr>
              <a:t>Justificativa</a:t>
            </a:r>
            <a:endParaRPr sz="3200" b="1" dirty="0">
              <a:latin typeface="+mj-lt"/>
            </a:endParaRPr>
          </a:p>
        </p:txBody>
      </p:sp>
      <p:pic>
        <p:nvPicPr>
          <p:cNvPr id="98" name="Google Shape;98;p2" descr="Universidade Federal da Fronteira Sul – Wikipédia, a enciclopédia livre">
            <a:extLst>
              <a:ext uri="{FF2B5EF4-FFF2-40B4-BE49-F238E27FC236}">
                <a16:creationId xmlns:a16="http://schemas.microsoft.com/office/drawing/2014/main" id="{9301FDD3-CD5D-F226-9DB4-30A4F485FE5C}"/>
              </a:ext>
            </a:extLst>
          </p:cNvPr>
          <p:cNvPicPr preferRelativeResize="0"/>
          <p:nvPr/>
        </p:nvPicPr>
        <p:blipFill rotWithShape="1">
          <a:blip r:embed="rId3">
            <a:alphaModFix/>
          </a:blip>
          <a:srcRect/>
          <a:stretch/>
        </p:blipFill>
        <p:spPr>
          <a:xfrm>
            <a:off x="10978329" y="18255"/>
            <a:ext cx="975614" cy="1325563"/>
          </a:xfrm>
          <a:prstGeom prst="rect">
            <a:avLst/>
          </a:prstGeom>
          <a:noFill/>
          <a:ln>
            <a:noFill/>
          </a:ln>
        </p:spPr>
      </p:pic>
      <p:sp>
        <p:nvSpPr>
          <p:cNvPr id="99" name="Google Shape;99;p2">
            <a:extLst>
              <a:ext uri="{FF2B5EF4-FFF2-40B4-BE49-F238E27FC236}">
                <a16:creationId xmlns:a16="http://schemas.microsoft.com/office/drawing/2014/main" id="{B233147C-9AAF-341F-4EB7-2A30161B9011}"/>
              </a:ext>
            </a:extLst>
          </p:cNvPr>
          <p:cNvSpPr/>
          <p:nvPr/>
        </p:nvSpPr>
        <p:spPr>
          <a:xfrm>
            <a:off x="170268" y="958543"/>
            <a:ext cx="10515600" cy="63062"/>
          </a:xfrm>
          <a:prstGeom prst="rect">
            <a:avLst/>
          </a:prstGeom>
          <a:solidFill>
            <a:srgbClr val="548135"/>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00" name="Google Shape;100;p2">
            <a:extLst>
              <a:ext uri="{FF2B5EF4-FFF2-40B4-BE49-F238E27FC236}">
                <a16:creationId xmlns:a16="http://schemas.microsoft.com/office/drawing/2014/main" id="{F540FE8D-1FD5-6067-A113-896128341CFC}"/>
              </a:ext>
            </a:extLst>
          </p:cNvPr>
          <p:cNvSpPr txBox="1">
            <a:spLocks noGrp="1"/>
          </p:cNvSpPr>
          <p:nvPr>
            <p:ph type="sldNum" idx="12"/>
          </p:nvPr>
        </p:nvSpPr>
        <p:spPr>
          <a:xfrm>
            <a:off x="9440152" y="6492875"/>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pt-BR" sz="1800"/>
              <a:t>7</a:t>
            </a:fld>
            <a:endParaRPr sz="1800" dirty="0"/>
          </a:p>
        </p:txBody>
      </p:sp>
      <p:sp>
        <p:nvSpPr>
          <p:cNvPr id="9" name="Google Shape;97;p2">
            <a:extLst>
              <a:ext uri="{FF2B5EF4-FFF2-40B4-BE49-F238E27FC236}">
                <a16:creationId xmlns:a16="http://schemas.microsoft.com/office/drawing/2014/main" id="{C4A0DC7B-2F5A-494A-9EA1-6820148CA96E}"/>
              </a:ext>
            </a:extLst>
          </p:cNvPr>
          <p:cNvSpPr txBox="1">
            <a:spLocks noGrp="1"/>
          </p:cNvSpPr>
          <p:nvPr>
            <p:ph type="body" idx="1"/>
          </p:nvPr>
        </p:nvSpPr>
        <p:spPr>
          <a:xfrm>
            <a:off x="170268" y="1092372"/>
            <a:ext cx="11855669" cy="5732658"/>
          </a:xfrm>
          <a:prstGeom prst="rect">
            <a:avLst/>
          </a:prstGeom>
          <a:noFill/>
          <a:ln>
            <a:noFill/>
          </a:ln>
        </p:spPr>
        <p:txBody>
          <a:bodyPr spcFirstLastPara="1" wrap="square" lIns="91425" tIns="45700" rIns="91425" bIns="45700" anchor="t" anchorCtr="0">
            <a:noAutofit/>
          </a:bodyPr>
          <a:lstStyle/>
          <a:p>
            <a:pPr marL="0" indent="-457200">
              <a:buNone/>
            </a:pPr>
            <a:r>
              <a:rPr lang="pt-BR" sz="2400" dirty="0">
                <a:latin typeface="+mn-lt"/>
              </a:rPr>
              <a:t>O presente trabalho justifica-se empiricamente, pois permite que gestores, sejam eles públicos ou privados, utilizem-se de ferramentas estatísticas para tomarem decisões fundamentadas. "A tomada de decisões empresariais é uma tarefa complexa e fundamental para a sobrevivência de uma organização"(Santana et al., 2023, p. 3).</a:t>
            </a:r>
          </a:p>
          <a:p>
            <a:pPr marL="0" indent="-457200">
              <a:buNone/>
            </a:pPr>
            <a:r>
              <a:rPr lang="pt-BR" sz="2400" dirty="0">
                <a:latin typeface="+mn-lt"/>
              </a:rPr>
              <a:t>Já contribuição teórica desse trabalho está alinhada com a avaliação dos diferentes modelos estatísticos para a predição econômica, além é claro, de explorar as novas fronteiras da ciência, com a avaliação de modelos inovadores como os que usam a IA.</a:t>
            </a:r>
          </a:p>
          <a:p>
            <a:pPr marL="0" indent="-457200">
              <a:buNone/>
            </a:pPr>
            <a:r>
              <a:rPr lang="pt-BR" sz="2400" dirty="0">
                <a:latin typeface="+mn-lt"/>
              </a:rPr>
              <a:t>O presente trabalho busca mesclar diferentes modelos, ranqueando seu desempenho, e possibilitando a identificação dos modelos mais adequados para previsão econômica. Para isso é necessário a avaliação métricas estatísticas comuns, semelhante ao que Castelli (2022) fez, ao comparar modelos de IA com modelos tradicionais, aplicando métricas como coeficiente de determinação (R2), Erro Médio Absoluto (MAE), Erro Quadrático Médio (MSE) para classificar os modelos</a:t>
            </a:r>
          </a:p>
        </p:txBody>
      </p:sp>
    </p:spTree>
    <p:extLst>
      <p:ext uri="{BB962C8B-B14F-4D97-AF65-F5344CB8AC3E}">
        <p14:creationId xmlns:p14="http://schemas.microsoft.com/office/powerpoint/2010/main" val="146982460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95">
          <a:extLst>
            <a:ext uri="{FF2B5EF4-FFF2-40B4-BE49-F238E27FC236}">
              <a16:creationId xmlns:a16="http://schemas.microsoft.com/office/drawing/2014/main" id="{9FF41EF8-48B2-7056-CDDA-BBD428E9F661}"/>
            </a:ext>
          </a:extLst>
        </p:cNvPr>
        <p:cNvGrpSpPr/>
        <p:nvPr/>
      </p:nvGrpSpPr>
      <p:grpSpPr>
        <a:xfrm>
          <a:off x="0" y="0"/>
          <a:ext cx="0" cy="0"/>
          <a:chOff x="0" y="0"/>
          <a:chExt cx="0" cy="0"/>
        </a:xfrm>
      </p:grpSpPr>
      <p:sp>
        <p:nvSpPr>
          <p:cNvPr id="96" name="Google Shape;96;p2">
            <a:extLst>
              <a:ext uri="{FF2B5EF4-FFF2-40B4-BE49-F238E27FC236}">
                <a16:creationId xmlns:a16="http://schemas.microsoft.com/office/drawing/2014/main" id="{5A2FA1F4-5F86-6CB1-9FAA-1F90809EEAD2}"/>
              </a:ext>
            </a:extLst>
          </p:cNvPr>
          <p:cNvSpPr txBox="1">
            <a:spLocks noGrp="1"/>
          </p:cNvSpPr>
          <p:nvPr>
            <p:ph type="title"/>
          </p:nvPr>
        </p:nvSpPr>
        <p:spPr>
          <a:xfrm>
            <a:off x="170268" y="190105"/>
            <a:ext cx="10329566" cy="768438"/>
          </a:xfrm>
          <a:prstGeom prst="rect">
            <a:avLst/>
          </a:prstGeom>
          <a:noFill/>
          <a:ln>
            <a:noFill/>
          </a:ln>
        </p:spPr>
        <p:txBody>
          <a:bodyPr spcFirstLastPara="1" wrap="square" lIns="91425" tIns="45700" rIns="91425" bIns="45700" anchor="ctr" anchorCtr="0">
            <a:noAutofit/>
          </a:bodyPr>
          <a:lstStyle/>
          <a:p>
            <a:pPr lvl="0">
              <a:buSzPts val="4400"/>
            </a:pPr>
            <a:r>
              <a:rPr lang="pt-BR" sz="3200" b="1" dirty="0">
                <a:latin typeface="+mj-lt"/>
              </a:rPr>
              <a:t>Revisão</a:t>
            </a:r>
            <a:r>
              <a:rPr lang="pt-BR" sz="3200" dirty="0"/>
              <a:t> </a:t>
            </a:r>
            <a:r>
              <a:rPr lang="pt-BR" sz="3200" b="1" dirty="0">
                <a:latin typeface="+mj-lt"/>
              </a:rPr>
              <a:t>de literatura</a:t>
            </a:r>
            <a:endParaRPr sz="3200" b="1" dirty="0">
              <a:latin typeface="+mj-lt"/>
            </a:endParaRPr>
          </a:p>
        </p:txBody>
      </p:sp>
      <p:sp>
        <p:nvSpPr>
          <p:cNvPr id="97" name="Google Shape;97;p2">
            <a:extLst>
              <a:ext uri="{FF2B5EF4-FFF2-40B4-BE49-F238E27FC236}">
                <a16:creationId xmlns:a16="http://schemas.microsoft.com/office/drawing/2014/main" id="{D7E3C610-954D-9EC1-3573-1126F369424B}"/>
              </a:ext>
            </a:extLst>
          </p:cNvPr>
          <p:cNvSpPr txBox="1">
            <a:spLocks noGrp="1"/>
          </p:cNvSpPr>
          <p:nvPr>
            <p:ph type="body" idx="1"/>
          </p:nvPr>
        </p:nvSpPr>
        <p:spPr>
          <a:xfrm>
            <a:off x="170268" y="1125342"/>
            <a:ext cx="11855669" cy="5732658"/>
          </a:xfrm>
          <a:prstGeom prst="rect">
            <a:avLst/>
          </a:prstGeom>
          <a:noFill/>
          <a:ln>
            <a:noFill/>
          </a:ln>
        </p:spPr>
        <p:txBody>
          <a:bodyPr spcFirstLastPara="1" wrap="square" lIns="91425" tIns="45700" rIns="91425" bIns="45700" anchor="t" anchorCtr="0">
            <a:noAutofit/>
          </a:bodyPr>
          <a:lstStyle/>
          <a:p>
            <a:pPr>
              <a:buFont typeface="Arial" panose="020B0604020202020204" pitchFamily="34" charset="0"/>
              <a:buChar char="•"/>
            </a:pPr>
            <a:endParaRPr lang="pt-BR" sz="2200" dirty="0"/>
          </a:p>
          <a:p>
            <a:pPr>
              <a:buFont typeface="Arial" panose="020B0604020202020204" pitchFamily="34" charset="0"/>
              <a:buChar char="•"/>
            </a:pPr>
            <a:r>
              <a:rPr lang="pt-BR" sz="2200" dirty="0"/>
              <a:t>Predição econômica: O PIB – Frisch (1929); </a:t>
            </a:r>
            <a:r>
              <a:rPr lang="it-IT" sz="2200" dirty="0"/>
              <a:t>Laudon e Laudon (2022)  e</a:t>
            </a:r>
            <a:r>
              <a:rPr lang="pt-BR" sz="2200" dirty="0"/>
              <a:t> IBGE (2026).</a:t>
            </a:r>
          </a:p>
          <a:p>
            <a:pPr>
              <a:buFont typeface="Arial" panose="020B0604020202020204" pitchFamily="34" charset="0"/>
              <a:buChar char="•"/>
            </a:pPr>
            <a:r>
              <a:rPr lang="pt-BR" sz="2200" dirty="0"/>
              <a:t>Modelos tradicionais: Braga (2025); Rebelo (2022).</a:t>
            </a:r>
          </a:p>
          <a:p>
            <a:pPr>
              <a:buFont typeface="Arial" panose="020B0604020202020204" pitchFamily="34" charset="0"/>
              <a:buChar char="•"/>
            </a:pPr>
            <a:r>
              <a:rPr lang="pt-BR" sz="2200" dirty="0"/>
              <a:t>ARIMA: Box e Jenkins (1970); Silva </a:t>
            </a:r>
            <a:r>
              <a:rPr lang="pt-BR" sz="2200" i="1" dirty="0"/>
              <a:t>et al </a:t>
            </a:r>
            <a:r>
              <a:rPr lang="pt-BR" sz="2200" dirty="0"/>
              <a:t>(2025); Li (2024).</a:t>
            </a:r>
          </a:p>
          <a:p>
            <a:pPr>
              <a:buFont typeface="Arial" panose="020B0604020202020204" pitchFamily="34" charset="0"/>
              <a:buChar char="•"/>
            </a:pPr>
            <a:r>
              <a:rPr lang="pt-BR" sz="2200" dirty="0"/>
              <a:t>VAR: </a:t>
            </a:r>
            <a:r>
              <a:rPr lang="pt-BR" sz="2200" dirty="0" err="1"/>
              <a:t>Sims</a:t>
            </a:r>
            <a:r>
              <a:rPr lang="pt-BR" sz="2200" dirty="0"/>
              <a:t> (1980); Fialho </a:t>
            </a:r>
            <a:r>
              <a:rPr lang="pt-BR" sz="2200" i="1" dirty="0"/>
              <a:t>et al</a:t>
            </a:r>
            <a:r>
              <a:rPr lang="pt-BR" sz="2200" dirty="0"/>
              <a:t>. (2024); Oliveira e Junior (2024); </a:t>
            </a:r>
            <a:r>
              <a:rPr lang="pt-BR" sz="2200" dirty="0" err="1"/>
              <a:t>Koop</a:t>
            </a:r>
            <a:r>
              <a:rPr lang="pt-BR" sz="2200" dirty="0"/>
              <a:t> </a:t>
            </a:r>
            <a:r>
              <a:rPr lang="pt-BR" sz="2200" i="1" dirty="0"/>
              <a:t>et al</a:t>
            </a:r>
            <a:r>
              <a:rPr lang="pt-BR" sz="2200" dirty="0"/>
              <a:t>. (2025).</a:t>
            </a:r>
          </a:p>
          <a:p>
            <a:pPr>
              <a:buFont typeface="Arial" panose="020B0604020202020204" pitchFamily="34" charset="0"/>
              <a:buChar char="•"/>
            </a:pPr>
            <a:r>
              <a:rPr lang="pt-BR" sz="2200" dirty="0"/>
              <a:t>MIDAS: Em progresso</a:t>
            </a:r>
          </a:p>
          <a:p>
            <a:pPr>
              <a:buFont typeface="Arial" panose="020B0604020202020204" pitchFamily="34" charset="0"/>
              <a:buChar char="•"/>
            </a:pPr>
            <a:r>
              <a:rPr lang="pt-BR" sz="2200" dirty="0"/>
              <a:t>DFM: Em progresso</a:t>
            </a:r>
          </a:p>
          <a:p>
            <a:pPr>
              <a:buFont typeface="Arial" panose="020B0604020202020204" pitchFamily="34" charset="0"/>
              <a:buChar char="•"/>
            </a:pPr>
            <a:r>
              <a:rPr lang="pt-BR" sz="2200" dirty="0"/>
              <a:t>Modelos de IA: em progresso</a:t>
            </a:r>
          </a:p>
          <a:p>
            <a:pPr>
              <a:buFont typeface="Arial" panose="020B0604020202020204" pitchFamily="34" charset="0"/>
              <a:buChar char="•"/>
            </a:pPr>
            <a:r>
              <a:rPr lang="pt-BR" sz="2200" dirty="0"/>
              <a:t>Redes Neurais</a:t>
            </a:r>
          </a:p>
          <a:p>
            <a:pPr>
              <a:buFont typeface="Arial" panose="020B0604020202020204" pitchFamily="34" charset="0"/>
              <a:buChar char="•"/>
            </a:pPr>
            <a:r>
              <a:rPr lang="pt-BR" sz="2200" dirty="0"/>
              <a:t>Florestas Aleatórias</a:t>
            </a:r>
          </a:p>
          <a:p>
            <a:pPr>
              <a:buFont typeface="Arial" panose="020B0604020202020204" pitchFamily="34" charset="0"/>
              <a:buChar char="•"/>
            </a:pPr>
            <a:r>
              <a:rPr lang="pt-BR" sz="2200" dirty="0"/>
              <a:t>Testes comprovar e comparar modelos</a:t>
            </a:r>
          </a:p>
          <a:p>
            <a:pPr>
              <a:buFont typeface="Arial" panose="020B0604020202020204" pitchFamily="34" charset="0"/>
              <a:buChar char="•"/>
            </a:pPr>
            <a:r>
              <a:rPr lang="pt-BR" sz="2200" dirty="0"/>
              <a:t>IA </a:t>
            </a:r>
            <a:r>
              <a:rPr lang="pt-BR" sz="2200" dirty="0" err="1"/>
              <a:t>vs</a:t>
            </a:r>
            <a:r>
              <a:rPr lang="pt-BR" sz="2200" dirty="0"/>
              <a:t> Tradicional</a:t>
            </a:r>
          </a:p>
        </p:txBody>
      </p:sp>
      <p:pic>
        <p:nvPicPr>
          <p:cNvPr id="98" name="Google Shape;98;p2" descr="Universidade Federal da Fronteira Sul – Wikipédia, a enciclopédia livre">
            <a:extLst>
              <a:ext uri="{FF2B5EF4-FFF2-40B4-BE49-F238E27FC236}">
                <a16:creationId xmlns:a16="http://schemas.microsoft.com/office/drawing/2014/main" id="{1EE0ECE7-4015-E52D-87CB-07B2E3E79484}"/>
              </a:ext>
            </a:extLst>
          </p:cNvPr>
          <p:cNvPicPr preferRelativeResize="0"/>
          <p:nvPr/>
        </p:nvPicPr>
        <p:blipFill rotWithShape="1">
          <a:blip r:embed="rId3">
            <a:alphaModFix/>
          </a:blip>
          <a:srcRect/>
          <a:stretch/>
        </p:blipFill>
        <p:spPr>
          <a:xfrm>
            <a:off x="10978329" y="18255"/>
            <a:ext cx="975614" cy="1325563"/>
          </a:xfrm>
          <a:prstGeom prst="rect">
            <a:avLst/>
          </a:prstGeom>
          <a:noFill/>
          <a:ln>
            <a:noFill/>
          </a:ln>
        </p:spPr>
      </p:pic>
      <p:sp>
        <p:nvSpPr>
          <p:cNvPr id="99" name="Google Shape;99;p2">
            <a:extLst>
              <a:ext uri="{FF2B5EF4-FFF2-40B4-BE49-F238E27FC236}">
                <a16:creationId xmlns:a16="http://schemas.microsoft.com/office/drawing/2014/main" id="{3D4F7B8C-6764-7564-BFE5-BAB6EBBEB5E9}"/>
              </a:ext>
            </a:extLst>
          </p:cNvPr>
          <p:cNvSpPr/>
          <p:nvPr/>
        </p:nvSpPr>
        <p:spPr>
          <a:xfrm>
            <a:off x="170268" y="958543"/>
            <a:ext cx="10515600" cy="63062"/>
          </a:xfrm>
          <a:prstGeom prst="rect">
            <a:avLst/>
          </a:prstGeom>
          <a:solidFill>
            <a:srgbClr val="548135"/>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00" name="Google Shape;100;p2">
            <a:extLst>
              <a:ext uri="{FF2B5EF4-FFF2-40B4-BE49-F238E27FC236}">
                <a16:creationId xmlns:a16="http://schemas.microsoft.com/office/drawing/2014/main" id="{A6A58863-CCF4-A345-61CA-EE98F82E8FFA}"/>
              </a:ext>
            </a:extLst>
          </p:cNvPr>
          <p:cNvSpPr txBox="1">
            <a:spLocks noGrp="1"/>
          </p:cNvSpPr>
          <p:nvPr>
            <p:ph type="sldNum" idx="12"/>
          </p:nvPr>
        </p:nvSpPr>
        <p:spPr>
          <a:xfrm>
            <a:off x="9440152" y="6492875"/>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pt-BR" sz="1800"/>
              <a:t>8</a:t>
            </a:fld>
            <a:endParaRPr sz="1800" dirty="0"/>
          </a:p>
        </p:txBody>
      </p:sp>
    </p:spTree>
    <p:extLst>
      <p:ext uri="{BB962C8B-B14F-4D97-AF65-F5344CB8AC3E}">
        <p14:creationId xmlns:p14="http://schemas.microsoft.com/office/powerpoint/2010/main" val="165944378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95">
          <a:extLst>
            <a:ext uri="{FF2B5EF4-FFF2-40B4-BE49-F238E27FC236}">
              <a16:creationId xmlns:a16="http://schemas.microsoft.com/office/drawing/2014/main" id="{831B1A78-1ABC-F342-EDA6-AFE1EC65AD38}"/>
            </a:ext>
          </a:extLst>
        </p:cNvPr>
        <p:cNvGrpSpPr/>
        <p:nvPr/>
      </p:nvGrpSpPr>
      <p:grpSpPr>
        <a:xfrm>
          <a:off x="0" y="0"/>
          <a:ext cx="0" cy="0"/>
          <a:chOff x="0" y="0"/>
          <a:chExt cx="0" cy="0"/>
        </a:xfrm>
      </p:grpSpPr>
      <p:sp>
        <p:nvSpPr>
          <p:cNvPr id="96" name="Google Shape;96;p2">
            <a:extLst>
              <a:ext uri="{FF2B5EF4-FFF2-40B4-BE49-F238E27FC236}">
                <a16:creationId xmlns:a16="http://schemas.microsoft.com/office/drawing/2014/main" id="{B83C26C9-EA22-BCD5-E445-35737ED45C44}"/>
              </a:ext>
            </a:extLst>
          </p:cNvPr>
          <p:cNvSpPr txBox="1">
            <a:spLocks noGrp="1"/>
          </p:cNvSpPr>
          <p:nvPr>
            <p:ph type="title"/>
          </p:nvPr>
        </p:nvSpPr>
        <p:spPr>
          <a:xfrm>
            <a:off x="170268" y="190105"/>
            <a:ext cx="10329566" cy="768438"/>
          </a:xfrm>
          <a:prstGeom prst="rect">
            <a:avLst/>
          </a:prstGeom>
          <a:noFill/>
          <a:ln>
            <a:noFill/>
          </a:ln>
        </p:spPr>
        <p:txBody>
          <a:bodyPr spcFirstLastPara="1" wrap="square" lIns="91425" tIns="45700" rIns="91425" bIns="45700" anchor="ctr" anchorCtr="0">
            <a:noAutofit/>
          </a:bodyPr>
          <a:lstStyle/>
          <a:p>
            <a:pPr lvl="0">
              <a:buSzPts val="4400"/>
            </a:pPr>
            <a:r>
              <a:rPr lang="pt-BR" sz="3200" b="1" dirty="0">
                <a:latin typeface="+mj-lt"/>
              </a:rPr>
              <a:t>Metodologia</a:t>
            </a:r>
            <a:endParaRPr sz="3200" b="1" dirty="0">
              <a:latin typeface="+mj-lt"/>
            </a:endParaRPr>
          </a:p>
        </p:txBody>
      </p:sp>
      <p:pic>
        <p:nvPicPr>
          <p:cNvPr id="98" name="Google Shape;98;p2" descr="Universidade Federal da Fronteira Sul – Wikipédia, a enciclopédia livre">
            <a:extLst>
              <a:ext uri="{FF2B5EF4-FFF2-40B4-BE49-F238E27FC236}">
                <a16:creationId xmlns:a16="http://schemas.microsoft.com/office/drawing/2014/main" id="{DECB0394-41DE-FEB0-693A-900E53FBD800}"/>
              </a:ext>
            </a:extLst>
          </p:cNvPr>
          <p:cNvPicPr preferRelativeResize="0"/>
          <p:nvPr/>
        </p:nvPicPr>
        <p:blipFill rotWithShape="1">
          <a:blip r:embed="rId3">
            <a:alphaModFix/>
          </a:blip>
          <a:srcRect/>
          <a:stretch/>
        </p:blipFill>
        <p:spPr>
          <a:xfrm>
            <a:off x="10978329" y="18255"/>
            <a:ext cx="975614" cy="1325563"/>
          </a:xfrm>
          <a:prstGeom prst="rect">
            <a:avLst/>
          </a:prstGeom>
          <a:noFill/>
          <a:ln>
            <a:noFill/>
          </a:ln>
        </p:spPr>
      </p:pic>
      <p:sp>
        <p:nvSpPr>
          <p:cNvPr id="99" name="Google Shape;99;p2">
            <a:extLst>
              <a:ext uri="{FF2B5EF4-FFF2-40B4-BE49-F238E27FC236}">
                <a16:creationId xmlns:a16="http://schemas.microsoft.com/office/drawing/2014/main" id="{69B1ED4B-0635-F42A-A86E-C08A222F9900}"/>
              </a:ext>
            </a:extLst>
          </p:cNvPr>
          <p:cNvSpPr/>
          <p:nvPr/>
        </p:nvSpPr>
        <p:spPr>
          <a:xfrm>
            <a:off x="170268" y="958543"/>
            <a:ext cx="10515600" cy="63062"/>
          </a:xfrm>
          <a:prstGeom prst="rect">
            <a:avLst/>
          </a:prstGeom>
          <a:solidFill>
            <a:srgbClr val="548135"/>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00" name="Google Shape;100;p2">
            <a:extLst>
              <a:ext uri="{FF2B5EF4-FFF2-40B4-BE49-F238E27FC236}">
                <a16:creationId xmlns:a16="http://schemas.microsoft.com/office/drawing/2014/main" id="{ECEBEDFF-90B6-71CC-164E-FF31B6A06AD5}"/>
              </a:ext>
            </a:extLst>
          </p:cNvPr>
          <p:cNvSpPr txBox="1">
            <a:spLocks noGrp="1"/>
          </p:cNvSpPr>
          <p:nvPr>
            <p:ph type="sldNum" idx="12"/>
          </p:nvPr>
        </p:nvSpPr>
        <p:spPr>
          <a:xfrm>
            <a:off x="9440152" y="6492875"/>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pt-BR" sz="1800"/>
              <a:t>9</a:t>
            </a:fld>
            <a:endParaRPr sz="1800" dirty="0"/>
          </a:p>
        </p:txBody>
      </p:sp>
      <p:sp>
        <p:nvSpPr>
          <p:cNvPr id="9" name="Google Shape;97;p2">
            <a:extLst>
              <a:ext uri="{FF2B5EF4-FFF2-40B4-BE49-F238E27FC236}">
                <a16:creationId xmlns:a16="http://schemas.microsoft.com/office/drawing/2014/main" id="{7B5CC5E3-01C0-451C-80DD-E8813F8132AD}"/>
              </a:ext>
            </a:extLst>
          </p:cNvPr>
          <p:cNvSpPr txBox="1">
            <a:spLocks noGrp="1"/>
          </p:cNvSpPr>
          <p:nvPr>
            <p:ph type="body" idx="1"/>
          </p:nvPr>
        </p:nvSpPr>
        <p:spPr>
          <a:xfrm>
            <a:off x="170268" y="1092372"/>
            <a:ext cx="11855669" cy="5732658"/>
          </a:xfrm>
          <a:prstGeom prst="rect">
            <a:avLst/>
          </a:prstGeom>
          <a:noFill/>
          <a:ln>
            <a:noFill/>
          </a:ln>
        </p:spPr>
        <p:txBody>
          <a:bodyPr spcFirstLastPara="1" wrap="square" lIns="91425" tIns="45700" rIns="91425" bIns="45700" anchor="t" anchorCtr="0">
            <a:noAutofit/>
          </a:bodyPr>
          <a:lstStyle/>
          <a:p>
            <a:pPr marL="0" indent="-457200">
              <a:buNone/>
            </a:pPr>
            <a:r>
              <a:rPr lang="pt-BR" sz="2300" dirty="0">
                <a:latin typeface="+mn-lt"/>
              </a:rPr>
              <a:t>Com base nos objetivos da presente pesquisa, a mesma se classifica como explicativa. Esse tipo de pesquisa "têm como preocupação central identificar os fatores que determinam ou que contribuem para a ocorrência dos fenômenos."(Gil, 2002, p. 87).</a:t>
            </a:r>
          </a:p>
          <a:p>
            <a:pPr marL="0" indent="-457200">
              <a:buNone/>
            </a:pPr>
            <a:r>
              <a:rPr lang="pt-BR" sz="2300" dirty="0">
                <a:latin typeface="+mn-lt"/>
              </a:rPr>
              <a:t>Sobre os procedimentos de coleta de dados, a presente pesquisa se enquadra como documental, por utilizar-se de dados que não receberam um tratamento e estão dispostos em repositórios digitais de dados. Segundo Gil (2002) a pesquisa documental apropria-se de diversas fontes, não somente material impresso em bibliotecas, onde os documentos utilizados podem ter um tratamento analítico ou não.</a:t>
            </a:r>
          </a:p>
          <a:p>
            <a:pPr marL="0" indent="-457200">
              <a:buNone/>
            </a:pPr>
            <a:r>
              <a:rPr lang="pt-BR" sz="2300" dirty="0">
                <a:latin typeface="+mn-lt"/>
              </a:rPr>
              <a:t>Por fim, ao se tratar de uma pesquisa que compara diferentes modelos econométricos, assim como avalia o desempenho dos mesmos, seguindo o rigor matemático e estatístico, ela se enquadra como uma pesquisa predominantemente quantitativa onde apropria-se do método comparativo e estatístico. Para Lakatos e Marconi (2003) o método estatístico trata-se da redução dos fenômenos a termos quantitativos e a manipulação estatística, onde possibilita a generalizações sobre sua natureza, ocorrência ou significado. Já "o método comparativo é usado tanto para comparações de grupos."(Lakatos e Marconi, 2003, p. 107, 108).</a:t>
            </a:r>
          </a:p>
          <a:p>
            <a:pPr marL="0" indent="-457200">
              <a:buNone/>
            </a:pPr>
            <a:endParaRPr lang="pt-BR" sz="2400" dirty="0">
              <a:latin typeface="+mn-lt"/>
            </a:endParaRPr>
          </a:p>
        </p:txBody>
      </p:sp>
    </p:spTree>
    <p:extLst>
      <p:ext uri="{BB962C8B-B14F-4D97-AF65-F5344CB8AC3E}">
        <p14:creationId xmlns:p14="http://schemas.microsoft.com/office/powerpoint/2010/main" val="401836533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95">
          <a:extLst>
            <a:ext uri="{FF2B5EF4-FFF2-40B4-BE49-F238E27FC236}">
              <a16:creationId xmlns:a16="http://schemas.microsoft.com/office/drawing/2014/main" id="{D07958DF-359A-82CE-4BFC-378F4E54060C}"/>
            </a:ext>
          </a:extLst>
        </p:cNvPr>
        <p:cNvGrpSpPr/>
        <p:nvPr/>
      </p:nvGrpSpPr>
      <p:grpSpPr>
        <a:xfrm>
          <a:off x="0" y="0"/>
          <a:ext cx="0" cy="0"/>
          <a:chOff x="0" y="0"/>
          <a:chExt cx="0" cy="0"/>
        </a:xfrm>
      </p:grpSpPr>
      <p:sp>
        <p:nvSpPr>
          <p:cNvPr id="96" name="Google Shape;96;p2">
            <a:extLst>
              <a:ext uri="{FF2B5EF4-FFF2-40B4-BE49-F238E27FC236}">
                <a16:creationId xmlns:a16="http://schemas.microsoft.com/office/drawing/2014/main" id="{617B8F59-D82E-C486-D7C7-7C913E720CDF}"/>
              </a:ext>
            </a:extLst>
          </p:cNvPr>
          <p:cNvSpPr txBox="1">
            <a:spLocks noGrp="1"/>
          </p:cNvSpPr>
          <p:nvPr>
            <p:ph type="title"/>
          </p:nvPr>
        </p:nvSpPr>
        <p:spPr>
          <a:xfrm>
            <a:off x="170268" y="190105"/>
            <a:ext cx="10329566" cy="768438"/>
          </a:xfrm>
          <a:prstGeom prst="rect">
            <a:avLst/>
          </a:prstGeom>
          <a:noFill/>
          <a:ln>
            <a:noFill/>
          </a:ln>
        </p:spPr>
        <p:txBody>
          <a:bodyPr spcFirstLastPara="1" wrap="square" lIns="91425" tIns="45700" rIns="91425" bIns="45700" anchor="ctr" anchorCtr="0">
            <a:noAutofit/>
          </a:bodyPr>
          <a:lstStyle/>
          <a:p>
            <a:pPr lvl="0">
              <a:buSzPts val="4400"/>
            </a:pPr>
            <a:r>
              <a:rPr lang="pt-BR" sz="2800" b="1" dirty="0">
                <a:latin typeface="+mj-lt"/>
              </a:rPr>
              <a:t>Resultados</a:t>
            </a:r>
            <a:endParaRPr sz="2800" b="1" dirty="0">
              <a:latin typeface="+mj-lt"/>
            </a:endParaRPr>
          </a:p>
        </p:txBody>
      </p:sp>
      <p:pic>
        <p:nvPicPr>
          <p:cNvPr id="98" name="Google Shape;98;p2" descr="Universidade Federal da Fronteira Sul – Wikipédia, a enciclopédia livre">
            <a:extLst>
              <a:ext uri="{FF2B5EF4-FFF2-40B4-BE49-F238E27FC236}">
                <a16:creationId xmlns:a16="http://schemas.microsoft.com/office/drawing/2014/main" id="{CC55317F-BD27-19F4-A413-7016874E1927}"/>
              </a:ext>
            </a:extLst>
          </p:cNvPr>
          <p:cNvPicPr preferRelativeResize="0"/>
          <p:nvPr/>
        </p:nvPicPr>
        <p:blipFill rotWithShape="1">
          <a:blip r:embed="rId3">
            <a:alphaModFix/>
          </a:blip>
          <a:srcRect/>
          <a:stretch/>
        </p:blipFill>
        <p:spPr>
          <a:xfrm>
            <a:off x="10978329" y="18255"/>
            <a:ext cx="975614" cy="1325563"/>
          </a:xfrm>
          <a:prstGeom prst="rect">
            <a:avLst/>
          </a:prstGeom>
          <a:noFill/>
          <a:ln>
            <a:noFill/>
          </a:ln>
        </p:spPr>
      </p:pic>
      <p:sp>
        <p:nvSpPr>
          <p:cNvPr id="99" name="Google Shape;99;p2">
            <a:extLst>
              <a:ext uri="{FF2B5EF4-FFF2-40B4-BE49-F238E27FC236}">
                <a16:creationId xmlns:a16="http://schemas.microsoft.com/office/drawing/2014/main" id="{930ADBB6-941F-0798-8E62-BACDEA616AED}"/>
              </a:ext>
            </a:extLst>
          </p:cNvPr>
          <p:cNvSpPr/>
          <p:nvPr/>
        </p:nvSpPr>
        <p:spPr>
          <a:xfrm>
            <a:off x="170268" y="958543"/>
            <a:ext cx="10515600" cy="63062"/>
          </a:xfrm>
          <a:prstGeom prst="rect">
            <a:avLst/>
          </a:prstGeom>
          <a:solidFill>
            <a:srgbClr val="548135"/>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00" name="Google Shape;100;p2">
            <a:extLst>
              <a:ext uri="{FF2B5EF4-FFF2-40B4-BE49-F238E27FC236}">
                <a16:creationId xmlns:a16="http://schemas.microsoft.com/office/drawing/2014/main" id="{81184100-FD4A-1806-B041-1349D918C95F}"/>
              </a:ext>
            </a:extLst>
          </p:cNvPr>
          <p:cNvSpPr txBox="1">
            <a:spLocks noGrp="1"/>
          </p:cNvSpPr>
          <p:nvPr>
            <p:ph type="sldNum" idx="12"/>
          </p:nvPr>
        </p:nvSpPr>
        <p:spPr>
          <a:xfrm>
            <a:off x="9440152" y="6492875"/>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pt-BR" sz="1800"/>
              <a:t>10</a:t>
            </a:fld>
            <a:endParaRPr sz="1800" dirty="0"/>
          </a:p>
        </p:txBody>
      </p:sp>
      <p:sp>
        <p:nvSpPr>
          <p:cNvPr id="2" name="Rectangle 1">
            <a:extLst>
              <a:ext uri="{FF2B5EF4-FFF2-40B4-BE49-F238E27FC236}">
                <a16:creationId xmlns:a16="http://schemas.microsoft.com/office/drawing/2014/main" id="{AE383928-995F-91A6-88B9-C5CD25D67972}"/>
              </a:ext>
            </a:extLst>
          </p:cNvPr>
          <p:cNvSpPr>
            <a:spLocks noChangeArrowheads="1"/>
          </p:cNvSpPr>
          <p:nvPr/>
        </p:nvSpPr>
        <p:spPr bwMode="auto">
          <a:xfrm>
            <a:off x="170268" y="1296094"/>
            <a:ext cx="11505673"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pt-BR" altLang="pt-BR" sz="2200" b="0" i="0" u="none" strike="noStrike" cap="none" normalizeH="0" baseline="0" dirty="0">
                <a:ln>
                  <a:noFill/>
                </a:ln>
                <a:solidFill>
                  <a:schemeClr val="tx1"/>
                </a:solidFill>
                <a:effectLst/>
                <a:latin typeface="Arial" panose="020B0604020202020204" pitchFamily="34" charset="0"/>
              </a:rPr>
              <a:t>Em progresso exemplo do ARIMA</a:t>
            </a:r>
          </a:p>
        </p:txBody>
      </p:sp>
      <p:pic>
        <p:nvPicPr>
          <p:cNvPr id="2050" name="Picture 2">
            <a:extLst>
              <a:ext uri="{FF2B5EF4-FFF2-40B4-BE49-F238E27FC236}">
                <a16:creationId xmlns:a16="http://schemas.microsoft.com/office/drawing/2014/main" id="{C9215245-6A8F-47B9-BA6B-D8A8E4087C2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63308" y="1726981"/>
            <a:ext cx="9695092" cy="509096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2771391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95">
          <a:extLst>
            <a:ext uri="{FF2B5EF4-FFF2-40B4-BE49-F238E27FC236}">
              <a16:creationId xmlns:a16="http://schemas.microsoft.com/office/drawing/2014/main" id="{CB30D101-1D53-E6B5-D240-DA46FCBBA2CB}"/>
            </a:ext>
          </a:extLst>
        </p:cNvPr>
        <p:cNvGrpSpPr/>
        <p:nvPr/>
      </p:nvGrpSpPr>
      <p:grpSpPr>
        <a:xfrm>
          <a:off x="0" y="0"/>
          <a:ext cx="0" cy="0"/>
          <a:chOff x="0" y="0"/>
          <a:chExt cx="0" cy="0"/>
        </a:xfrm>
      </p:grpSpPr>
      <p:sp>
        <p:nvSpPr>
          <p:cNvPr id="96" name="Google Shape;96;p2">
            <a:extLst>
              <a:ext uri="{FF2B5EF4-FFF2-40B4-BE49-F238E27FC236}">
                <a16:creationId xmlns:a16="http://schemas.microsoft.com/office/drawing/2014/main" id="{A25282EE-AF03-51FE-1729-6FD00A1B2E39}"/>
              </a:ext>
            </a:extLst>
          </p:cNvPr>
          <p:cNvSpPr txBox="1">
            <a:spLocks noGrp="1"/>
          </p:cNvSpPr>
          <p:nvPr>
            <p:ph type="title"/>
          </p:nvPr>
        </p:nvSpPr>
        <p:spPr>
          <a:xfrm>
            <a:off x="170268" y="190105"/>
            <a:ext cx="10329566" cy="768438"/>
          </a:xfrm>
          <a:prstGeom prst="rect">
            <a:avLst/>
          </a:prstGeom>
          <a:noFill/>
          <a:ln>
            <a:noFill/>
          </a:ln>
        </p:spPr>
        <p:txBody>
          <a:bodyPr spcFirstLastPara="1" wrap="square" lIns="91425" tIns="45700" rIns="91425" bIns="45700" anchor="ctr" anchorCtr="0">
            <a:noAutofit/>
          </a:bodyPr>
          <a:lstStyle/>
          <a:p>
            <a:pPr lvl="0">
              <a:buSzPts val="4400"/>
            </a:pPr>
            <a:r>
              <a:rPr lang="pt-BR" sz="2800" b="1" dirty="0">
                <a:latin typeface="+mj-lt"/>
              </a:rPr>
              <a:t>Referências</a:t>
            </a:r>
            <a:endParaRPr sz="2800" b="1" dirty="0">
              <a:latin typeface="+mj-lt"/>
            </a:endParaRPr>
          </a:p>
        </p:txBody>
      </p:sp>
      <p:pic>
        <p:nvPicPr>
          <p:cNvPr id="98" name="Google Shape;98;p2" descr="Universidade Federal da Fronteira Sul – Wikipédia, a enciclopédia livre">
            <a:extLst>
              <a:ext uri="{FF2B5EF4-FFF2-40B4-BE49-F238E27FC236}">
                <a16:creationId xmlns:a16="http://schemas.microsoft.com/office/drawing/2014/main" id="{C02E861D-F257-0BF6-5A7A-D92D10B16AB0}"/>
              </a:ext>
            </a:extLst>
          </p:cNvPr>
          <p:cNvPicPr preferRelativeResize="0"/>
          <p:nvPr/>
        </p:nvPicPr>
        <p:blipFill rotWithShape="1">
          <a:blip r:embed="rId3">
            <a:alphaModFix/>
          </a:blip>
          <a:srcRect/>
          <a:stretch/>
        </p:blipFill>
        <p:spPr>
          <a:xfrm>
            <a:off x="10978329" y="18255"/>
            <a:ext cx="975614" cy="1325563"/>
          </a:xfrm>
          <a:prstGeom prst="rect">
            <a:avLst/>
          </a:prstGeom>
          <a:noFill/>
          <a:ln>
            <a:noFill/>
          </a:ln>
        </p:spPr>
      </p:pic>
      <p:sp>
        <p:nvSpPr>
          <p:cNvPr id="99" name="Google Shape;99;p2">
            <a:extLst>
              <a:ext uri="{FF2B5EF4-FFF2-40B4-BE49-F238E27FC236}">
                <a16:creationId xmlns:a16="http://schemas.microsoft.com/office/drawing/2014/main" id="{13D04C47-3399-FA91-FB44-0AA2D0BE4CF2}"/>
              </a:ext>
            </a:extLst>
          </p:cNvPr>
          <p:cNvSpPr/>
          <p:nvPr/>
        </p:nvSpPr>
        <p:spPr>
          <a:xfrm>
            <a:off x="170268" y="958543"/>
            <a:ext cx="10515600" cy="63062"/>
          </a:xfrm>
          <a:prstGeom prst="rect">
            <a:avLst/>
          </a:prstGeom>
          <a:solidFill>
            <a:srgbClr val="548135"/>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00" name="Google Shape;100;p2">
            <a:extLst>
              <a:ext uri="{FF2B5EF4-FFF2-40B4-BE49-F238E27FC236}">
                <a16:creationId xmlns:a16="http://schemas.microsoft.com/office/drawing/2014/main" id="{545F56A1-E391-8B63-1D0B-91DEB2FE6F15}"/>
              </a:ext>
            </a:extLst>
          </p:cNvPr>
          <p:cNvSpPr txBox="1">
            <a:spLocks noGrp="1"/>
          </p:cNvSpPr>
          <p:nvPr>
            <p:ph type="sldNum" idx="12"/>
          </p:nvPr>
        </p:nvSpPr>
        <p:spPr>
          <a:xfrm>
            <a:off x="9440152" y="6492875"/>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pt-BR" sz="1800"/>
              <a:t>11</a:t>
            </a:fld>
            <a:endParaRPr sz="1800" dirty="0"/>
          </a:p>
        </p:txBody>
      </p:sp>
      <p:sp>
        <p:nvSpPr>
          <p:cNvPr id="3" name="Rectangle 1">
            <a:extLst>
              <a:ext uri="{FF2B5EF4-FFF2-40B4-BE49-F238E27FC236}">
                <a16:creationId xmlns:a16="http://schemas.microsoft.com/office/drawing/2014/main" id="{93B8C039-0558-B37E-1B5D-FF646675A5C1}"/>
              </a:ext>
            </a:extLst>
          </p:cNvPr>
          <p:cNvSpPr>
            <a:spLocks noChangeArrowheads="1"/>
          </p:cNvSpPr>
          <p:nvPr/>
        </p:nvSpPr>
        <p:spPr bwMode="auto">
          <a:xfrm>
            <a:off x="238057" y="1497252"/>
            <a:ext cx="11715886" cy="48320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tabLst/>
            </a:pPr>
            <a:r>
              <a:rPr lang="en-US" dirty="0"/>
              <a:t>BOX, G. E.; JENKINS. Time series analysis: forecasting and control. [S. l.]: Holden Day, </a:t>
            </a:r>
            <a:r>
              <a:rPr lang="en-US" dirty="0" err="1"/>
              <a:t>inc</a:t>
            </a:r>
            <a:r>
              <a:rPr lang="en-US" dirty="0"/>
              <a:t>, 1970.</a:t>
            </a:r>
          </a:p>
          <a:p>
            <a:pPr marL="0" marR="0" lvl="0" indent="0" algn="l" defTabSz="914400" rtl="0" eaLnBrk="0" fontAlgn="base" latinLnBrk="0" hangingPunct="0">
              <a:lnSpc>
                <a:spcPct val="100000"/>
              </a:lnSpc>
              <a:spcBef>
                <a:spcPct val="0"/>
              </a:spcBef>
              <a:spcAft>
                <a:spcPct val="0"/>
              </a:spcAft>
              <a:buClrTx/>
              <a:buSzTx/>
              <a:tabLst/>
            </a:pPr>
            <a:r>
              <a:rPr lang="pt-BR" dirty="0"/>
              <a:t>FIALHO, T. M. M.; CORDEIRO, L. M. C.; TIMOTIO, J. G. M.; REZENDE, L. P. F. de; BOITRAGO, P. R. P. Incerteza, consumo das famílias no brasil e spread bancário: uma análise com o vetor autorregressivo (var). Universidade Federal de Minas Gerais, 2024.</a:t>
            </a:r>
            <a:endParaRPr lang="en-US" dirty="0"/>
          </a:p>
          <a:p>
            <a:pPr marL="0" marR="0" lvl="0" indent="0" algn="l" defTabSz="914400" rtl="0" eaLnBrk="0" fontAlgn="base" latinLnBrk="0" hangingPunct="0">
              <a:lnSpc>
                <a:spcPct val="100000"/>
              </a:lnSpc>
              <a:spcBef>
                <a:spcPct val="0"/>
              </a:spcBef>
              <a:spcAft>
                <a:spcPct val="0"/>
              </a:spcAft>
              <a:buClrTx/>
              <a:buSzTx/>
              <a:tabLst/>
            </a:pPr>
            <a:r>
              <a:rPr lang="pt-BR" dirty="0"/>
              <a:t>FRISCH, R. </a:t>
            </a:r>
            <a:r>
              <a:rPr lang="pt-BR" dirty="0" err="1"/>
              <a:t>Statikk</a:t>
            </a:r>
            <a:r>
              <a:rPr lang="pt-BR" dirty="0"/>
              <a:t> </a:t>
            </a:r>
            <a:r>
              <a:rPr lang="pt-BR" dirty="0" err="1"/>
              <a:t>og</a:t>
            </a:r>
            <a:r>
              <a:rPr lang="pt-BR" dirty="0"/>
              <a:t> </a:t>
            </a:r>
            <a:r>
              <a:rPr lang="pt-BR" dirty="0" err="1"/>
              <a:t>dynamikk</a:t>
            </a:r>
            <a:r>
              <a:rPr lang="pt-BR" dirty="0"/>
              <a:t> i </a:t>
            </a:r>
            <a:r>
              <a:rPr lang="pt-BR" dirty="0" err="1"/>
              <a:t>den</a:t>
            </a:r>
            <a:r>
              <a:rPr lang="pt-BR" dirty="0"/>
              <a:t> </a:t>
            </a:r>
            <a:r>
              <a:rPr lang="pt-BR" dirty="0" err="1"/>
              <a:t>økonomiske</a:t>
            </a:r>
            <a:r>
              <a:rPr lang="pt-BR" dirty="0"/>
              <a:t> </a:t>
            </a:r>
            <a:r>
              <a:rPr lang="pt-BR" dirty="0" err="1"/>
              <a:t>teori</a:t>
            </a:r>
            <a:r>
              <a:rPr lang="pt-BR" dirty="0"/>
              <a:t>. 1). </a:t>
            </a:r>
            <a:r>
              <a:rPr lang="pt-BR" dirty="0" err="1"/>
              <a:t>Nationalokonomisk</a:t>
            </a:r>
            <a:r>
              <a:rPr lang="pt-BR" dirty="0"/>
              <a:t> </a:t>
            </a:r>
            <a:r>
              <a:rPr lang="pt-BR" dirty="0" err="1"/>
              <a:t>Tidsskrift</a:t>
            </a:r>
            <a:r>
              <a:rPr lang="pt-BR" dirty="0"/>
              <a:t>, v. 37, 1929. Disponível em: https://tidsskrift.dk/nationaloekonomisktidsskrift/article/download/ 57252/77814.</a:t>
            </a:r>
            <a:endParaRPr lang="en-US" dirty="0"/>
          </a:p>
          <a:p>
            <a:pPr marL="0" marR="0" lvl="0" indent="0" algn="l" defTabSz="914400" rtl="0" eaLnBrk="0" fontAlgn="base" latinLnBrk="0" hangingPunct="0">
              <a:lnSpc>
                <a:spcPct val="100000"/>
              </a:lnSpc>
              <a:spcBef>
                <a:spcPct val="0"/>
              </a:spcBef>
              <a:spcAft>
                <a:spcPct val="0"/>
              </a:spcAft>
              <a:buClrTx/>
              <a:buSzTx/>
              <a:tabLst/>
            </a:pPr>
            <a:r>
              <a:rPr lang="pt-BR" dirty="0"/>
              <a:t>GIL, A. C. Como Elaborar Projetos de Pesquisa. 4. ed. São Paulo: Editora Atlas, 2002.</a:t>
            </a:r>
            <a:endParaRPr lang="en-US" dirty="0"/>
          </a:p>
          <a:p>
            <a:pPr marL="0" marR="0" lvl="0" indent="0" algn="l" defTabSz="914400" rtl="0" eaLnBrk="0" fontAlgn="base" latinLnBrk="0" hangingPunct="0">
              <a:lnSpc>
                <a:spcPct val="100000"/>
              </a:lnSpc>
              <a:spcBef>
                <a:spcPct val="0"/>
              </a:spcBef>
              <a:spcAft>
                <a:spcPct val="0"/>
              </a:spcAft>
              <a:buClrTx/>
              <a:buSzTx/>
              <a:tabLst/>
            </a:pPr>
            <a:r>
              <a:rPr kumimoji="0" lang="en-US" altLang="pt-BR" b="0" i="0" u="none" strike="noStrike" cap="none" normalizeH="0" baseline="0" dirty="0">
                <a:ln>
                  <a:noFill/>
                </a:ln>
                <a:solidFill>
                  <a:schemeClr val="tx1"/>
                </a:solidFill>
                <a:effectLst/>
                <a:latin typeface="Arial" panose="020B0604020202020204" pitchFamily="34" charset="0"/>
              </a:rPr>
              <a:t>I</a:t>
            </a:r>
            <a:r>
              <a:rPr lang="pt-BR" dirty="0"/>
              <a:t>BGE, I. B. de Geografia e </a:t>
            </a:r>
            <a:r>
              <a:rPr lang="pt-BR" dirty="0" err="1"/>
              <a:t>E</a:t>
            </a:r>
            <a:r>
              <a:rPr lang="pt-BR" dirty="0"/>
              <a:t>. O que é o PIB? 2026. Acessado em: 11 abr. 2026. Disponível em: </a:t>
            </a:r>
            <a:r>
              <a:rPr lang="pt-BR" dirty="0">
                <a:hlinkClick r:id="rId4"/>
              </a:rPr>
              <a:t>https://www.ibge.gov.br/explica/</a:t>
            </a:r>
            <a:r>
              <a:rPr lang="pt-BR" dirty="0" err="1">
                <a:hlinkClick r:id="rId4"/>
              </a:rPr>
              <a:t>pib.php</a:t>
            </a:r>
            <a:r>
              <a:rPr lang="pt-BR" dirty="0"/>
              <a:t>.</a:t>
            </a:r>
            <a:endParaRPr lang="en-US" dirty="0"/>
          </a:p>
          <a:p>
            <a:pPr marL="0" marR="0" lvl="0" indent="0" algn="l" defTabSz="914400" rtl="0" eaLnBrk="0" fontAlgn="base" latinLnBrk="0" hangingPunct="0">
              <a:lnSpc>
                <a:spcPct val="100000"/>
              </a:lnSpc>
              <a:spcBef>
                <a:spcPct val="0"/>
              </a:spcBef>
              <a:spcAft>
                <a:spcPct val="0"/>
              </a:spcAft>
              <a:buClrTx/>
              <a:buSzTx/>
              <a:tabLst/>
            </a:pPr>
            <a:r>
              <a:rPr lang="en-US" dirty="0"/>
              <a:t>KAGERMANN,H.;WAHLSTER,W.;HELBIG, J. et al. Recommendations for implementing the strategic initiative </a:t>
            </a:r>
            <a:r>
              <a:rPr lang="en-US" dirty="0" err="1"/>
              <a:t>industrie</a:t>
            </a:r>
            <a:r>
              <a:rPr lang="en-US" dirty="0"/>
              <a:t> 4.0: Final report of the </a:t>
            </a:r>
            <a:r>
              <a:rPr lang="en-US" dirty="0" err="1"/>
              <a:t>industrie</a:t>
            </a:r>
            <a:r>
              <a:rPr lang="en-US" dirty="0"/>
              <a:t> 4.0 working group. </a:t>
            </a:r>
            <a:r>
              <a:rPr lang="en-US" dirty="0" err="1"/>
              <a:t>Forschungsunion</a:t>
            </a:r>
            <a:r>
              <a:rPr lang="en-US" dirty="0"/>
              <a:t>: Berlin, Germany, p. 12–25, 2013.</a:t>
            </a:r>
          </a:p>
          <a:p>
            <a:pPr marL="0" marR="0" lvl="0" indent="0" algn="l" defTabSz="914400" rtl="0" eaLnBrk="0" fontAlgn="base" latinLnBrk="0" hangingPunct="0">
              <a:lnSpc>
                <a:spcPct val="100000"/>
              </a:lnSpc>
              <a:spcBef>
                <a:spcPct val="0"/>
              </a:spcBef>
              <a:spcAft>
                <a:spcPct val="0"/>
              </a:spcAft>
              <a:buClrTx/>
              <a:buSzTx/>
              <a:tabLst/>
            </a:pPr>
            <a:r>
              <a:rPr lang="pt-BR" dirty="0"/>
              <a:t>KEYNES, J. M. A Teoria Geral do Emprego, do Juro e da Moeda. [S. l.]: Atlas, 1936.</a:t>
            </a:r>
            <a:endParaRPr lang="en-US" dirty="0"/>
          </a:p>
          <a:p>
            <a:pPr marL="0" marR="0" lvl="0" indent="0" algn="l" defTabSz="914400" rtl="0" eaLnBrk="0" fontAlgn="base" latinLnBrk="0" hangingPunct="0">
              <a:lnSpc>
                <a:spcPct val="100000"/>
              </a:lnSpc>
              <a:spcBef>
                <a:spcPct val="0"/>
              </a:spcBef>
              <a:spcAft>
                <a:spcPct val="0"/>
              </a:spcAft>
              <a:buClrTx/>
              <a:buSzTx/>
              <a:tabLst/>
            </a:pPr>
            <a:r>
              <a:rPr lang="en-US" dirty="0"/>
              <a:t>KOOP, G.; MCINTYRE, S.; MITCHELL, J.; RAFTAPOSTOLOS, A. Monthly </a:t>
            </a:r>
            <a:r>
              <a:rPr lang="en-US" dirty="0" err="1"/>
              <a:t>gdp</a:t>
            </a:r>
            <a:r>
              <a:rPr lang="en-US" dirty="0"/>
              <a:t> growth estimates for the </a:t>
            </a:r>
            <a:r>
              <a:rPr lang="en-US" dirty="0" err="1"/>
              <a:t>u.s.</a:t>
            </a:r>
            <a:r>
              <a:rPr lang="en-US" dirty="0"/>
              <a:t> states. 2025. </a:t>
            </a:r>
            <a:r>
              <a:rPr lang="en-US" dirty="0" err="1"/>
              <a:t>Disponível</a:t>
            </a:r>
            <a:r>
              <a:rPr lang="en-US" dirty="0"/>
              <a:t> </a:t>
            </a:r>
            <a:r>
              <a:rPr lang="en-US" dirty="0" err="1"/>
              <a:t>em</a:t>
            </a:r>
            <a:r>
              <a:rPr lang="en-US" dirty="0"/>
              <a:t>: </a:t>
            </a:r>
            <a:r>
              <a:rPr lang="en-US" dirty="0">
                <a:hlinkClick r:id="rId5"/>
              </a:rPr>
              <a:t>https://arxiv.org/abs/2501.04607</a:t>
            </a:r>
            <a:r>
              <a:rPr lang="en-US" dirty="0"/>
              <a:t>.</a:t>
            </a:r>
          </a:p>
          <a:p>
            <a:pPr marL="0" marR="0" lvl="0" indent="0" algn="l" defTabSz="914400" rtl="0" eaLnBrk="0" fontAlgn="base" latinLnBrk="0" hangingPunct="0">
              <a:lnSpc>
                <a:spcPct val="100000"/>
              </a:lnSpc>
              <a:spcBef>
                <a:spcPct val="0"/>
              </a:spcBef>
              <a:spcAft>
                <a:spcPct val="0"/>
              </a:spcAft>
              <a:buClrTx/>
              <a:buSzTx/>
              <a:tabLst/>
            </a:pPr>
            <a:r>
              <a:rPr lang="pt-BR" dirty="0"/>
              <a:t>LAKATOS, E. M.; MARCONI, M. de A. Fundamentos de metodologia científica. 5. ed. São Paulo: Editora Atlas, 2003. </a:t>
            </a:r>
          </a:p>
          <a:p>
            <a:pPr marL="0" marR="0" lvl="0" indent="0" algn="l" defTabSz="914400" rtl="0" eaLnBrk="0" fontAlgn="base" latinLnBrk="0" hangingPunct="0">
              <a:lnSpc>
                <a:spcPct val="100000"/>
              </a:lnSpc>
              <a:spcBef>
                <a:spcPct val="0"/>
              </a:spcBef>
              <a:spcAft>
                <a:spcPct val="0"/>
              </a:spcAft>
              <a:buClrTx/>
              <a:buSzTx/>
              <a:tabLst/>
            </a:pPr>
            <a:r>
              <a:rPr lang="pt-BR" dirty="0"/>
              <a:t>LAUDON, K.; LAUDON, J. Sistemas de Informação Gerenciais: Administrando a Empresa Digital. Bookman, 2022. ISBN 9788582606032. Disponível em: https: //books.google.com.br/</a:t>
            </a:r>
            <a:r>
              <a:rPr lang="pt-BR" dirty="0" err="1"/>
              <a:t>books?id</a:t>
            </a:r>
            <a:r>
              <a:rPr lang="pt-BR" dirty="0"/>
              <a:t>=</a:t>
            </a:r>
            <a:r>
              <a:rPr lang="pt-BR" dirty="0" err="1"/>
              <a:t>NIehEAAAQBAJ</a:t>
            </a:r>
            <a:r>
              <a:rPr lang="pt-BR" dirty="0"/>
              <a:t>. </a:t>
            </a:r>
          </a:p>
          <a:p>
            <a:pPr marL="0" marR="0" lvl="0" indent="0" algn="l" defTabSz="914400" rtl="0" eaLnBrk="0" fontAlgn="base" latinLnBrk="0" hangingPunct="0">
              <a:lnSpc>
                <a:spcPct val="100000"/>
              </a:lnSpc>
              <a:spcBef>
                <a:spcPct val="0"/>
              </a:spcBef>
              <a:spcAft>
                <a:spcPct val="0"/>
              </a:spcAft>
              <a:buClrTx/>
              <a:buSzTx/>
              <a:tabLst/>
            </a:pPr>
            <a:r>
              <a:rPr lang="pt-BR" dirty="0"/>
              <a:t>LI, K. </a:t>
            </a:r>
            <a:r>
              <a:rPr lang="pt-BR" dirty="0" err="1"/>
              <a:t>Forecasting</a:t>
            </a:r>
            <a:r>
              <a:rPr lang="pt-BR" dirty="0"/>
              <a:t> US GDP </a:t>
            </a:r>
            <a:r>
              <a:rPr lang="pt-BR" dirty="0" err="1"/>
              <a:t>from</a:t>
            </a:r>
            <a:r>
              <a:rPr lang="pt-BR" dirty="0"/>
              <a:t> 1960 </a:t>
            </a:r>
            <a:r>
              <a:rPr lang="pt-BR" dirty="0" err="1"/>
              <a:t>to</a:t>
            </a:r>
            <a:r>
              <a:rPr lang="pt-BR" dirty="0"/>
              <a:t> 2023 </a:t>
            </a:r>
            <a:r>
              <a:rPr lang="pt-BR" dirty="0" err="1"/>
              <a:t>using</a:t>
            </a:r>
            <a:r>
              <a:rPr lang="pt-BR" dirty="0"/>
              <a:t> PCA. 2024. Disponível em: http://dissertations.umi.com/ucla:23601. </a:t>
            </a:r>
          </a:p>
          <a:p>
            <a:pPr marL="0" marR="0" lvl="0" indent="0" algn="l" defTabSz="914400" rtl="0" eaLnBrk="0" fontAlgn="base" latinLnBrk="0" hangingPunct="0">
              <a:lnSpc>
                <a:spcPct val="100000"/>
              </a:lnSpc>
              <a:spcBef>
                <a:spcPct val="0"/>
              </a:spcBef>
              <a:spcAft>
                <a:spcPct val="0"/>
              </a:spcAft>
              <a:buClrTx/>
              <a:buSzTx/>
              <a:tabLst/>
            </a:pPr>
            <a:r>
              <a:rPr lang="pt-BR" dirty="0" err="1"/>
              <a:t>MANKIW,N.G.Introdução</a:t>
            </a:r>
            <a:r>
              <a:rPr lang="pt-BR" dirty="0"/>
              <a:t> à economia. [S. l.]: Bookman Editora, 2025</a:t>
            </a:r>
            <a:r>
              <a:rPr lang="en-US" dirty="0"/>
              <a:t>.</a:t>
            </a:r>
          </a:p>
          <a:p>
            <a:pPr marL="0" marR="0" lvl="0" indent="0" algn="l" defTabSz="914400" rtl="0" eaLnBrk="0" fontAlgn="base" latinLnBrk="0" hangingPunct="0">
              <a:lnSpc>
                <a:spcPct val="100000"/>
              </a:lnSpc>
              <a:spcBef>
                <a:spcPct val="0"/>
              </a:spcBef>
              <a:spcAft>
                <a:spcPct val="0"/>
              </a:spcAft>
              <a:buClrTx/>
              <a:buSzTx/>
              <a:tabLst/>
            </a:pPr>
            <a:r>
              <a:rPr lang="pt-BR" dirty="0"/>
              <a:t>OLIVEIRA, M. C.; JUNIOR, S. d. S. P. Gastos Públicos com Infraestrutura e Disparidades Regionais: Impactos no PIB per capita das Regiões Sul e Nordeste do Brasil. Natal, RN, 2024.</a:t>
            </a:r>
          </a:p>
          <a:p>
            <a:pPr marL="0" marR="0" lvl="0" indent="0" algn="l" defTabSz="914400" rtl="0" eaLnBrk="0" fontAlgn="base" latinLnBrk="0" hangingPunct="0">
              <a:lnSpc>
                <a:spcPct val="100000"/>
              </a:lnSpc>
              <a:spcBef>
                <a:spcPct val="0"/>
              </a:spcBef>
              <a:spcAft>
                <a:spcPct val="0"/>
              </a:spcAft>
              <a:buClrTx/>
              <a:buSzTx/>
              <a:tabLst/>
            </a:pPr>
            <a:r>
              <a:rPr lang="pt-BR" dirty="0"/>
              <a:t>REBELO, M. A. C. </a:t>
            </a:r>
            <a:r>
              <a:rPr lang="pt-BR" dirty="0" err="1"/>
              <a:t>Interpretabilidade</a:t>
            </a:r>
            <a:r>
              <a:rPr lang="pt-BR" dirty="0"/>
              <a:t> de modelos </a:t>
            </a:r>
            <a:r>
              <a:rPr lang="pt-BR" dirty="0" err="1"/>
              <a:t>Machine</a:t>
            </a:r>
            <a:r>
              <a:rPr lang="pt-BR" dirty="0"/>
              <a:t> Learning para a previsão macroeconómica. Dissertação (Mestrado)– Universidade de Lisboa (Portugal), 2022.</a:t>
            </a:r>
          </a:p>
          <a:p>
            <a:pPr marL="0" marR="0" lvl="0" indent="0" algn="l" defTabSz="914400" rtl="0" eaLnBrk="0" fontAlgn="base" latinLnBrk="0" hangingPunct="0">
              <a:lnSpc>
                <a:spcPct val="100000"/>
              </a:lnSpc>
              <a:spcBef>
                <a:spcPct val="0"/>
              </a:spcBef>
              <a:spcAft>
                <a:spcPct val="0"/>
              </a:spcAft>
              <a:buClrTx/>
              <a:buSzTx/>
              <a:tabLst/>
            </a:pPr>
            <a:endParaRPr kumimoji="0" lang="pt-BR" altLang="pt-BR"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583948199"/>
      </p:ext>
    </p:extLst>
  </p:cSld>
  <p:clrMapOvr>
    <a:masterClrMapping/>
  </p:clrMapOvr>
</p:sld>
</file>

<file path=ppt/theme/theme1.xml><?xml version="1.0" encoding="utf-8"?>
<a:theme xmlns:a="http://schemas.openxmlformats.org/drawingml/2006/main" name="Tema do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o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5094</TotalTime>
  <Words>1477</Words>
  <Application>Microsoft Office PowerPoint</Application>
  <PresentationFormat>Widescreen</PresentationFormat>
  <Paragraphs>74</Paragraphs>
  <Slides>11</Slides>
  <Notes>11</Notes>
  <HiddenSlides>0</HiddenSlides>
  <MMClips>0</MMClips>
  <ScaleCrop>false</ScaleCrop>
  <HeadingPairs>
    <vt:vector size="6" baseType="variant">
      <vt:variant>
        <vt:lpstr>Fontes usadas</vt:lpstr>
      </vt:variant>
      <vt:variant>
        <vt:i4>2</vt:i4>
      </vt:variant>
      <vt:variant>
        <vt:lpstr>Tema</vt:lpstr>
      </vt:variant>
      <vt:variant>
        <vt:i4>1</vt:i4>
      </vt:variant>
      <vt:variant>
        <vt:lpstr>Títulos de slides</vt:lpstr>
      </vt:variant>
      <vt:variant>
        <vt:i4>11</vt:i4>
      </vt:variant>
    </vt:vector>
  </HeadingPairs>
  <TitlesOfParts>
    <vt:vector size="14" baseType="lpstr">
      <vt:lpstr>Arial</vt:lpstr>
      <vt:lpstr>Calibri</vt:lpstr>
      <vt:lpstr>Tema do Office</vt:lpstr>
      <vt:lpstr>AS MÁQUINAS ECONÔMICAS:  PREDIÇÃO DO PIB BRASILEIRO UTILIZANDO INTELIGÊNCIA ARTIFICIAL</vt:lpstr>
      <vt:lpstr>Introdução</vt:lpstr>
      <vt:lpstr>Introdução</vt:lpstr>
      <vt:lpstr>Tema</vt:lpstr>
      <vt:lpstr>Problema de Pesquisa</vt:lpstr>
      <vt:lpstr>Objetivos</vt:lpstr>
      <vt:lpstr>Justificativa</vt:lpstr>
      <vt:lpstr>Revisão de literatura</vt:lpstr>
      <vt:lpstr>Metodologia</vt:lpstr>
      <vt:lpstr>Resultados</vt:lpstr>
      <vt:lpstr>Referências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MACROECONOMIA III</dc:title>
  <dc:creator>User</dc:creator>
  <cp:lastModifiedBy>Leonilso Wrublak</cp:lastModifiedBy>
  <cp:revision>25</cp:revision>
  <dcterms:created xsi:type="dcterms:W3CDTF">2024-11-26T00:22:11Z</dcterms:created>
  <dcterms:modified xsi:type="dcterms:W3CDTF">2026-05-04T20:15:26Z</dcterms:modified>
</cp:coreProperties>
</file>

<file path=[Content_Types].xml><?xml version="1.0" encoding="utf-8"?>
<Types xmlns="http://schemas.openxmlformats.org/package/2006/content-types">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48" r:id="rId1"/>
  </p:sldMasterIdLst>
  <p:notesMasterIdLst>
    <p:notesMasterId r:id="rId48"/>
  </p:notesMasterIdLst>
  <p:sldIdLst>
    <p:sldId id="256" r:id="rId2"/>
    <p:sldId id="257" r:id="rId3"/>
    <p:sldId id="281" r:id="rId4"/>
    <p:sldId id="282" r:id="rId5"/>
    <p:sldId id="258" r:id="rId6"/>
    <p:sldId id="259" r:id="rId7"/>
    <p:sldId id="260" r:id="rId8"/>
    <p:sldId id="280" r:id="rId9"/>
    <p:sldId id="283" r:id="rId10"/>
    <p:sldId id="284" r:id="rId11"/>
    <p:sldId id="285" r:id="rId12"/>
    <p:sldId id="286" r:id="rId13"/>
    <p:sldId id="287" r:id="rId14"/>
    <p:sldId id="288" r:id="rId15"/>
    <p:sldId id="289" r:id="rId16"/>
    <p:sldId id="290" r:id="rId17"/>
    <p:sldId id="291" r:id="rId18"/>
    <p:sldId id="261" r:id="rId19"/>
    <p:sldId id="302" r:id="rId20"/>
    <p:sldId id="303" r:id="rId21"/>
    <p:sldId id="262" r:id="rId22"/>
    <p:sldId id="304" r:id="rId23"/>
    <p:sldId id="296" r:id="rId24"/>
    <p:sldId id="305" r:id="rId25"/>
    <p:sldId id="313" r:id="rId26"/>
    <p:sldId id="306" r:id="rId27"/>
    <p:sldId id="297" r:id="rId28"/>
    <p:sldId id="308" r:id="rId29"/>
    <p:sldId id="307" r:id="rId30"/>
    <p:sldId id="298" r:id="rId31"/>
    <p:sldId id="310" r:id="rId32"/>
    <p:sldId id="309" r:id="rId33"/>
    <p:sldId id="314" r:id="rId34"/>
    <p:sldId id="315" r:id="rId35"/>
    <p:sldId id="299" r:id="rId36"/>
    <p:sldId id="317" r:id="rId37"/>
    <p:sldId id="316" r:id="rId38"/>
    <p:sldId id="319" r:id="rId39"/>
    <p:sldId id="318" r:id="rId40"/>
    <p:sldId id="312" r:id="rId41"/>
    <p:sldId id="311" r:id="rId42"/>
    <p:sldId id="301" r:id="rId43"/>
    <p:sldId id="292" r:id="rId44"/>
    <p:sldId id="293" r:id="rId45"/>
    <p:sldId id="294" r:id="rId46"/>
    <p:sldId id="295" r:id="rId47"/>
  </p:sldIdLst>
  <p:sldSz cx="12192000" cy="6858000"/>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 uri="GoogleSlidesCustomDataVersion2">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49" roundtripDataSignature="AMtx7mjMnhkxMwBxEZm/FGvuU7QH/chp5A=="/>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105" d="100"/>
          <a:sy n="105" d="100"/>
        </p:scale>
        <p:origin x="798" y="7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presProps" Target="pres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tableStyles" Target="tableStyles.xml"/><Relationship Id="rId5" Type="http://schemas.openxmlformats.org/officeDocument/2006/relationships/slide" Target="slides/slide4.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notesMaster" Target="notesMasters/notesMaster1.xml"/><Relationship Id="rId8" Type="http://schemas.openxmlformats.org/officeDocument/2006/relationships/slide" Target="slides/slide7.xml"/><Relationship Id="rId51" Type="http://schemas.openxmlformats.org/officeDocument/2006/relationships/viewProps" Target="viewProp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0" Type="http://schemas.openxmlformats.org/officeDocument/2006/relationships/slide" Target="slides/slide19.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customschemas.google.com/relationships/presentationmetadata" Target="meta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L="914400" marR="0" lvl="1"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2pPr>
            <a:lvl3pPr marL="1371600" marR="0" lvl="2"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3pPr>
            <a:lvl4pPr marL="1828800" marR="0" lvl="3"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4pPr>
            <a:lvl5pPr marL="2286000" marR="0" lvl="4"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5pPr>
            <a:lvl6pPr marL="2743200" marR="0" lvl="5"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6pPr>
            <a:lvl7pPr marL="3200400" marR="0" lvl="6"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7pPr>
            <a:lvl8pPr marL="3657600" marR="0" lvl="7"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8pPr>
            <a:lvl9pPr marL="4114800" marR="0" lvl="8"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spcBef>
                <a:spcPts val="0"/>
              </a:spcBef>
              <a:spcAft>
                <a:spcPts val="0"/>
              </a:spcAft>
              <a:buNone/>
            </a:pPr>
            <a:fld id="{00000000-1234-1234-1234-123412341234}" type="slidenum">
              <a:rPr lang="pt-BR" sz="1200" b="0" i="0" u="none" strike="noStrike" cap="none">
                <a:solidFill>
                  <a:schemeClr val="dk1"/>
                </a:solidFill>
                <a:latin typeface="Calibri"/>
                <a:ea typeface="Calibri"/>
                <a:cs typeface="Calibri"/>
                <a:sym typeface="Calibri"/>
              </a:rPr>
              <a:t>‹nº›</a:t>
            </a:fld>
            <a:endParaRPr sz="12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4"/>
        <p:cNvGrpSpPr/>
        <p:nvPr/>
      </p:nvGrpSpPr>
      <p:grpSpPr>
        <a:xfrm>
          <a:off x="0" y="0"/>
          <a:ext cx="0" cy="0"/>
          <a:chOff x="0" y="0"/>
          <a:chExt cx="0" cy="0"/>
        </a:xfrm>
      </p:grpSpPr>
      <p:sp>
        <p:nvSpPr>
          <p:cNvPr id="85" name="Google Shape;85;p1: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86" name="Google Shape;86;p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2"/>
        <p:cNvGrpSpPr/>
        <p:nvPr/>
      </p:nvGrpSpPr>
      <p:grpSpPr>
        <a:xfrm>
          <a:off x="0" y="0"/>
          <a:ext cx="0" cy="0"/>
          <a:chOff x="0" y="0"/>
          <a:chExt cx="0" cy="0"/>
        </a:xfrm>
      </p:grpSpPr>
      <p:sp>
        <p:nvSpPr>
          <p:cNvPr id="93" name="Google Shape;93;p2: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94" name="Google Shape;94;p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2"/>
        <p:cNvGrpSpPr/>
        <p:nvPr/>
      </p:nvGrpSpPr>
      <p:grpSpPr>
        <a:xfrm>
          <a:off x="0" y="0"/>
          <a:ext cx="0" cy="0"/>
          <a:chOff x="0" y="0"/>
          <a:chExt cx="0" cy="0"/>
        </a:xfrm>
      </p:grpSpPr>
      <p:sp>
        <p:nvSpPr>
          <p:cNvPr id="93" name="Google Shape;93;p2: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r>
              <a:rPr lang="pt-BR" dirty="0"/>
              <a:t>A imagem foi gerada usando a IA </a:t>
            </a:r>
            <a:r>
              <a:rPr lang="pt-BR" dirty="0" err="1"/>
              <a:t>ChatGPT</a:t>
            </a:r>
            <a:r>
              <a:rPr lang="pt-BR" dirty="0"/>
              <a:t> com o prompt: “gere uma imagem com setas passando pelos seguintes itens, pode adaptar para que fiquem visualmente encaixados economia -&gt; escassez -&gt; como alocar recursos -&gt; estimar o futuro -&gt; incerteza -&gt; para combater precisa-se de dados -&gt; geram informação -&gt; que são base para a tomada de decisões”</a:t>
            </a:r>
            <a:endParaRPr dirty="0"/>
          </a:p>
        </p:txBody>
      </p:sp>
      <p:sp>
        <p:nvSpPr>
          <p:cNvPr id="94" name="Google Shape;94;p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3538651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2"/>
        <p:cNvGrpSpPr/>
        <p:nvPr/>
      </p:nvGrpSpPr>
      <p:grpSpPr>
        <a:xfrm>
          <a:off x="0" y="0"/>
          <a:ext cx="0" cy="0"/>
          <a:chOff x="0" y="0"/>
          <a:chExt cx="0" cy="0"/>
        </a:xfrm>
      </p:grpSpPr>
      <p:sp>
        <p:nvSpPr>
          <p:cNvPr id="93" name="Google Shape;93;p2: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94" name="Google Shape;94;p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24413503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2">
          <a:extLst>
            <a:ext uri="{FF2B5EF4-FFF2-40B4-BE49-F238E27FC236}">
              <a16:creationId xmlns:a16="http://schemas.microsoft.com/office/drawing/2014/main" id="{F705D598-0F63-2A54-D65E-D1B8319931DE}"/>
            </a:ext>
          </a:extLst>
        </p:cNvPr>
        <p:cNvGrpSpPr/>
        <p:nvPr/>
      </p:nvGrpSpPr>
      <p:grpSpPr>
        <a:xfrm>
          <a:off x="0" y="0"/>
          <a:ext cx="0" cy="0"/>
          <a:chOff x="0" y="0"/>
          <a:chExt cx="0" cy="0"/>
        </a:xfrm>
      </p:grpSpPr>
      <p:sp>
        <p:nvSpPr>
          <p:cNvPr id="93" name="Google Shape;93;p2:notes">
            <a:extLst>
              <a:ext uri="{FF2B5EF4-FFF2-40B4-BE49-F238E27FC236}">
                <a16:creationId xmlns:a16="http://schemas.microsoft.com/office/drawing/2014/main" id="{A3667E6F-0597-ABD7-4390-5386E1AE6AD2}"/>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94" name="Google Shape;94;p2:notes">
            <a:extLst>
              <a:ext uri="{FF2B5EF4-FFF2-40B4-BE49-F238E27FC236}">
                <a16:creationId xmlns:a16="http://schemas.microsoft.com/office/drawing/2014/main" id="{6F781B63-0167-5DCB-5C80-A335CCB74F96}"/>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81951598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2">
          <a:extLst>
            <a:ext uri="{FF2B5EF4-FFF2-40B4-BE49-F238E27FC236}">
              <a16:creationId xmlns:a16="http://schemas.microsoft.com/office/drawing/2014/main" id="{EDB110AE-C86F-A102-5A47-2D3D2FEA2565}"/>
            </a:ext>
          </a:extLst>
        </p:cNvPr>
        <p:cNvGrpSpPr/>
        <p:nvPr/>
      </p:nvGrpSpPr>
      <p:grpSpPr>
        <a:xfrm>
          <a:off x="0" y="0"/>
          <a:ext cx="0" cy="0"/>
          <a:chOff x="0" y="0"/>
          <a:chExt cx="0" cy="0"/>
        </a:xfrm>
      </p:grpSpPr>
      <p:sp>
        <p:nvSpPr>
          <p:cNvPr id="93" name="Google Shape;93;p2:notes">
            <a:extLst>
              <a:ext uri="{FF2B5EF4-FFF2-40B4-BE49-F238E27FC236}">
                <a16:creationId xmlns:a16="http://schemas.microsoft.com/office/drawing/2014/main" id="{C470488B-8C8E-55D2-A1B9-F34D8760BA45}"/>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94" name="Google Shape;94;p2:notes">
            <a:extLst>
              <a:ext uri="{FF2B5EF4-FFF2-40B4-BE49-F238E27FC236}">
                <a16:creationId xmlns:a16="http://schemas.microsoft.com/office/drawing/2014/main" id="{C0C8A059-14B3-0E38-3557-BD45C841ECE3}"/>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55333130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2">
          <a:extLst>
            <a:ext uri="{FF2B5EF4-FFF2-40B4-BE49-F238E27FC236}">
              <a16:creationId xmlns:a16="http://schemas.microsoft.com/office/drawing/2014/main" id="{B76675B6-9CA5-2880-A46F-E5B153E3A2A8}"/>
            </a:ext>
          </a:extLst>
        </p:cNvPr>
        <p:cNvGrpSpPr/>
        <p:nvPr/>
      </p:nvGrpSpPr>
      <p:grpSpPr>
        <a:xfrm>
          <a:off x="0" y="0"/>
          <a:ext cx="0" cy="0"/>
          <a:chOff x="0" y="0"/>
          <a:chExt cx="0" cy="0"/>
        </a:xfrm>
      </p:grpSpPr>
      <p:sp>
        <p:nvSpPr>
          <p:cNvPr id="93" name="Google Shape;93;p2:notes">
            <a:extLst>
              <a:ext uri="{FF2B5EF4-FFF2-40B4-BE49-F238E27FC236}">
                <a16:creationId xmlns:a16="http://schemas.microsoft.com/office/drawing/2014/main" id="{8C054B05-07A3-9037-530C-B39204CD7174}"/>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94" name="Google Shape;94;p2:notes">
            <a:extLst>
              <a:ext uri="{FF2B5EF4-FFF2-40B4-BE49-F238E27FC236}">
                <a16:creationId xmlns:a16="http://schemas.microsoft.com/office/drawing/2014/main" id="{C7169559-1112-48F7-E8C0-A196F4563AAA}"/>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922496139"/>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2">
          <a:extLst>
            <a:ext uri="{FF2B5EF4-FFF2-40B4-BE49-F238E27FC236}">
              <a16:creationId xmlns:a16="http://schemas.microsoft.com/office/drawing/2014/main" id="{3528375B-B43B-6991-262D-74B1CFA9F94B}"/>
            </a:ext>
          </a:extLst>
        </p:cNvPr>
        <p:cNvGrpSpPr/>
        <p:nvPr/>
      </p:nvGrpSpPr>
      <p:grpSpPr>
        <a:xfrm>
          <a:off x="0" y="0"/>
          <a:ext cx="0" cy="0"/>
          <a:chOff x="0" y="0"/>
          <a:chExt cx="0" cy="0"/>
        </a:xfrm>
      </p:grpSpPr>
      <p:sp>
        <p:nvSpPr>
          <p:cNvPr id="93" name="Google Shape;93;p2:notes">
            <a:extLst>
              <a:ext uri="{FF2B5EF4-FFF2-40B4-BE49-F238E27FC236}">
                <a16:creationId xmlns:a16="http://schemas.microsoft.com/office/drawing/2014/main" id="{25446B83-42B1-EB10-5E4E-853B93CFB87F}"/>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94" name="Google Shape;94;p2:notes">
            <a:extLst>
              <a:ext uri="{FF2B5EF4-FFF2-40B4-BE49-F238E27FC236}">
                <a16:creationId xmlns:a16="http://schemas.microsoft.com/office/drawing/2014/main" id="{880B9A52-9BFA-39EC-C034-442943697556}"/>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47783972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2">
          <a:extLst>
            <a:ext uri="{FF2B5EF4-FFF2-40B4-BE49-F238E27FC236}">
              <a16:creationId xmlns:a16="http://schemas.microsoft.com/office/drawing/2014/main" id="{41DF199C-A62B-3ACE-4582-B2898ACD379C}"/>
            </a:ext>
          </a:extLst>
        </p:cNvPr>
        <p:cNvGrpSpPr/>
        <p:nvPr/>
      </p:nvGrpSpPr>
      <p:grpSpPr>
        <a:xfrm>
          <a:off x="0" y="0"/>
          <a:ext cx="0" cy="0"/>
          <a:chOff x="0" y="0"/>
          <a:chExt cx="0" cy="0"/>
        </a:xfrm>
      </p:grpSpPr>
      <p:sp>
        <p:nvSpPr>
          <p:cNvPr id="93" name="Google Shape;93;p2:notes">
            <a:extLst>
              <a:ext uri="{FF2B5EF4-FFF2-40B4-BE49-F238E27FC236}">
                <a16:creationId xmlns:a16="http://schemas.microsoft.com/office/drawing/2014/main" id="{68F9C28F-B082-5F05-7158-310D711B88CA}"/>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94" name="Google Shape;94;p2:notes">
            <a:extLst>
              <a:ext uri="{FF2B5EF4-FFF2-40B4-BE49-F238E27FC236}">
                <a16:creationId xmlns:a16="http://schemas.microsoft.com/office/drawing/2014/main" id="{D7EBE74C-4528-E933-9960-2B8B76FB75C8}"/>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761360145"/>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2">
          <a:extLst>
            <a:ext uri="{FF2B5EF4-FFF2-40B4-BE49-F238E27FC236}">
              <a16:creationId xmlns:a16="http://schemas.microsoft.com/office/drawing/2014/main" id="{2204791B-951B-1680-89A2-E405BF319B81}"/>
            </a:ext>
          </a:extLst>
        </p:cNvPr>
        <p:cNvGrpSpPr/>
        <p:nvPr/>
      </p:nvGrpSpPr>
      <p:grpSpPr>
        <a:xfrm>
          <a:off x="0" y="0"/>
          <a:ext cx="0" cy="0"/>
          <a:chOff x="0" y="0"/>
          <a:chExt cx="0" cy="0"/>
        </a:xfrm>
      </p:grpSpPr>
      <p:sp>
        <p:nvSpPr>
          <p:cNvPr id="93" name="Google Shape;93;p2:notes">
            <a:extLst>
              <a:ext uri="{FF2B5EF4-FFF2-40B4-BE49-F238E27FC236}">
                <a16:creationId xmlns:a16="http://schemas.microsoft.com/office/drawing/2014/main" id="{84E09A8F-D9BF-877F-22AA-67B6C87434DE}"/>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94" name="Google Shape;94;p2:notes">
            <a:extLst>
              <a:ext uri="{FF2B5EF4-FFF2-40B4-BE49-F238E27FC236}">
                <a16:creationId xmlns:a16="http://schemas.microsoft.com/office/drawing/2014/main" id="{F2F3CF92-F772-B2F8-A759-E912D7E684FC}"/>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083478548"/>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2">
          <a:extLst>
            <a:ext uri="{FF2B5EF4-FFF2-40B4-BE49-F238E27FC236}">
              <a16:creationId xmlns:a16="http://schemas.microsoft.com/office/drawing/2014/main" id="{0E764D8A-3014-194C-E2D4-407F4B0D412F}"/>
            </a:ext>
          </a:extLst>
        </p:cNvPr>
        <p:cNvGrpSpPr/>
        <p:nvPr/>
      </p:nvGrpSpPr>
      <p:grpSpPr>
        <a:xfrm>
          <a:off x="0" y="0"/>
          <a:ext cx="0" cy="0"/>
          <a:chOff x="0" y="0"/>
          <a:chExt cx="0" cy="0"/>
        </a:xfrm>
      </p:grpSpPr>
      <p:sp>
        <p:nvSpPr>
          <p:cNvPr id="93" name="Google Shape;93;p2:notes">
            <a:extLst>
              <a:ext uri="{FF2B5EF4-FFF2-40B4-BE49-F238E27FC236}">
                <a16:creationId xmlns:a16="http://schemas.microsoft.com/office/drawing/2014/main" id="{D3AD6170-1AFE-F71B-9702-AFF694A53468}"/>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94" name="Google Shape;94;p2:notes">
            <a:extLst>
              <a:ext uri="{FF2B5EF4-FFF2-40B4-BE49-F238E27FC236}">
                <a16:creationId xmlns:a16="http://schemas.microsoft.com/office/drawing/2014/main" id="{13B6ECC3-8787-7086-BC99-4EB8591A6455}"/>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207879569"/>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2">
          <a:extLst>
            <a:ext uri="{FF2B5EF4-FFF2-40B4-BE49-F238E27FC236}">
              <a16:creationId xmlns:a16="http://schemas.microsoft.com/office/drawing/2014/main" id="{9AEA10CE-7009-6D2C-6BAE-D9C58BEC7854}"/>
            </a:ext>
          </a:extLst>
        </p:cNvPr>
        <p:cNvGrpSpPr/>
        <p:nvPr/>
      </p:nvGrpSpPr>
      <p:grpSpPr>
        <a:xfrm>
          <a:off x="0" y="0"/>
          <a:ext cx="0" cy="0"/>
          <a:chOff x="0" y="0"/>
          <a:chExt cx="0" cy="0"/>
        </a:xfrm>
      </p:grpSpPr>
      <p:sp>
        <p:nvSpPr>
          <p:cNvPr id="93" name="Google Shape;93;p2:notes">
            <a:extLst>
              <a:ext uri="{FF2B5EF4-FFF2-40B4-BE49-F238E27FC236}">
                <a16:creationId xmlns:a16="http://schemas.microsoft.com/office/drawing/2014/main" id="{B141E349-AE3F-5A7D-ACCB-1C7D401DE7A0}"/>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94" name="Google Shape;94;p2:notes">
            <a:extLst>
              <a:ext uri="{FF2B5EF4-FFF2-40B4-BE49-F238E27FC236}">
                <a16:creationId xmlns:a16="http://schemas.microsoft.com/office/drawing/2014/main" id="{BB0598D3-A80A-4AF4-A1C8-C43DC730A3D7}"/>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191125766"/>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2">
          <a:extLst>
            <a:ext uri="{FF2B5EF4-FFF2-40B4-BE49-F238E27FC236}">
              <a16:creationId xmlns:a16="http://schemas.microsoft.com/office/drawing/2014/main" id="{8F342EA3-F275-D41B-CBB8-4C3F16A1D916}"/>
            </a:ext>
          </a:extLst>
        </p:cNvPr>
        <p:cNvGrpSpPr/>
        <p:nvPr/>
      </p:nvGrpSpPr>
      <p:grpSpPr>
        <a:xfrm>
          <a:off x="0" y="0"/>
          <a:ext cx="0" cy="0"/>
          <a:chOff x="0" y="0"/>
          <a:chExt cx="0" cy="0"/>
        </a:xfrm>
      </p:grpSpPr>
      <p:sp>
        <p:nvSpPr>
          <p:cNvPr id="93" name="Google Shape;93;p2:notes">
            <a:extLst>
              <a:ext uri="{FF2B5EF4-FFF2-40B4-BE49-F238E27FC236}">
                <a16:creationId xmlns:a16="http://schemas.microsoft.com/office/drawing/2014/main" id="{729DB088-0832-3CD0-AF31-02D38F7EEE0C}"/>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94" name="Google Shape;94;p2:notes">
            <a:extLst>
              <a:ext uri="{FF2B5EF4-FFF2-40B4-BE49-F238E27FC236}">
                <a16:creationId xmlns:a16="http://schemas.microsoft.com/office/drawing/2014/main" id="{13F72BC7-1DF7-8224-1871-65DF0DBD664F}"/>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57031582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2">
          <a:extLst>
            <a:ext uri="{FF2B5EF4-FFF2-40B4-BE49-F238E27FC236}">
              <a16:creationId xmlns:a16="http://schemas.microsoft.com/office/drawing/2014/main" id="{263BE423-D064-CD1C-DAB7-EBF93709F447}"/>
            </a:ext>
          </a:extLst>
        </p:cNvPr>
        <p:cNvGrpSpPr/>
        <p:nvPr/>
      </p:nvGrpSpPr>
      <p:grpSpPr>
        <a:xfrm>
          <a:off x="0" y="0"/>
          <a:ext cx="0" cy="0"/>
          <a:chOff x="0" y="0"/>
          <a:chExt cx="0" cy="0"/>
        </a:xfrm>
      </p:grpSpPr>
      <p:sp>
        <p:nvSpPr>
          <p:cNvPr id="93" name="Google Shape;93;p2:notes">
            <a:extLst>
              <a:ext uri="{FF2B5EF4-FFF2-40B4-BE49-F238E27FC236}">
                <a16:creationId xmlns:a16="http://schemas.microsoft.com/office/drawing/2014/main" id="{805EEFDB-D426-FF54-A2E7-71490FB9EB00}"/>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94" name="Google Shape;94;p2:notes">
            <a:extLst>
              <a:ext uri="{FF2B5EF4-FFF2-40B4-BE49-F238E27FC236}">
                <a16:creationId xmlns:a16="http://schemas.microsoft.com/office/drawing/2014/main" id="{D2E69F62-B42C-0222-C0B8-4445DEED17E8}"/>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349966736"/>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2">
          <a:extLst>
            <a:ext uri="{FF2B5EF4-FFF2-40B4-BE49-F238E27FC236}">
              <a16:creationId xmlns:a16="http://schemas.microsoft.com/office/drawing/2014/main" id="{116DBED6-E304-588E-D017-85C02DF18378}"/>
            </a:ext>
          </a:extLst>
        </p:cNvPr>
        <p:cNvGrpSpPr/>
        <p:nvPr/>
      </p:nvGrpSpPr>
      <p:grpSpPr>
        <a:xfrm>
          <a:off x="0" y="0"/>
          <a:ext cx="0" cy="0"/>
          <a:chOff x="0" y="0"/>
          <a:chExt cx="0" cy="0"/>
        </a:xfrm>
      </p:grpSpPr>
      <p:sp>
        <p:nvSpPr>
          <p:cNvPr id="93" name="Google Shape;93;p2:notes">
            <a:extLst>
              <a:ext uri="{FF2B5EF4-FFF2-40B4-BE49-F238E27FC236}">
                <a16:creationId xmlns:a16="http://schemas.microsoft.com/office/drawing/2014/main" id="{F981EFF7-D8EC-8A3E-B1BE-C368FD477BCE}"/>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94" name="Google Shape;94;p2:notes">
            <a:extLst>
              <a:ext uri="{FF2B5EF4-FFF2-40B4-BE49-F238E27FC236}">
                <a16:creationId xmlns:a16="http://schemas.microsoft.com/office/drawing/2014/main" id="{75A93120-D114-6D70-9D4E-0EF7B2920C7F}"/>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559346822"/>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2">
          <a:extLst>
            <a:ext uri="{FF2B5EF4-FFF2-40B4-BE49-F238E27FC236}">
              <a16:creationId xmlns:a16="http://schemas.microsoft.com/office/drawing/2014/main" id="{0D1A983F-BF74-3E82-0905-5070D1C3FCE3}"/>
            </a:ext>
          </a:extLst>
        </p:cNvPr>
        <p:cNvGrpSpPr/>
        <p:nvPr/>
      </p:nvGrpSpPr>
      <p:grpSpPr>
        <a:xfrm>
          <a:off x="0" y="0"/>
          <a:ext cx="0" cy="0"/>
          <a:chOff x="0" y="0"/>
          <a:chExt cx="0" cy="0"/>
        </a:xfrm>
      </p:grpSpPr>
      <p:sp>
        <p:nvSpPr>
          <p:cNvPr id="93" name="Google Shape;93;p2:notes">
            <a:extLst>
              <a:ext uri="{FF2B5EF4-FFF2-40B4-BE49-F238E27FC236}">
                <a16:creationId xmlns:a16="http://schemas.microsoft.com/office/drawing/2014/main" id="{472A4107-5D6C-2B47-44EA-29361EB7F829}"/>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94" name="Google Shape;94;p2:notes">
            <a:extLst>
              <a:ext uri="{FF2B5EF4-FFF2-40B4-BE49-F238E27FC236}">
                <a16:creationId xmlns:a16="http://schemas.microsoft.com/office/drawing/2014/main" id="{34BD9152-608C-0E52-65DA-DC024E8BD0B6}"/>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869649643"/>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2">
          <a:extLst>
            <a:ext uri="{FF2B5EF4-FFF2-40B4-BE49-F238E27FC236}">
              <a16:creationId xmlns:a16="http://schemas.microsoft.com/office/drawing/2014/main" id="{6C7120A6-AED2-0D21-A180-D46FC1856396}"/>
            </a:ext>
          </a:extLst>
        </p:cNvPr>
        <p:cNvGrpSpPr/>
        <p:nvPr/>
      </p:nvGrpSpPr>
      <p:grpSpPr>
        <a:xfrm>
          <a:off x="0" y="0"/>
          <a:ext cx="0" cy="0"/>
          <a:chOff x="0" y="0"/>
          <a:chExt cx="0" cy="0"/>
        </a:xfrm>
      </p:grpSpPr>
      <p:sp>
        <p:nvSpPr>
          <p:cNvPr id="93" name="Google Shape;93;p2:notes">
            <a:extLst>
              <a:ext uri="{FF2B5EF4-FFF2-40B4-BE49-F238E27FC236}">
                <a16:creationId xmlns:a16="http://schemas.microsoft.com/office/drawing/2014/main" id="{35268674-40D0-7860-5279-3F055052E2CC}"/>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94" name="Google Shape;94;p2:notes">
            <a:extLst>
              <a:ext uri="{FF2B5EF4-FFF2-40B4-BE49-F238E27FC236}">
                <a16:creationId xmlns:a16="http://schemas.microsoft.com/office/drawing/2014/main" id="{89048D9B-8C46-3CF0-A2C1-027E33B37A71}"/>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793664703"/>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2">
          <a:extLst>
            <a:ext uri="{FF2B5EF4-FFF2-40B4-BE49-F238E27FC236}">
              <a16:creationId xmlns:a16="http://schemas.microsoft.com/office/drawing/2014/main" id="{C777774B-D0CD-DC9D-EF74-B04AF4976A1E}"/>
            </a:ext>
          </a:extLst>
        </p:cNvPr>
        <p:cNvGrpSpPr/>
        <p:nvPr/>
      </p:nvGrpSpPr>
      <p:grpSpPr>
        <a:xfrm>
          <a:off x="0" y="0"/>
          <a:ext cx="0" cy="0"/>
          <a:chOff x="0" y="0"/>
          <a:chExt cx="0" cy="0"/>
        </a:xfrm>
      </p:grpSpPr>
      <p:sp>
        <p:nvSpPr>
          <p:cNvPr id="93" name="Google Shape;93;p2:notes">
            <a:extLst>
              <a:ext uri="{FF2B5EF4-FFF2-40B4-BE49-F238E27FC236}">
                <a16:creationId xmlns:a16="http://schemas.microsoft.com/office/drawing/2014/main" id="{0EF2A94E-9220-1403-8174-584611B5F760}"/>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94" name="Google Shape;94;p2:notes">
            <a:extLst>
              <a:ext uri="{FF2B5EF4-FFF2-40B4-BE49-F238E27FC236}">
                <a16:creationId xmlns:a16="http://schemas.microsoft.com/office/drawing/2014/main" id="{C61DD690-9033-1340-FA4B-3FB47329305B}"/>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636424047"/>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2">
          <a:extLst>
            <a:ext uri="{FF2B5EF4-FFF2-40B4-BE49-F238E27FC236}">
              <a16:creationId xmlns:a16="http://schemas.microsoft.com/office/drawing/2014/main" id="{60194AD3-17EF-7C01-D331-4D219E0BF98F}"/>
            </a:ext>
          </a:extLst>
        </p:cNvPr>
        <p:cNvGrpSpPr/>
        <p:nvPr/>
      </p:nvGrpSpPr>
      <p:grpSpPr>
        <a:xfrm>
          <a:off x="0" y="0"/>
          <a:ext cx="0" cy="0"/>
          <a:chOff x="0" y="0"/>
          <a:chExt cx="0" cy="0"/>
        </a:xfrm>
      </p:grpSpPr>
      <p:sp>
        <p:nvSpPr>
          <p:cNvPr id="93" name="Google Shape;93;p2:notes">
            <a:extLst>
              <a:ext uri="{FF2B5EF4-FFF2-40B4-BE49-F238E27FC236}">
                <a16:creationId xmlns:a16="http://schemas.microsoft.com/office/drawing/2014/main" id="{DA16483F-4693-935E-468E-60E1D05BA430}"/>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94" name="Google Shape;94;p2:notes">
            <a:extLst>
              <a:ext uri="{FF2B5EF4-FFF2-40B4-BE49-F238E27FC236}">
                <a16:creationId xmlns:a16="http://schemas.microsoft.com/office/drawing/2014/main" id="{91202619-D687-425A-9D4F-3F282D6A0837}"/>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050216776"/>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2">
          <a:extLst>
            <a:ext uri="{FF2B5EF4-FFF2-40B4-BE49-F238E27FC236}">
              <a16:creationId xmlns:a16="http://schemas.microsoft.com/office/drawing/2014/main" id="{8A3BC9D1-5428-0FDA-280C-87781A720BF3}"/>
            </a:ext>
          </a:extLst>
        </p:cNvPr>
        <p:cNvGrpSpPr/>
        <p:nvPr/>
      </p:nvGrpSpPr>
      <p:grpSpPr>
        <a:xfrm>
          <a:off x="0" y="0"/>
          <a:ext cx="0" cy="0"/>
          <a:chOff x="0" y="0"/>
          <a:chExt cx="0" cy="0"/>
        </a:xfrm>
      </p:grpSpPr>
      <p:sp>
        <p:nvSpPr>
          <p:cNvPr id="93" name="Google Shape;93;p2:notes">
            <a:extLst>
              <a:ext uri="{FF2B5EF4-FFF2-40B4-BE49-F238E27FC236}">
                <a16:creationId xmlns:a16="http://schemas.microsoft.com/office/drawing/2014/main" id="{66D7A4C1-0D02-17A6-E7BD-50D4A46C95BF}"/>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94" name="Google Shape;94;p2:notes">
            <a:extLst>
              <a:ext uri="{FF2B5EF4-FFF2-40B4-BE49-F238E27FC236}">
                <a16:creationId xmlns:a16="http://schemas.microsoft.com/office/drawing/2014/main" id="{22434658-F860-3903-0FBB-6528C587E9E9}"/>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85804580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2">
          <a:extLst>
            <a:ext uri="{FF2B5EF4-FFF2-40B4-BE49-F238E27FC236}">
              <a16:creationId xmlns:a16="http://schemas.microsoft.com/office/drawing/2014/main" id="{4CEAF695-F5F7-5EC9-7300-19E6C0A73AEB}"/>
            </a:ext>
          </a:extLst>
        </p:cNvPr>
        <p:cNvGrpSpPr/>
        <p:nvPr/>
      </p:nvGrpSpPr>
      <p:grpSpPr>
        <a:xfrm>
          <a:off x="0" y="0"/>
          <a:ext cx="0" cy="0"/>
          <a:chOff x="0" y="0"/>
          <a:chExt cx="0" cy="0"/>
        </a:xfrm>
      </p:grpSpPr>
      <p:sp>
        <p:nvSpPr>
          <p:cNvPr id="93" name="Google Shape;93;p2:notes">
            <a:extLst>
              <a:ext uri="{FF2B5EF4-FFF2-40B4-BE49-F238E27FC236}">
                <a16:creationId xmlns:a16="http://schemas.microsoft.com/office/drawing/2014/main" id="{2D53F9AC-81A9-0551-87BE-245B4B2F9B66}"/>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94" name="Google Shape;94;p2:notes">
            <a:extLst>
              <a:ext uri="{FF2B5EF4-FFF2-40B4-BE49-F238E27FC236}">
                <a16:creationId xmlns:a16="http://schemas.microsoft.com/office/drawing/2014/main" id="{F8638F3E-46E8-C538-A954-01273A5D383A}"/>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564416872"/>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2">
          <a:extLst>
            <a:ext uri="{FF2B5EF4-FFF2-40B4-BE49-F238E27FC236}">
              <a16:creationId xmlns:a16="http://schemas.microsoft.com/office/drawing/2014/main" id="{16E41D06-FBCD-AAF3-3E9A-EAFBD097206B}"/>
            </a:ext>
          </a:extLst>
        </p:cNvPr>
        <p:cNvGrpSpPr/>
        <p:nvPr/>
      </p:nvGrpSpPr>
      <p:grpSpPr>
        <a:xfrm>
          <a:off x="0" y="0"/>
          <a:ext cx="0" cy="0"/>
          <a:chOff x="0" y="0"/>
          <a:chExt cx="0" cy="0"/>
        </a:xfrm>
      </p:grpSpPr>
      <p:sp>
        <p:nvSpPr>
          <p:cNvPr id="93" name="Google Shape;93;p2:notes">
            <a:extLst>
              <a:ext uri="{FF2B5EF4-FFF2-40B4-BE49-F238E27FC236}">
                <a16:creationId xmlns:a16="http://schemas.microsoft.com/office/drawing/2014/main" id="{4B4A4FC2-000B-5556-114F-FC0AEA042846}"/>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94" name="Google Shape;94;p2:notes">
            <a:extLst>
              <a:ext uri="{FF2B5EF4-FFF2-40B4-BE49-F238E27FC236}">
                <a16:creationId xmlns:a16="http://schemas.microsoft.com/office/drawing/2014/main" id="{1B334895-C3D4-275B-D705-FD8E7AA8A82C}"/>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041912899"/>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2">
          <a:extLst>
            <a:ext uri="{FF2B5EF4-FFF2-40B4-BE49-F238E27FC236}">
              <a16:creationId xmlns:a16="http://schemas.microsoft.com/office/drawing/2014/main" id="{9EA06992-B064-42B7-14B4-4F4AC3686DB4}"/>
            </a:ext>
          </a:extLst>
        </p:cNvPr>
        <p:cNvGrpSpPr/>
        <p:nvPr/>
      </p:nvGrpSpPr>
      <p:grpSpPr>
        <a:xfrm>
          <a:off x="0" y="0"/>
          <a:ext cx="0" cy="0"/>
          <a:chOff x="0" y="0"/>
          <a:chExt cx="0" cy="0"/>
        </a:xfrm>
      </p:grpSpPr>
      <p:sp>
        <p:nvSpPr>
          <p:cNvPr id="93" name="Google Shape;93;p2:notes">
            <a:extLst>
              <a:ext uri="{FF2B5EF4-FFF2-40B4-BE49-F238E27FC236}">
                <a16:creationId xmlns:a16="http://schemas.microsoft.com/office/drawing/2014/main" id="{AD24BE0C-E346-0091-8FEF-6EFCFB5D86DB}"/>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94" name="Google Shape;94;p2:notes">
            <a:extLst>
              <a:ext uri="{FF2B5EF4-FFF2-40B4-BE49-F238E27FC236}">
                <a16:creationId xmlns:a16="http://schemas.microsoft.com/office/drawing/2014/main" id="{ABD4189A-7566-E4B0-8AE4-49D107B29DD2}"/>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470723448"/>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2">
          <a:extLst>
            <a:ext uri="{FF2B5EF4-FFF2-40B4-BE49-F238E27FC236}">
              <a16:creationId xmlns:a16="http://schemas.microsoft.com/office/drawing/2014/main" id="{5AA78F2A-0559-31DC-6137-C1AE4530E90D}"/>
            </a:ext>
          </a:extLst>
        </p:cNvPr>
        <p:cNvGrpSpPr/>
        <p:nvPr/>
      </p:nvGrpSpPr>
      <p:grpSpPr>
        <a:xfrm>
          <a:off x="0" y="0"/>
          <a:ext cx="0" cy="0"/>
          <a:chOff x="0" y="0"/>
          <a:chExt cx="0" cy="0"/>
        </a:xfrm>
      </p:grpSpPr>
      <p:sp>
        <p:nvSpPr>
          <p:cNvPr id="93" name="Google Shape;93;p2:notes">
            <a:extLst>
              <a:ext uri="{FF2B5EF4-FFF2-40B4-BE49-F238E27FC236}">
                <a16:creationId xmlns:a16="http://schemas.microsoft.com/office/drawing/2014/main" id="{80A56D9F-7DB7-B820-8D25-DC8DC9354EFA}"/>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94" name="Google Shape;94;p2:notes">
            <a:extLst>
              <a:ext uri="{FF2B5EF4-FFF2-40B4-BE49-F238E27FC236}">
                <a16:creationId xmlns:a16="http://schemas.microsoft.com/office/drawing/2014/main" id="{96513C0B-62F5-097A-6810-71E1038EF28F}"/>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73684867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2">
          <a:extLst>
            <a:ext uri="{FF2B5EF4-FFF2-40B4-BE49-F238E27FC236}">
              <a16:creationId xmlns:a16="http://schemas.microsoft.com/office/drawing/2014/main" id="{784DDB48-A69B-6276-ABAC-A9DC0C619C8B}"/>
            </a:ext>
          </a:extLst>
        </p:cNvPr>
        <p:cNvGrpSpPr/>
        <p:nvPr/>
      </p:nvGrpSpPr>
      <p:grpSpPr>
        <a:xfrm>
          <a:off x="0" y="0"/>
          <a:ext cx="0" cy="0"/>
          <a:chOff x="0" y="0"/>
          <a:chExt cx="0" cy="0"/>
        </a:xfrm>
      </p:grpSpPr>
      <p:sp>
        <p:nvSpPr>
          <p:cNvPr id="93" name="Google Shape;93;p2:notes">
            <a:extLst>
              <a:ext uri="{FF2B5EF4-FFF2-40B4-BE49-F238E27FC236}">
                <a16:creationId xmlns:a16="http://schemas.microsoft.com/office/drawing/2014/main" id="{7D5A2E4A-2BA1-A6B7-4C81-00897B2B583F}"/>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94" name="Google Shape;94;p2:notes">
            <a:extLst>
              <a:ext uri="{FF2B5EF4-FFF2-40B4-BE49-F238E27FC236}">
                <a16:creationId xmlns:a16="http://schemas.microsoft.com/office/drawing/2014/main" id="{8C361D92-3C85-092C-EF32-75BCCA482388}"/>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903946232"/>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2">
          <a:extLst>
            <a:ext uri="{FF2B5EF4-FFF2-40B4-BE49-F238E27FC236}">
              <a16:creationId xmlns:a16="http://schemas.microsoft.com/office/drawing/2014/main" id="{DC78EF8F-FD20-8C0F-C4E6-D0D6AE99D2FD}"/>
            </a:ext>
          </a:extLst>
        </p:cNvPr>
        <p:cNvGrpSpPr/>
        <p:nvPr/>
      </p:nvGrpSpPr>
      <p:grpSpPr>
        <a:xfrm>
          <a:off x="0" y="0"/>
          <a:ext cx="0" cy="0"/>
          <a:chOff x="0" y="0"/>
          <a:chExt cx="0" cy="0"/>
        </a:xfrm>
      </p:grpSpPr>
      <p:sp>
        <p:nvSpPr>
          <p:cNvPr id="93" name="Google Shape;93;p2:notes">
            <a:extLst>
              <a:ext uri="{FF2B5EF4-FFF2-40B4-BE49-F238E27FC236}">
                <a16:creationId xmlns:a16="http://schemas.microsoft.com/office/drawing/2014/main" id="{6DFDDBE7-3461-47B9-0F0E-AAF82A544636}"/>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94" name="Google Shape;94;p2:notes">
            <a:extLst>
              <a:ext uri="{FF2B5EF4-FFF2-40B4-BE49-F238E27FC236}">
                <a16:creationId xmlns:a16="http://schemas.microsoft.com/office/drawing/2014/main" id="{C5F26A34-E81E-C252-01EF-E8CC9D2F0F3A}"/>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4010748382"/>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2">
          <a:extLst>
            <a:ext uri="{FF2B5EF4-FFF2-40B4-BE49-F238E27FC236}">
              <a16:creationId xmlns:a16="http://schemas.microsoft.com/office/drawing/2014/main" id="{97ED770B-884F-548E-E94A-BF034748D01B}"/>
            </a:ext>
          </a:extLst>
        </p:cNvPr>
        <p:cNvGrpSpPr/>
        <p:nvPr/>
      </p:nvGrpSpPr>
      <p:grpSpPr>
        <a:xfrm>
          <a:off x="0" y="0"/>
          <a:ext cx="0" cy="0"/>
          <a:chOff x="0" y="0"/>
          <a:chExt cx="0" cy="0"/>
        </a:xfrm>
      </p:grpSpPr>
      <p:sp>
        <p:nvSpPr>
          <p:cNvPr id="93" name="Google Shape;93;p2:notes">
            <a:extLst>
              <a:ext uri="{FF2B5EF4-FFF2-40B4-BE49-F238E27FC236}">
                <a16:creationId xmlns:a16="http://schemas.microsoft.com/office/drawing/2014/main" id="{8EAA7C4E-697F-20AA-6B27-4C814BB2CE8D}"/>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94" name="Google Shape;94;p2:notes">
            <a:extLst>
              <a:ext uri="{FF2B5EF4-FFF2-40B4-BE49-F238E27FC236}">
                <a16:creationId xmlns:a16="http://schemas.microsoft.com/office/drawing/2014/main" id="{D933342F-45C2-CB52-0094-80B2D7BB5096}"/>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455116573"/>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2">
          <a:extLst>
            <a:ext uri="{FF2B5EF4-FFF2-40B4-BE49-F238E27FC236}">
              <a16:creationId xmlns:a16="http://schemas.microsoft.com/office/drawing/2014/main" id="{304987D9-49CA-20DA-1FB1-B0EBB6986BC9}"/>
            </a:ext>
          </a:extLst>
        </p:cNvPr>
        <p:cNvGrpSpPr/>
        <p:nvPr/>
      </p:nvGrpSpPr>
      <p:grpSpPr>
        <a:xfrm>
          <a:off x="0" y="0"/>
          <a:ext cx="0" cy="0"/>
          <a:chOff x="0" y="0"/>
          <a:chExt cx="0" cy="0"/>
        </a:xfrm>
      </p:grpSpPr>
      <p:sp>
        <p:nvSpPr>
          <p:cNvPr id="93" name="Google Shape;93;p2:notes">
            <a:extLst>
              <a:ext uri="{FF2B5EF4-FFF2-40B4-BE49-F238E27FC236}">
                <a16:creationId xmlns:a16="http://schemas.microsoft.com/office/drawing/2014/main" id="{8E69644F-3CEA-E716-75FB-278E6BFBA5FB}"/>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94" name="Google Shape;94;p2:notes">
            <a:extLst>
              <a:ext uri="{FF2B5EF4-FFF2-40B4-BE49-F238E27FC236}">
                <a16:creationId xmlns:a16="http://schemas.microsoft.com/office/drawing/2014/main" id="{69C2B3F9-69D6-22D1-BB62-BB587210BDB7}"/>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90201037"/>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2">
          <a:extLst>
            <a:ext uri="{FF2B5EF4-FFF2-40B4-BE49-F238E27FC236}">
              <a16:creationId xmlns:a16="http://schemas.microsoft.com/office/drawing/2014/main" id="{CED2B034-2D1F-554B-ADA7-8410BA0D08A0}"/>
            </a:ext>
          </a:extLst>
        </p:cNvPr>
        <p:cNvGrpSpPr/>
        <p:nvPr/>
      </p:nvGrpSpPr>
      <p:grpSpPr>
        <a:xfrm>
          <a:off x="0" y="0"/>
          <a:ext cx="0" cy="0"/>
          <a:chOff x="0" y="0"/>
          <a:chExt cx="0" cy="0"/>
        </a:xfrm>
      </p:grpSpPr>
      <p:sp>
        <p:nvSpPr>
          <p:cNvPr id="93" name="Google Shape;93;p2:notes">
            <a:extLst>
              <a:ext uri="{FF2B5EF4-FFF2-40B4-BE49-F238E27FC236}">
                <a16:creationId xmlns:a16="http://schemas.microsoft.com/office/drawing/2014/main" id="{53304C42-59DE-32B4-00F7-E007A4A9780C}"/>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94" name="Google Shape;94;p2:notes">
            <a:extLst>
              <a:ext uri="{FF2B5EF4-FFF2-40B4-BE49-F238E27FC236}">
                <a16:creationId xmlns:a16="http://schemas.microsoft.com/office/drawing/2014/main" id="{0C3807B7-C41F-9F09-F364-A38ED9195BE0}"/>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326603924"/>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2">
          <a:extLst>
            <a:ext uri="{FF2B5EF4-FFF2-40B4-BE49-F238E27FC236}">
              <a16:creationId xmlns:a16="http://schemas.microsoft.com/office/drawing/2014/main" id="{FE9C96BC-CE5E-85CE-F3AC-83FAE2D1FDCF}"/>
            </a:ext>
          </a:extLst>
        </p:cNvPr>
        <p:cNvGrpSpPr/>
        <p:nvPr/>
      </p:nvGrpSpPr>
      <p:grpSpPr>
        <a:xfrm>
          <a:off x="0" y="0"/>
          <a:ext cx="0" cy="0"/>
          <a:chOff x="0" y="0"/>
          <a:chExt cx="0" cy="0"/>
        </a:xfrm>
      </p:grpSpPr>
      <p:sp>
        <p:nvSpPr>
          <p:cNvPr id="93" name="Google Shape;93;p2:notes">
            <a:extLst>
              <a:ext uri="{FF2B5EF4-FFF2-40B4-BE49-F238E27FC236}">
                <a16:creationId xmlns:a16="http://schemas.microsoft.com/office/drawing/2014/main" id="{4D311DAB-4631-0F03-CD1C-51C690832A82}"/>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94" name="Google Shape;94;p2:notes">
            <a:extLst>
              <a:ext uri="{FF2B5EF4-FFF2-40B4-BE49-F238E27FC236}">
                <a16:creationId xmlns:a16="http://schemas.microsoft.com/office/drawing/2014/main" id="{6DE59D4D-2127-9C21-E99B-1E8D41131A51}"/>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011061360"/>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2">
          <a:extLst>
            <a:ext uri="{FF2B5EF4-FFF2-40B4-BE49-F238E27FC236}">
              <a16:creationId xmlns:a16="http://schemas.microsoft.com/office/drawing/2014/main" id="{DF628E8E-EC23-0713-09D4-530CBA541F4A}"/>
            </a:ext>
          </a:extLst>
        </p:cNvPr>
        <p:cNvGrpSpPr/>
        <p:nvPr/>
      </p:nvGrpSpPr>
      <p:grpSpPr>
        <a:xfrm>
          <a:off x="0" y="0"/>
          <a:ext cx="0" cy="0"/>
          <a:chOff x="0" y="0"/>
          <a:chExt cx="0" cy="0"/>
        </a:xfrm>
      </p:grpSpPr>
      <p:sp>
        <p:nvSpPr>
          <p:cNvPr id="93" name="Google Shape;93;p2:notes">
            <a:extLst>
              <a:ext uri="{FF2B5EF4-FFF2-40B4-BE49-F238E27FC236}">
                <a16:creationId xmlns:a16="http://schemas.microsoft.com/office/drawing/2014/main" id="{B79E9ED3-7628-E1D5-E421-27ECACA8AC14}"/>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94" name="Google Shape;94;p2:notes">
            <a:extLst>
              <a:ext uri="{FF2B5EF4-FFF2-40B4-BE49-F238E27FC236}">
                <a16:creationId xmlns:a16="http://schemas.microsoft.com/office/drawing/2014/main" id="{C13D782D-0FEC-569B-DBCE-0047D98C9A75}"/>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4082616873"/>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2">
          <a:extLst>
            <a:ext uri="{FF2B5EF4-FFF2-40B4-BE49-F238E27FC236}">
              <a16:creationId xmlns:a16="http://schemas.microsoft.com/office/drawing/2014/main" id="{7BA7257E-C011-D95C-F927-26EE70E840FA}"/>
            </a:ext>
          </a:extLst>
        </p:cNvPr>
        <p:cNvGrpSpPr/>
        <p:nvPr/>
      </p:nvGrpSpPr>
      <p:grpSpPr>
        <a:xfrm>
          <a:off x="0" y="0"/>
          <a:ext cx="0" cy="0"/>
          <a:chOff x="0" y="0"/>
          <a:chExt cx="0" cy="0"/>
        </a:xfrm>
      </p:grpSpPr>
      <p:sp>
        <p:nvSpPr>
          <p:cNvPr id="93" name="Google Shape;93;p2:notes">
            <a:extLst>
              <a:ext uri="{FF2B5EF4-FFF2-40B4-BE49-F238E27FC236}">
                <a16:creationId xmlns:a16="http://schemas.microsoft.com/office/drawing/2014/main" id="{810340A9-FA24-345D-33C5-266B5002B547}"/>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94" name="Google Shape;94;p2:notes">
            <a:extLst>
              <a:ext uri="{FF2B5EF4-FFF2-40B4-BE49-F238E27FC236}">
                <a16:creationId xmlns:a16="http://schemas.microsoft.com/office/drawing/2014/main" id="{0F16AB5B-2BE5-EA78-7138-8F770A55651D}"/>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027235276"/>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2">
          <a:extLst>
            <a:ext uri="{FF2B5EF4-FFF2-40B4-BE49-F238E27FC236}">
              <a16:creationId xmlns:a16="http://schemas.microsoft.com/office/drawing/2014/main" id="{A9BC0635-D1A2-F47B-90AE-6D88737E5CAC}"/>
            </a:ext>
          </a:extLst>
        </p:cNvPr>
        <p:cNvGrpSpPr/>
        <p:nvPr/>
      </p:nvGrpSpPr>
      <p:grpSpPr>
        <a:xfrm>
          <a:off x="0" y="0"/>
          <a:ext cx="0" cy="0"/>
          <a:chOff x="0" y="0"/>
          <a:chExt cx="0" cy="0"/>
        </a:xfrm>
      </p:grpSpPr>
      <p:sp>
        <p:nvSpPr>
          <p:cNvPr id="93" name="Google Shape;93;p2:notes">
            <a:extLst>
              <a:ext uri="{FF2B5EF4-FFF2-40B4-BE49-F238E27FC236}">
                <a16:creationId xmlns:a16="http://schemas.microsoft.com/office/drawing/2014/main" id="{FEC534E4-1D22-F0F5-2F6A-7F2B49F70065}"/>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94" name="Google Shape;94;p2:notes">
            <a:extLst>
              <a:ext uri="{FF2B5EF4-FFF2-40B4-BE49-F238E27FC236}">
                <a16:creationId xmlns:a16="http://schemas.microsoft.com/office/drawing/2014/main" id="{C376CEAE-7B43-657E-33DA-6372CE9E0F4D}"/>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854834056"/>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2">
          <a:extLst>
            <a:ext uri="{FF2B5EF4-FFF2-40B4-BE49-F238E27FC236}">
              <a16:creationId xmlns:a16="http://schemas.microsoft.com/office/drawing/2014/main" id="{85D59C06-3857-32AA-8B0C-1EB52FEDC776}"/>
            </a:ext>
          </a:extLst>
        </p:cNvPr>
        <p:cNvGrpSpPr/>
        <p:nvPr/>
      </p:nvGrpSpPr>
      <p:grpSpPr>
        <a:xfrm>
          <a:off x="0" y="0"/>
          <a:ext cx="0" cy="0"/>
          <a:chOff x="0" y="0"/>
          <a:chExt cx="0" cy="0"/>
        </a:xfrm>
      </p:grpSpPr>
      <p:sp>
        <p:nvSpPr>
          <p:cNvPr id="93" name="Google Shape;93;p2:notes">
            <a:extLst>
              <a:ext uri="{FF2B5EF4-FFF2-40B4-BE49-F238E27FC236}">
                <a16:creationId xmlns:a16="http://schemas.microsoft.com/office/drawing/2014/main" id="{05690FF1-4885-8328-44F1-6E7E97FBF4BE}"/>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94" name="Google Shape;94;p2:notes">
            <a:extLst>
              <a:ext uri="{FF2B5EF4-FFF2-40B4-BE49-F238E27FC236}">
                <a16:creationId xmlns:a16="http://schemas.microsoft.com/office/drawing/2014/main" id="{5D4BD3AA-7787-05E0-14C1-40060FC2EBB1}"/>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444648416"/>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2">
          <a:extLst>
            <a:ext uri="{FF2B5EF4-FFF2-40B4-BE49-F238E27FC236}">
              <a16:creationId xmlns:a16="http://schemas.microsoft.com/office/drawing/2014/main" id="{4D03056B-DE5A-183F-07DC-4A017177018D}"/>
            </a:ext>
          </a:extLst>
        </p:cNvPr>
        <p:cNvGrpSpPr/>
        <p:nvPr/>
      </p:nvGrpSpPr>
      <p:grpSpPr>
        <a:xfrm>
          <a:off x="0" y="0"/>
          <a:ext cx="0" cy="0"/>
          <a:chOff x="0" y="0"/>
          <a:chExt cx="0" cy="0"/>
        </a:xfrm>
      </p:grpSpPr>
      <p:sp>
        <p:nvSpPr>
          <p:cNvPr id="93" name="Google Shape;93;p2:notes">
            <a:extLst>
              <a:ext uri="{FF2B5EF4-FFF2-40B4-BE49-F238E27FC236}">
                <a16:creationId xmlns:a16="http://schemas.microsoft.com/office/drawing/2014/main" id="{ABA6228D-EA18-6523-745D-594ED1D9052B}"/>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94" name="Google Shape;94;p2:notes">
            <a:extLst>
              <a:ext uri="{FF2B5EF4-FFF2-40B4-BE49-F238E27FC236}">
                <a16:creationId xmlns:a16="http://schemas.microsoft.com/office/drawing/2014/main" id="{873C4BC7-35BA-0C1A-C5CD-690EC23CBE27}"/>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549119203"/>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2">
          <a:extLst>
            <a:ext uri="{FF2B5EF4-FFF2-40B4-BE49-F238E27FC236}">
              <a16:creationId xmlns:a16="http://schemas.microsoft.com/office/drawing/2014/main" id="{DD410ECD-417C-5BDC-DB20-90886E81091C}"/>
            </a:ext>
          </a:extLst>
        </p:cNvPr>
        <p:cNvGrpSpPr/>
        <p:nvPr/>
      </p:nvGrpSpPr>
      <p:grpSpPr>
        <a:xfrm>
          <a:off x="0" y="0"/>
          <a:ext cx="0" cy="0"/>
          <a:chOff x="0" y="0"/>
          <a:chExt cx="0" cy="0"/>
        </a:xfrm>
      </p:grpSpPr>
      <p:sp>
        <p:nvSpPr>
          <p:cNvPr id="93" name="Google Shape;93;p2:notes">
            <a:extLst>
              <a:ext uri="{FF2B5EF4-FFF2-40B4-BE49-F238E27FC236}">
                <a16:creationId xmlns:a16="http://schemas.microsoft.com/office/drawing/2014/main" id="{45F4951D-0586-FB49-106D-45835A1EF652}"/>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94" name="Google Shape;94;p2:notes">
            <a:extLst>
              <a:ext uri="{FF2B5EF4-FFF2-40B4-BE49-F238E27FC236}">
                <a16:creationId xmlns:a16="http://schemas.microsoft.com/office/drawing/2014/main" id="{7BC49C1B-E02C-11B7-31FB-AE7AEFB734B5}"/>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572415596"/>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2">
          <a:extLst>
            <a:ext uri="{FF2B5EF4-FFF2-40B4-BE49-F238E27FC236}">
              <a16:creationId xmlns:a16="http://schemas.microsoft.com/office/drawing/2014/main" id="{F7EF2A12-2267-7EDD-BACC-F1BE87381B06}"/>
            </a:ext>
          </a:extLst>
        </p:cNvPr>
        <p:cNvGrpSpPr/>
        <p:nvPr/>
      </p:nvGrpSpPr>
      <p:grpSpPr>
        <a:xfrm>
          <a:off x="0" y="0"/>
          <a:ext cx="0" cy="0"/>
          <a:chOff x="0" y="0"/>
          <a:chExt cx="0" cy="0"/>
        </a:xfrm>
      </p:grpSpPr>
      <p:sp>
        <p:nvSpPr>
          <p:cNvPr id="93" name="Google Shape;93;p2:notes">
            <a:extLst>
              <a:ext uri="{FF2B5EF4-FFF2-40B4-BE49-F238E27FC236}">
                <a16:creationId xmlns:a16="http://schemas.microsoft.com/office/drawing/2014/main" id="{226B08B4-1C70-C8DC-6F93-BD678BD93A18}"/>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94" name="Google Shape;94;p2:notes">
            <a:extLst>
              <a:ext uri="{FF2B5EF4-FFF2-40B4-BE49-F238E27FC236}">
                <a16:creationId xmlns:a16="http://schemas.microsoft.com/office/drawing/2014/main" id="{8A6AA5E0-E168-B05C-4755-86A06AF924DF}"/>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110635070"/>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2">
          <a:extLst>
            <a:ext uri="{FF2B5EF4-FFF2-40B4-BE49-F238E27FC236}">
              <a16:creationId xmlns:a16="http://schemas.microsoft.com/office/drawing/2014/main" id="{226094CE-17DF-E35A-B694-8BC834B34D91}"/>
            </a:ext>
          </a:extLst>
        </p:cNvPr>
        <p:cNvGrpSpPr/>
        <p:nvPr/>
      </p:nvGrpSpPr>
      <p:grpSpPr>
        <a:xfrm>
          <a:off x="0" y="0"/>
          <a:ext cx="0" cy="0"/>
          <a:chOff x="0" y="0"/>
          <a:chExt cx="0" cy="0"/>
        </a:xfrm>
      </p:grpSpPr>
      <p:sp>
        <p:nvSpPr>
          <p:cNvPr id="93" name="Google Shape;93;p2:notes">
            <a:extLst>
              <a:ext uri="{FF2B5EF4-FFF2-40B4-BE49-F238E27FC236}">
                <a16:creationId xmlns:a16="http://schemas.microsoft.com/office/drawing/2014/main" id="{E5F13F41-9326-9F19-150B-D70678361378}"/>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94" name="Google Shape;94;p2:notes">
            <a:extLst>
              <a:ext uri="{FF2B5EF4-FFF2-40B4-BE49-F238E27FC236}">
                <a16:creationId xmlns:a16="http://schemas.microsoft.com/office/drawing/2014/main" id="{BE278581-458B-F595-67BE-9B86CC090F84}"/>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942239119"/>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2">
          <a:extLst>
            <a:ext uri="{FF2B5EF4-FFF2-40B4-BE49-F238E27FC236}">
              <a16:creationId xmlns:a16="http://schemas.microsoft.com/office/drawing/2014/main" id="{614C2E7C-0B25-48EA-FBF0-9EF34861B403}"/>
            </a:ext>
          </a:extLst>
        </p:cNvPr>
        <p:cNvGrpSpPr/>
        <p:nvPr/>
      </p:nvGrpSpPr>
      <p:grpSpPr>
        <a:xfrm>
          <a:off x="0" y="0"/>
          <a:ext cx="0" cy="0"/>
          <a:chOff x="0" y="0"/>
          <a:chExt cx="0" cy="0"/>
        </a:xfrm>
      </p:grpSpPr>
      <p:sp>
        <p:nvSpPr>
          <p:cNvPr id="93" name="Google Shape;93;p2:notes">
            <a:extLst>
              <a:ext uri="{FF2B5EF4-FFF2-40B4-BE49-F238E27FC236}">
                <a16:creationId xmlns:a16="http://schemas.microsoft.com/office/drawing/2014/main" id="{DC29E644-D41A-E835-61F8-BF394BA3C657}"/>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94" name="Google Shape;94;p2:notes">
            <a:extLst>
              <a:ext uri="{FF2B5EF4-FFF2-40B4-BE49-F238E27FC236}">
                <a16:creationId xmlns:a16="http://schemas.microsoft.com/office/drawing/2014/main" id="{BD6ADAE4-6B2C-1F0C-D4A0-23A3E4F3B65E}"/>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322171398"/>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2">
          <a:extLst>
            <a:ext uri="{FF2B5EF4-FFF2-40B4-BE49-F238E27FC236}">
              <a16:creationId xmlns:a16="http://schemas.microsoft.com/office/drawing/2014/main" id="{CEE0884A-CC33-56CE-FFE0-9C8CCB7462C0}"/>
            </a:ext>
          </a:extLst>
        </p:cNvPr>
        <p:cNvGrpSpPr/>
        <p:nvPr/>
      </p:nvGrpSpPr>
      <p:grpSpPr>
        <a:xfrm>
          <a:off x="0" y="0"/>
          <a:ext cx="0" cy="0"/>
          <a:chOff x="0" y="0"/>
          <a:chExt cx="0" cy="0"/>
        </a:xfrm>
      </p:grpSpPr>
      <p:sp>
        <p:nvSpPr>
          <p:cNvPr id="93" name="Google Shape;93;p2:notes">
            <a:extLst>
              <a:ext uri="{FF2B5EF4-FFF2-40B4-BE49-F238E27FC236}">
                <a16:creationId xmlns:a16="http://schemas.microsoft.com/office/drawing/2014/main" id="{F3407C44-1BF4-DA39-7BD1-A3ACA774999B}"/>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94" name="Google Shape;94;p2:notes">
            <a:extLst>
              <a:ext uri="{FF2B5EF4-FFF2-40B4-BE49-F238E27FC236}">
                <a16:creationId xmlns:a16="http://schemas.microsoft.com/office/drawing/2014/main" id="{48441143-F704-0AFA-0058-A9FBF3E29EA0}"/>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485419996"/>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2">
          <a:extLst>
            <a:ext uri="{FF2B5EF4-FFF2-40B4-BE49-F238E27FC236}">
              <a16:creationId xmlns:a16="http://schemas.microsoft.com/office/drawing/2014/main" id="{671D288D-867F-AE8D-31F5-1072BC0C8045}"/>
            </a:ext>
          </a:extLst>
        </p:cNvPr>
        <p:cNvGrpSpPr/>
        <p:nvPr/>
      </p:nvGrpSpPr>
      <p:grpSpPr>
        <a:xfrm>
          <a:off x="0" y="0"/>
          <a:ext cx="0" cy="0"/>
          <a:chOff x="0" y="0"/>
          <a:chExt cx="0" cy="0"/>
        </a:xfrm>
      </p:grpSpPr>
      <p:sp>
        <p:nvSpPr>
          <p:cNvPr id="93" name="Google Shape;93;p2:notes">
            <a:extLst>
              <a:ext uri="{FF2B5EF4-FFF2-40B4-BE49-F238E27FC236}">
                <a16:creationId xmlns:a16="http://schemas.microsoft.com/office/drawing/2014/main" id="{4255C62F-898A-384F-A356-71682994C3C0}"/>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94" name="Google Shape;94;p2:notes">
            <a:extLst>
              <a:ext uri="{FF2B5EF4-FFF2-40B4-BE49-F238E27FC236}">
                <a16:creationId xmlns:a16="http://schemas.microsoft.com/office/drawing/2014/main" id="{48358C29-2EF6-3D0C-C44D-89DD64839D50}"/>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072662748"/>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2">
          <a:extLst>
            <a:ext uri="{FF2B5EF4-FFF2-40B4-BE49-F238E27FC236}">
              <a16:creationId xmlns:a16="http://schemas.microsoft.com/office/drawing/2014/main" id="{9DD162CF-865E-691D-DE4E-3F9053DADDE5}"/>
            </a:ext>
          </a:extLst>
        </p:cNvPr>
        <p:cNvGrpSpPr/>
        <p:nvPr/>
      </p:nvGrpSpPr>
      <p:grpSpPr>
        <a:xfrm>
          <a:off x="0" y="0"/>
          <a:ext cx="0" cy="0"/>
          <a:chOff x="0" y="0"/>
          <a:chExt cx="0" cy="0"/>
        </a:xfrm>
      </p:grpSpPr>
      <p:sp>
        <p:nvSpPr>
          <p:cNvPr id="93" name="Google Shape;93;p2:notes">
            <a:extLst>
              <a:ext uri="{FF2B5EF4-FFF2-40B4-BE49-F238E27FC236}">
                <a16:creationId xmlns:a16="http://schemas.microsoft.com/office/drawing/2014/main" id="{19165916-5E09-ADC7-D41F-CC514D56CF43}"/>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94" name="Google Shape;94;p2:notes">
            <a:extLst>
              <a:ext uri="{FF2B5EF4-FFF2-40B4-BE49-F238E27FC236}">
                <a16:creationId xmlns:a16="http://schemas.microsoft.com/office/drawing/2014/main" id="{32C85DFD-C934-129C-062F-42CDB46A6952}"/>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580765420"/>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2">
          <a:extLst>
            <a:ext uri="{FF2B5EF4-FFF2-40B4-BE49-F238E27FC236}">
              <a16:creationId xmlns:a16="http://schemas.microsoft.com/office/drawing/2014/main" id="{92BFDCC0-C41B-1179-AF50-899A3BE7437D}"/>
            </a:ext>
          </a:extLst>
        </p:cNvPr>
        <p:cNvGrpSpPr/>
        <p:nvPr/>
      </p:nvGrpSpPr>
      <p:grpSpPr>
        <a:xfrm>
          <a:off x="0" y="0"/>
          <a:ext cx="0" cy="0"/>
          <a:chOff x="0" y="0"/>
          <a:chExt cx="0" cy="0"/>
        </a:xfrm>
      </p:grpSpPr>
      <p:sp>
        <p:nvSpPr>
          <p:cNvPr id="93" name="Google Shape;93;p2:notes">
            <a:extLst>
              <a:ext uri="{FF2B5EF4-FFF2-40B4-BE49-F238E27FC236}">
                <a16:creationId xmlns:a16="http://schemas.microsoft.com/office/drawing/2014/main" id="{AE4A334B-C0C7-6CCC-CE29-AB101EA3F963}"/>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94" name="Google Shape;94;p2:notes">
            <a:extLst>
              <a:ext uri="{FF2B5EF4-FFF2-40B4-BE49-F238E27FC236}">
                <a16:creationId xmlns:a16="http://schemas.microsoft.com/office/drawing/2014/main" id="{71590041-C623-E851-2907-142906D5FC8C}"/>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70699096"/>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2">
          <a:extLst>
            <a:ext uri="{FF2B5EF4-FFF2-40B4-BE49-F238E27FC236}">
              <a16:creationId xmlns:a16="http://schemas.microsoft.com/office/drawing/2014/main" id="{D09FBDBF-A24E-CB25-9824-832A9552549B}"/>
            </a:ext>
          </a:extLst>
        </p:cNvPr>
        <p:cNvGrpSpPr/>
        <p:nvPr/>
      </p:nvGrpSpPr>
      <p:grpSpPr>
        <a:xfrm>
          <a:off x="0" y="0"/>
          <a:ext cx="0" cy="0"/>
          <a:chOff x="0" y="0"/>
          <a:chExt cx="0" cy="0"/>
        </a:xfrm>
      </p:grpSpPr>
      <p:sp>
        <p:nvSpPr>
          <p:cNvPr id="93" name="Google Shape;93;p2:notes">
            <a:extLst>
              <a:ext uri="{FF2B5EF4-FFF2-40B4-BE49-F238E27FC236}">
                <a16:creationId xmlns:a16="http://schemas.microsoft.com/office/drawing/2014/main" id="{4889175A-054C-B1DF-61D3-99AF2F810B1E}"/>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94" name="Google Shape;94;p2:notes">
            <a:extLst>
              <a:ext uri="{FF2B5EF4-FFF2-40B4-BE49-F238E27FC236}">
                <a16:creationId xmlns:a16="http://schemas.microsoft.com/office/drawing/2014/main" id="{4538896D-0522-36E1-ECB3-452461070329}"/>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2716098"/>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2">
          <a:extLst>
            <a:ext uri="{FF2B5EF4-FFF2-40B4-BE49-F238E27FC236}">
              <a16:creationId xmlns:a16="http://schemas.microsoft.com/office/drawing/2014/main" id="{AEEE6856-4558-02F0-1A21-C1ADB0DE5F32}"/>
            </a:ext>
          </a:extLst>
        </p:cNvPr>
        <p:cNvGrpSpPr/>
        <p:nvPr/>
      </p:nvGrpSpPr>
      <p:grpSpPr>
        <a:xfrm>
          <a:off x="0" y="0"/>
          <a:ext cx="0" cy="0"/>
          <a:chOff x="0" y="0"/>
          <a:chExt cx="0" cy="0"/>
        </a:xfrm>
      </p:grpSpPr>
      <p:sp>
        <p:nvSpPr>
          <p:cNvPr id="93" name="Google Shape;93;p2:notes">
            <a:extLst>
              <a:ext uri="{FF2B5EF4-FFF2-40B4-BE49-F238E27FC236}">
                <a16:creationId xmlns:a16="http://schemas.microsoft.com/office/drawing/2014/main" id="{C7E1BF08-F39D-613D-F720-45F01A2CFDE9}"/>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94" name="Google Shape;94;p2:notes">
            <a:extLst>
              <a:ext uri="{FF2B5EF4-FFF2-40B4-BE49-F238E27FC236}">
                <a16:creationId xmlns:a16="http://schemas.microsoft.com/office/drawing/2014/main" id="{8783F509-73CF-AAE6-2453-E920AE17270B}"/>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258798514"/>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2">
          <a:extLst>
            <a:ext uri="{FF2B5EF4-FFF2-40B4-BE49-F238E27FC236}">
              <a16:creationId xmlns:a16="http://schemas.microsoft.com/office/drawing/2014/main" id="{53DEC3DD-6537-0C79-534A-B7DB75683AF7}"/>
            </a:ext>
          </a:extLst>
        </p:cNvPr>
        <p:cNvGrpSpPr/>
        <p:nvPr/>
      </p:nvGrpSpPr>
      <p:grpSpPr>
        <a:xfrm>
          <a:off x="0" y="0"/>
          <a:ext cx="0" cy="0"/>
          <a:chOff x="0" y="0"/>
          <a:chExt cx="0" cy="0"/>
        </a:xfrm>
      </p:grpSpPr>
      <p:sp>
        <p:nvSpPr>
          <p:cNvPr id="93" name="Google Shape;93;p2:notes">
            <a:extLst>
              <a:ext uri="{FF2B5EF4-FFF2-40B4-BE49-F238E27FC236}">
                <a16:creationId xmlns:a16="http://schemas.microsoft.com/office/drawing/2014/main" id="{914A647C-0DB7-79C6-DAB1-22CCB6DB67A4}"/>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94" name="Google Shape;94;p2:notes">
            <a:extLst>
              <a:ext uri="{FF2B5EF4-FFF2-40B4-BE49-F238E27FC236}">
                <a16:creationId xmlns:a16="http://schemas.microsoft.com/office/drawing/2014/main" id="{011DB4D6-B24E-242B-C378-4E9F70A6FFA0}"/>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6425785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Slide de Título" type="title">
  <p:cSld name="TITLE">
    <p:spTree>
      <p:nvGrpSpPr>
        <p:cNvPr id="1" name="Shape 15"/>
        <p:cNvGrpSpPr/>
        <p:nvPr/>
      </p:nvGrpSpPr>
      <p:grpSpPr>
        <a:xfrm>
          <a:off x="0" y="0"/>
          <a:ext cx="0" cy="0"/>
          <a:chOff x="0" y="0"/>
          <a:chExt cx="0" cy="0"/>
        </a:xfrm>
      </p:grpSpPr>
      <p:sp>
        <p:nvSpPr>
          <p:cNvPr id="16" name="Google Shape;16;p10"/>
          <p:cNvSpPr txBox="1">
            <a:spLocks noGrp="1"/>
          </p:cNvSpPr>
          <p:nvPr>
            <p:ph type="ctrTitle"/>
          </p:nvPr>
        </p:nvSpPr>
        <p:spPr>
          <a:xfrm>
            <a:off x="1524000" y="1122363"/>
            <a:ext cx="9144000" cy="2387600"/>
          </a:xfrm>
          <a:prstGeom prst="rect">
            <a:avLst/>
          </a:prstGeom>
          <a:noFill/>
          <a:ln>
            <a:noFill/>
          </a:ln>
        </p:spPr>
        <p:txBody>
          <a:bodyPr spcFirstLastPara="1" wrap="square" lIns="91425" tIns="45700" rIns="91425" bIns="45700" anchor="b" anchorCtr="0">
            <a:normAutofit/>
          </a:bodyPr>
          <a:lstStyle>
            <a:lvl1pPr lvl="0" algn="ctr">
              <a:lnSpc>
                <a:spcPct val="90000"/>
              </a:lnSpc>
              <a:spcBef>
                <a:spcPts val="0"/>
              </a:spcBef>
              <a:spcAft>
                <a:spcPts val="0"/>
              </a:spcAft>
              <a:buClr>
                <a:schemeClr val="dk1"/>
              </a:buClr>
              <a:buSzPts val="6000"/>
              <a:buFont typeface="Calibri"/>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7" name="Google Shape;17;p10"/>
          <p:cNvSpPr txBox="1">
            <a:spLocks noGrp="1"/>
          </p:cNvSpPr>
          <p:nvPr>
            <p:ph type="subTitle" idx="1"/>
          </p:nvPr>
        </p:nvSpPr>
        <p:spPr>
          <a:xfrm>
            <a:off x="1524000" y="3602038"/>
            <a:ext cx="9144000" cy="1655762"/>
          </a:xfrm>
          <a:prstGeom prst="rect">
            <a:avLst/>
          </a:prstGeom>
          <a:noFill/>
          <a:ln>
            <a:noFill/>
          </a:ln>
        </p:spPr>
        <p:txBody>
          <a:bodyPr spcFirstLastPara="1" wrap="square" lIns="91425" tIns="45700" rIns="91425" bIns="45700" anchor="t" anchorCtr="0">
            <a:normAutofit/>
          </a:bodyPr>
          <a:lstStyle>
            <a:lvl1pPr lvl="0" algn="ctr">
              <a:lnSpc>
                <a:spcPct val="90000"/>
              </a:lnSpc>
              <a:spcBef>
                <a:spcPts val="1000"/>
              </a:spcBef>
              <a:spcAft>
                <a:spcPts val="0"/>
              </a:spcAft>
              <a:buClr>
                <a:schemeClr val="dk1"/>
              </a:buClr>
              <a:buSzPts val="2400"/>
              <a:buNone/>
              <a:defRPr sz="2400"/>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a:endParaRPr/>
          </a:p>
        </p:txBody>
      </p:sp>
      <p:sp>
        <p:nvSpPr>
          <p:cNvPr id="18" name="Google Shape;18;p10"/>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9" name="Google Shape;19;p10"/>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0" name="Google Shape;20;p10"/>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pt-BR"/>
              <a:t>‹nº›</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ítulo e Conteúdo" type="obj">
  <p:cSld name="OBJECT">
    <p:spTree>
      <p:nvGrpSpPr>
        <p:cNvPr id="1" name="Shape 21"/>
        <p:cNvGrpSpPr/>
        <p:nvPr/>
      </p:nvGrpSpPr>
      <p:grpSpPr>
        <a:xfrm>
          <a:off x="0" y="0"/>
          <a:ext cx="0" cy="0"/>
          <a:chOff x="0" y="0"/>
          <a:chExt cx="0" cy="0"/>
        </a:xfrm>
      </p:grpSpPr>
      <p:sp>
        <p:nvSpPr>
          <p:cNvPr id="22" name="Google Shape;22;p11"/>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3" name="Google Shape;23;p11"/>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24" name="Google Shape;24;p1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5" name="Google Shape;25;p1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6" name="Google Shape;26;p1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pt-BR"/>
              <a:t>‹nº›</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Cabeçalho da Seção" type="secHead">
  <p:cSld name="SECTION_HEADER">
    <p:spTree>
      <p:nvGrpSpPr>
        <p:cNvPr id="1" name="Shape 27"/>
        <p:cNvGrpSpPr/>
        <p:nvPr/>
      </p:nvGrpSpPr>
      <p:grpSpPr>
        <a:xfrm>
          <a:off x="0" y="0"/>
          <a:ext cx="0" cy="0"/>
          <a:chOff x="0" y="0"/>
          <a:chExt cx="0" cy="0"/>
        </a:xfrm>
      </p:grpSpPr>
      <p:sp>
        <p:nvSpPr>
          <p:cNvPr id="28" name="Google Shape;28;p12"/>
          <p:cNvSpPr txBox="1">
            <a:spLocks noGrp="1"/>
          </p:cNvSpPr>
          <p:nvPr>
            <p:ph type="title"/>
          </p:nvPr>
        </p:nvSpPr>
        <p:spPr>
          <a:xfrm>
            <a:off x="831850" y="1709738"/>
            <a:ext cx="10515600" cy="2852737"/>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6000"/>
              <a:buFont typeface="Calibri"/>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9" name="Google Shape;29;p12"/>
          <p:cNvSpPr txBox="1">
            <a:spLocks noGrp="1"/>
          </p:cNvSpPr>
          <p:nvPr>
            <p:ph type="body" idx="1"/>
          </p:nvPr>
        </p:nvSpPr>
        <p:spPr>
          <a:xfrm>
            <a:off x="831850" y="4589463"/>
            <a:ext cx="10515600" cy="1500187"/>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rgbClr val="888888"/>
              </a:buClr>
              <a:buSzPts val="2400"/>
              <a:buNone/>
              <a:defRPr sz="2400">
                <a:solidFill>
                  <a:srgbClr val="888888"/>
                </a:solidFill>
              </a:defRPr>
            </a:lvl1pPr>
            <a:lvl2pPr marL="914400" lvl="1" indent="-228600" algn="l">
              <a:lnSpc>
                <a:spcPct val="90000"/>
              </a:lnSpc>
              <a:spcBef>
                <a:spcPts val="500"/>
              </a:spcBef>
              <a:spcAft>
                <a:spcPts val="0"/>
              </a:spcAft>
              <a:buClr>
                <a:srgbClr val="888888"/>
              </a:buClr>
              <a:buSzPts val="2000"/>
              <a:buNone/>
              <a:defRPr sz="2000">
                <a:solidFill>
                  <a:srgbClr val="888888"/>
                </a:solidFill>
              </a:defRPr>
            </a:lvl2pPr>
            <a:lvl3pPr marL="1371600" lvl="2" indent="-228600" algn="l">
              <a:lnSpc>
                <a:spcPct val="90000"/>
              </a:lnSpc>
              <a:spcBef>
                <a:spcPts val="500"/>
              </a:spcBef>
              <a:spcAft>
                <a:spcPts val="0"/>
              </a:spcAft>
              <a:buClr>
                <a:srgbClr val="888888"/>
              </a:buClr>
              <a:buSzPts val="1800"/>
              <a:buNone/>
              <a:defRPr sz="1800">
                <a:solidFill>
                  <a:srgbClr val="888888"/>
                </a:solidFill>
              </a:defRPr>
            </a:lvl3pPr>
            <a:lvl4pPr marL="1828800" lvl="3" indent="-228600" algn="l">
              <a:lnSpc>
                <a:spcPct val="90000"/>
              </a:lnSpc>
              <a:spcBef>
                <a:spcPts val="500"/>
              </a:spcBef>
              <a:spcAft>
                <a:spcPts val="0"/>
              </a:spcAft>
              <a:buClr>
                <a:srgbClr val="888888"/>
              </a:buClr>
              <a:buSzPts val="1600"/>
              <a:buNone/>
              <a:defRPr sz="1600">
                <a:solidFill>
                  <a:srgbClr val="888888"/>
                </a:solidFill>
              </a:defRPr>
            </a:lvl4pPr>
            <a:lvl5pPr marL="2286000" lvl="4" indent="-228600" algn="l">
              <a:lnSpc>
                <a:spcPct val="90000"/>
              </a:lnSpc>
              <a:spcBef>
                <a:spcPts val="500"/>
              </a:spcBef>
              <a:spcAft>
                <a:spcPts val="0"/>
              </a:spcAft>
              <a:buClr>
                <a:srgbClr val="888888"/>
              </a:buClr>
              <a:buSzPts val="1600"/>
              <a:buNone/>
              <a:defRPr sz="1600">
                <a:solidFill>
                  <a:srgbClr val="888888"/>
                </a:solidFill>
              </a:defRPr>
            </a:lvl5pPr>
            <a:lvl6pPr marL="2743200" lvl="5" indent="-228600" algn="l">
              <a:lnSpc>
                <a:spcPct val="90000"/>
              </a:lnSpc>
              <a:spcBef>
                <a:spcPts val="500"/>
              </a:spcBef>
              <a:spcAft>
                <a:spcPts val="0"/>
              </a:spcAft>
              <a:buClr>
                <a:srgbClr val="888888"/>
              </a:buClr>
              <a:buSzPts val="1600"/>
              <a:buNone/>
              <a:defRPr sz="1600">
                <a:solidFill>
                  <a:srgbClr val="888888"/>
                </a:solidFill>
              </a:defRPr>
            </a:lvl6pPr>
            <a:lvl7pPr marL="3200400" lvl="6" indent="-228600" algn="l">
              <a:lnSpc>
                <a:spcPct val="90000"/>
              </a:lnSpc>
              <a:spcBef>
                <a:spcPts val="500"/>
              </a:spcBef>
              <a:spcAft>
                <a:spcPts val="0"/>
              </a:spcAft>
              <a:buClr>
                <a:srgbClr val="888888"/>
              </a:buClr>
              <a:buSzPts val="1600"/>
              <a:buNone/>
              <a:defRPr sz="1600">
                <a:solidFill>
                  <a:srgbClr val="888888"/>
                </a:solidFill>
              </a:defRPr>
            </a:lvl7pPr>
            <a:lvl8pPr marL="3657600" lvl="7" indent="-228600" algn="l">
              <a:lnSpc>
                <a:spcPct val="90000"/>
              </a:lnSpc>
              <a:spcBef>
                <a:spcPts val="500"/>
              </a:spcBef>
              <a:spcAft>
                <a:spcPts val="0"/>
              </a:spcAft>
              <a:buClr>
                <a:srgbClr val="888888"/>
              </a:buClr>
              <a:buSzPts val="1600"/>
              <a:buNone/>
              <a:defRPr sz="1600">
                <a:solidFill>
                  <a:srgbClr val="888888"/>
                </a:solidFill>
              </a:defRPr>
            </a:lvl8pPr>
            <a:lvl9pPr marL="4114800" lvl="8" indent="-228600" algn="l">
              <a:lnSpc>
                <a:spcPct val="90000"/>
              </a:lnSpc>
              <a:spcBef>
                <a:spcPts val="500"/>
              </a:spcBef>
              <a:spcAft>
                <a:spcPts val="0"/>
              </a:spcAft>
              <a:buClr>
                <a:srgbClr val="888888"/>
              </a:buClr>
              <a:buSzPts val="1600"/>
              <a:buNone/>
              <a:defRPr sz="1600">
                <a:solidFill>
                  <a:srgbClr val="888888"/>
                </a:solidFill>
              </a:defRPr>
            </a:lvl9pPr>
          </a:lstStyle>
          <a:p>
            <a:endParaRPr/>
          </a:p>
        </p:txBody>
      </p:sp>
      <p:sp>
        <p:nvSpPr>
          <p:cNvPr id="30" name="Google Shape;30;p12"/>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1" name="Google Shape;31;p12"/>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2" name="Google Shape;32;p12"/>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pt-BR"/>
              <a:t>‹nº›</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Duas Partes de Conteúdo" type="twoObj">
  <p:cSld name="TWO_OBJECTS">
    <p:spTree>
      <p:nvGrpSpPr>
        <p:cNvPr id="1" name="Shape 33"/>
        <p:cNvGrpSpPr/>
        <p:nvPr/>
      </p:nvGrpSpPr>
      <p:grpSpPr>
        <a:xfrm>
          <a:off x="0" y="0"/>
          <a:ext cx="0" cy="0"/>
          <a:chOff x="0" y="0"/>
          <a:chExt cx="0" cy="0"/>
        </a:xfrm>
      </p:grpSpPr>
      <p:sp>
        <p:nvSpPr>
          <p:cNvPr id="34" name="Google Shape;34;p13"/>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5" name="Google Shape;35;p13"/>
          <p:cNvSpPr txBox="1">
            <a:spLocks noGrp="1"/>
          </p:cNvSpPr>
          <p:nvPr>
            <p:ph type="body" idx="1"/>
          </p:nvPr>
        </p:nvSpPr>
        <p:spPr>
          <a:xfrm>
            <a:off x="838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6" name="Google Shape;36;p13"/>
          <p:cNvSpPr txBox="1">
            <a:spLocks noGrp="1"/>
          </p:cNvSpPr>
          <p:nvPr>
            <p:ph type="body" idx="2"/>
          </p:nvPr>
        </p:nvSpPr>
        <p:spPr>
          <a:xfrm>
            <a:off x="6172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7" name="Google Shape;37;p13"/>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8" name="Google Shape;38;p13"/>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9" name="Google Shape;39;p13"/>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pt-BR"/>
              <a:t>‹nº›</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Comparação" type="twoTxTwoObj">
  <p:cSld name="TWO_OBJECTS_WITH_TEXT">
    <p:spTree>
      <p:nvGrpSpPr>
        <p:cNvPr id="1" name="Shape 40"/>
        <p:cNvGrpSpPr/>
        <p:nvPr/>
      </p:nvGrpSpPr>
      <p:grpSpPr>
        <a:xfrm>
          <a:off x="0" y="0"/>
          <a:ext cx="0" cy="0"/>
          <a:chOff x="0" y="0"/>
          <a:chExt cx="0" cy="0"/>
        </a:xfrm>
      </p:grpSpPr>
      <p:sp>
        <p:nvSpPr>
          <p:cNvPr id="41" name="Google Shape;41;p14"/>
          <p:cNvSpPr txBox="1">
            <a:spLocks noGrp="1"/>
          </p:cNvSpPr>
          <p:nvPr>
            <p:ph type="title"/>
          </p:nvPr>
        </p:nvSpPr>
        <p:spPr>
          <a:xfrm>
            <a:off x="839788"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2" name="Google Shape;42;p14"/>
          <p:cNvSpPr txBox="1">
            <a:spLocks noGrp="1"/>
          </p:cNvSpPr>
          <p:nvPr>
            <p:ph type="body" idx="1"/>
          </p:nvPr>
        </p:nvSpPr>
        <p:spPr>
          <a:xfrm>
            <a:off x="839788" y="1681163"/>
            <a:ext cx="5157787"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43" name="Google Shape;43;p14"/>
          <p:cNvSpPr txBox="1">
            <a:spLocks noGrp="1"/>
          </p:cNvSpPr>
          <p:nvPr>
            <p:ph type="body" idx="2"/>
          </p:nvPr>
        </p:nvSpPr>
        <p:spPr>
          <a:xfrm>
            <a:off x="839788" y="2505075"/>
            <a:ext cx="5157787"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4" name="Google Shape;44;p14"/>
          <p:cNvSpPr txBox="1">
            <a:spLocks noGrp="1"/>
          </p:cNvSpPr>
          <p:nvPr>
            <p:ph type="body" idx="3"/>
          </p:nvPr>
        </p:nvSpPr>
        <p:spPr>
          <a:xfrm>
            <a:off x="6172200" y="1681163"/>
            <a:ext cx="5183188"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45" name="Google Shape;45;p14"/>
          <p:cNvSpPr txBox="1">
            <a:spLocks noGrp="1"/>
          </p:cNvSpPr>
          <p:nvPr>
            <p:ph type="body" idx="4"/>
          </p:nvPr>
        </p:nvSpPr>
        <p:spPr>
          <a:xfrm>
            <a:off x="6172200" y="2505075"/>
            <a:ext cx="5183188"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6" name="Google Shape;46;p14"/>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7" name="Google Shape;47;p14"/>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8" name="Google Shape;48;p14"/>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pt-BR"/>
              <a:t>‹nº›</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Somente Título" type="titleOnly">
  <p:cSld name="TITLE_ONLY">
    <p:spTree>
      <p:nvGrpSpPr>
        <p:cNvPr id="1" name="Shape 49"/>
        <p:cNvGrpSpPr/>
        <p:nvPr/>
      </p:nvGrpSpPr>
      <p:grpSpPr>
        <a:xfrm>
          <a:off x="0" y="0"/>
          <a:ext cx="0" cy="0"/>
          <a:chOff x="0" y="0"/>
          <a:chExt cx="0" cy="0"/>
        </a:xfrm>
      </p:grpSpPr>
      <p:sp>
        <p:nvSpPr>
          <p:cNvPr id="50" name="Google Shape;50;p15"/>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1" name="Google Shape;51;p15"/>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2" name="Google Shape;52;p15"/>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3" name="Google Shape;53;p15"/>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pt-BR"/>
              <a:t>‹nº›</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Em Branco" type="blank">
  <p:cSld name="BLANK">
    <p:spTree>
      <p:nvGrpSpPr>
        <p:cNvPr id="1" name="Shape 54"/>
        <p:cNvGrpSpPr/>
        <p:nvPr/>
      </p:nvGrpSpPr>
      <p:grpSpPr>
        <a:xfrm>
          <a:off x="0" y="0"/>
          <a:ext cx="0" cy="0"/>
          <a:chOff x="0" y="0"/>
          <a:chExt cx="0" cy="0"/>
        </a:xfrm>
      </p:grpSpPr>
      <p:sp>
        <p:nvSpPr>
          <p:cNvPr id="55" name="Google Shape;55;p16"/>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6" name="Google Shape;56;p16"/>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7" name="Google Shape;57;p16"/>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pt-BR"/>
              <a:t>‹nº›</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Conteúdo com Legenda" type="objTx">
  <p:cSld name="OBJECT_WITH_CAPTION_TEXT">
    <p:spTree>
      <p:nvGrpSpPr>
        <p:cNvPr id="1" name="Shape 58"/>
        <p:cNvGrpSpPr/>
        <p:nvPr/>
      </p:nvGrpSpPr>
      <p:grpSpPr>
        <a:xfrm>
          <a:off x="0" y="0"/>
          <a:ext cx="0" cy="0"/>
          <a:chOff x="0" y="0"/>
          <a:chExt cx="0" cy="0"/>
        </a:xfrm>
      </p:grpSpPr>
      <p:sp>
        <p:nvSpPr>
          <p:cNvPr id="59" name="Google Shape;59;p17"/>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0" name="Google Shape;60;p17"/>
          <p:cNvSpPr txBox="1">
            <a:spLocks noGrp="1"/>
          </p:cNvSpPr>
          <p:nvPr>
            <p:ph type="body" idx="1"/>
          </p:nvPr>
        </p:nvSpPr>
        <p:spPr>
          <a:xfrm>
            <a:off x="5183188" y="987425"/>
            <a:ext cx="6172200" cy="4873625"/>
          </a:xfrm>
          <a:prstGeom prst="rect">
            <a:avLst/>
          </a:prstGeom>
          <a:noFill/>
          <a:ln>
            <a:noFill/>
          </a:ln>
        </p:spPr>
        <p:txBody>
          <a:bodyPr spcFirstLastPara="1" wrap="square" lIns="91425" tIns="45700" rIns="91425" bIns="45700" anchor="t" anchorCtr="0">
            <a:normAutofit/>
          </a:bodyPr>
          <a:lstStyle>
            <a:lvl1pPr marL="457200" lvl="0" indent="-431800" algn="l">
              <a:lnSpc>
                <a:spcPct val="90000"/>
              </a:lnSpc>
              <a:spcBef>
                <a:spcPts val="1000"/>
              </a:spcBef>
              <a:spcAft>
                <a:spcPts val="0"/>
              </a:spcAft>
              <a:buClr>
                <a:schemeClr val="dk1"/>
              </a:buClr>
              <a:buSzPts val="3200"/>
              <a:buChar char="•"/>
              <a:defRPr sz="3200"/>
            </a:lvl1pPr>
            <a:lvl2pPr marL="914400" lvl="1" indent="-406400" algn="l">
              <a:lnSpc>
                <a:spcPct val="90000"/>
              </a:lnSpc>
              <a:spcBef>
                <a:spcPts val="500"/>
              </a:spcBef>
              <a:spcAft>
                <a:spcPts val="0"/>
              </a:spcAft>
              <a:buClr>
                <a:schemeClr val="dk1"/>
              </a:buClr>
              <a:buSzPts val="2800"/>
              <a:buChar char="•"/>
              <a:defRPr sz="2800"/>
            </a:lvl2pPr>
            <a:lvl3pPr marL="1371600" lvl="2" indent="-381000" algn="l">
              <a:lnSpc>
                <a:spcPct val="90000"/>
              </a:lnSpc>
              <a:spcBef>
                <a:spcPts val="500"/>
              </a:spcBef>
              <a:spcAft>
                <a:spcPts val="0"/>
              </a:spcAft>
              <a:buClr>
                <a:schemeClr val="dk1"/>
              </a:buClr>
              <a:buSzPts val="2400"/>
              <a:buChar char="•"/>
              <a:defRPr sz="2400"/>
            </a:lvl3pPr>
            <a:lvl4pPr marL="1828800" lvl="3" indent="-355600" algn="l">
              <a:lnSpc>
                <a:spcPct val="90000"/>
              </a:lnSpc>
              <a:spcBef>
                <a:spcPts val="500"/>
              </a:spcBef>
              <a:spcAft>
                <a:spcPts val="0"/>
              </a:spcAft>
              <a:buClr>
                <a:schemeClr val="dk1"/>
              </a:buClr>
              <a:buSzPts val="2000"/>
              <a:buChar char="•"/>
              <a:defRPr sz="2000"/>
            </a:lvl4pPr>
            <a:lvl5pPr marL="2286000" lvl="4" indent="-355600" algn="l">
              <a:lnSpc>
                <a:spcPct val="90000"/>
              </a:lnSpc>
              <a:spcBef>
                <a:spcPts val="500"/>
              </a:spcBef>
              <a:spcAft>
                <a:spcPts val="0"/>
              </a:spcAft>
              <a:buClr>
                <a:schemeClr val="dk1"/>
              </a:buClr>
              <a:buSzPts val="2000"/>
              <a:buChar char="•"/>
              <a:defRPr sz="2000"/>
            </a:lvl5pPr>
            <a:lvl6pPr marL="2743200" lvl="5" indent="-355600" algn="l">
              <a:lnSpc>
                <a:spcPct val="90000"/>
              </a:lnSpc>
              <a:spcBef>
                <a:spcPts val="500"/>
              </a:spcBef>
              <a:spcAft>
                <a:spcPts val="0"/>
              </a:spcAft>
              <a:buClr>
                <a:schemeClr val="dk1"/>
              </a:buClr>
              <a:buSzPts val="2000"/>
              <a:buChar char="•"/>
              <a:defRPr sz="2000"/>
            </a:lvl6pPr>
            <a:lvl7pPr marL="3200400" lvl="6" indent="-355600" algn="l">
              <a:lnSpc>
                <a:spcPct val="90000"/>
              </a:lnSpc>
              <a:spcBef>
                <a:spcPts val="500"/>
              </a:spcBef>
              <a:spcAft>
                <a:spcPts val="0"/>
              </a:spcAft>
              <a:buClr>
                <a:schemeClr val="dk1"/>
              </a:buClr>
              <a:buSzPts val="2000"/>
              <a:buChar char="•"/>
              <a:defRPr sz="2000"/>
            </a:lvl7pPr>
            <a:lvl8pPr marL="3657600" lvl="7" indent="-355600" algn="l">
              <a:lnSpc>
                <a:spcPct val="90000"/>
              </a:lnSpc>
              <a:spcBef>
                <a:spcPts val="500"/>
              </a:spcBef>
              <a:spcAft>
                <a:spcPts val="0"/>
              </a:spcAft>
              <a:buClr>
                <a:schemeClr val="dk1"/>
              </a:buClr>
              <a:buSzPts val="2000"/>
              <a:buChar char="•"/>
              <a:defRPr sz="2000"/>
            </a:lvl8pPr>
            <a:lvl9pPr marL="4114800" lvl="8" indent="-355600" algn="l">
              <a:lnSpc>
                <a:spcPct val="90000"/>
              </a:lnSpc>
              <a:spcBef>
                <a:spcPts val="500"/>
              </a:spcBef>
              <a:spcAft>
                <a:spcPts val="0"/>
              </a:spcAft>
              <a:buClr>
                <a:schemeClr val="dk1"/>
              </a:buClr>
              <a:buSzPts val="2000"/>
              <a:buChar char="•"/>
              <a:defRPr sz="2000"/>
            </a:lvl9pPr>
          </a:lstStyle>
          <a:p>
            <a:endParaRPr/>
          </a:p>
        </p:txBody>
      </p:sp>
      <p:sp>
        <p:nvSpPr>
          <p:cNvPr id="61" name="Google Shape;61;p17"/>
          <p:cNvSpPr txBox="1">
            <a:spLocks noGrp="1"/>
          </p:cNvSpPr>
          <p:nvPr>
            <p:ph type="body" idx="2"/>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62" name="Google Shape;62;p17"/>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3" name="Google Shape;63;p17"/>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4" name="Google Shape;64;p17"/>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pt-BR"/>
              <a:t>‹nº›</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Imagem com Legenda" type="picTx">
  <p:cSld name="PICTURE_WITH_CAPTION_TEXT">
    <p:spTree>
      <p:nvGrpSpPr>
        <p:cNvPr id="1" name="Shape 65"/>
        <p:cNvGrpSpPr/>
        <p:nvPr/>
      </p:nvGrpSpPr>
      <p:grpSpPr>
        <a:xfrm>
          <a:off x="0" y="0"/>
          <a:ext cx="0" cy="0"/>
          <a:chOff x="0" y="0"/>
          <a:chExt cx="0" cy="0"/>
        </a:xfrm>
      </p:grpSpPr>
      <p:sp>
        <p:nvSpPr>
          <p:cNvPr id="66" name="Google Shape;66;p18"/>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7" name="Google Shape;67;p18"/>
          <p:cNvSpPr>
            <a:spLocks noGrp="1"/>
          </p:cNvSpPr>
          <p:nvPr>
            <p:ph type="pic" idx="2"/>
          </p:nvPr>
        </p:nvSpPr>
        <p:spPr>
          <a:xfrm>
            <a:off x="5183188" y="987425"/>
            <a:ext cx="6172200" cy="4873625"/>
          </a:xfrm>
          <a:prstGeom prst="rect">
            <a:avLst/>
          </a:prstGeom>
          <a:noFill/>
          <a:ln>
            <a:noFill/>
          </a:ln>
        </p:spPr>
      </p:sp>
      <p:sp>
        <p:nvSpPr>
          <p:cNvPr id="68" name="Google Shape;68;p18"/>
          <p:cNvSpPr txBox="1">
            <a:spLocks noGrp="1"/>
          </p:cNvSpPr>
          <p:nvPr>
            <p:ph type="body" idx="1"/>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69" name="Google Shape;69;p18"/>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0" name="Google Shape;70;p18"/>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1" name="Google Shape;71;p18"/>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pt-BR"/>
              <a:t>‹nº›</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ítulo e Texto Vertical" type="vertTx">
  <p:cSld name="VERTICAL_TEXT">
    <p:spTree>
      <p:nvGrpSpPr>
        <p:cNvPr id="1" name="Shape 72"/>
        <p:cNvGrpSpPr/>
        <p:nvPr/>
      </p:nvGrpSpPr>
      <p:grpSpPr>
        <a:xfrm>
          <a:off x="0" y="0"/>
          <a:ext cx="0" cy="0"/>
          <a:chOff x="0" y="0"/>
          <a:chExt cx="0" cy="0"/>
        </a:xfrm>
      </p:grpSpPr>
      <p:sp>
        <p:nvSpPr>
          <p:cNvPr id="73" name="Google Shape;73;p19"/>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4" name="Google Shape;74;p19"/>
          <p:cNvSpPr txBox="1">
            <a:spLocks noGrp="1"/>
          </p:cNvSpPr>
          <p:nvPr>
            <p:ph type="body" idx="1"/>
          </p:nvPr>
        </p:nvSpPr>
        <p:spPr>
          <a:xfrm rot="5400000">
            <a:off x="3920331" y="-1256506"/>
            <a:ext cx="4351338" cy="105156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5" name="Google Shape;75;p19"/>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6" name="Google Shape;76;p19"/>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7" name="Google Shape;77;p19"/>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pt-BR"/>
              <a:t>‹nº›</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Texto e Título Vertical" type="vertTitleAndTx">
  <p:cSld name="VERTICAL_TITLE_AND_VERTICAL_TEXT">
    <p:spTree>
      <p:nvGrpSpPr>
        <p:cNvPr id="1" name="Shape 78"/>
        <p:cNvGrpSpPr/>
        <p:nvPr/>
      </p:nvGrpSpPr>
      <p:grpSpPr>
        <a:xfrm>
          <a:off x="0" y="0"/>
          <a:ext cx="0" cy="0"/>
          <a:chOff x="0" y="0"/>
          <a:chExt cx="0" cy="0"/>
        </a:xfrm>
      </p:grpSpPr>
      <p:sp>
        <p:nvSpPr>
          <p:cNvPr id="79" name="Google Shape;79;p20"/>
          <p:cNvSpPr txBox="1">
            <a:spLocks noGrp="1"/>
          </p:cNvSpPr>
          <p:nvPr>
            <p:ph type="title"/>
          </p:nvPr>
        </p:nvSpPr>
        <p:spPr>
          <a:xfrm rot="5400000">
            <a:off x="7133431" y="1956594"/>
            <a:ext cx="5811838" cy="26289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80" name="Google Shape;80;p20"/>
          <p:cNvSpPr txBox="1">
            <a:spLocks noGrp="1"/>
          </p:cNvSpPr>
          <p:nvPr>
            <p:ph type="body" idx="1"/>
          </p:nvPr>
        </p:nvSpPr>
        <p:spPr>
          <a:xfrm rot="5400000">
            <a:off x="1799431" y="-596106"/>
            <a:ext cx="5811838" cy="77343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81" name="Google Shape;81;p20"/>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2" name="Google Shape;82;p20"/>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3" name="Google Shape;83;p20"/>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pt-BR"/>
              <a:t>‹nº›</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9"/>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11" name="Google Shape;11;p9"/>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12" name="Google Shape;12;p9"/>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3" name="Google Shape;13;p9"/>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4" name="Google Shape;14;p9"/>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b="0" i="0" u="none" strike="noStrike" cap="none">
                <a:solidFill>
                  <a:srgbClr val="888888"/>
                </a:solidFill>
                <a:latin typeface="Calibri"/>
                <a:ea typeface="Calibri"/>
                <a:cs typeface="Calibri"/>
                <a:sym typeface="Calibri"/>
              </a:defRPr>
            </a:lvl1pPr>
            <a:lvl2pPr marL="0" marR="0" lvl="1" indent="0" algn="r" rtl="0">
              <a:spcBef>
                <a:spcPts val="0"/>
              </a:spcBef>
              <a:buNone/>
              <a:defRPr sz="1200" b="0" i="0" u="none" strike="noStrike" cap="none">
                <a:solidFill>
                  <a:srgbClr val="888888"/>
                </a:solidFill>
                <a:latin typeface="Calibri"/>
                <a:ea typeface="Calibri"/>
                <a:cs typeface="Calibri"/>
                <a:sym typeface="Calibri"/>
              </a:defRPr>
            </a:lvl2pPr>
            <a:lvl3pPr marL="0" marR="0" lvl="2" indent="0" algn="r" rtl="0">
              <a:spcBef>
                <a:spcPts val="0"/>
              </a:spcBef>
              <a:buNone/>
              <a:defRPr sz="1200" b="0" i="0" u="none" strike="noStrike" cap="none">
                <a:solidFill>
                  <a:srgbClr val="888888"/>
                </a:solidFill>
                <a:latin typeface="Calibri"/>
                <a:ea typeface="Calibri"/>
                <a:cs typeface="Calibri"/>
                <a:sym typeface="Calibri"/>
              </a:defRPr>
            </a:lvl3pPr>
            <a:lvl4pPr marL="0" marR="0" lvl="3" indent="0" algn="r" rtl="0">
              <a:spcBef>
                <a:spcPts val="0"/>
              </a:spcBef>
              <a:buNone/>
              <a:defRPr sz="1200" b="0" i="0" u="none" strike="noStrike" cap="none">
                <a:solidFill>
                  <a:srgbClr val="888888"/>
                </a:solidFill>
                <a:latin typeface="Calibri"/>
                <a:ea typeface="Calibri"/>
                <a:cs typeface="Calibri"/>
                <a:sym typeface="Calibri"/>
              </a:defRPr>
            </a:lvl4pPr>
            <a:lvl5pPr marL="0" marR="0" lvl="4" indent="0" algn="r" rtl="0">
              <a:spcBef>
                <a:spcPts val="0"/>
              </a:spcBef>
              <a:buNone/>
              <a:defRPr sz="1200" b="0" i="0" u="none" strike="noStrike" cap="none">
                <a:solidFill>
                  <a:srgbClr val="888888"/>
                </a:solidFill>
                <a:latin typeface="Calibri"/>
                <a:ea typeface="Calibri"/>
                <a:cs typeface="Calibri"/>
                <a:sym typeface="Calibri"/>
              </a:defRPr>
            </a:lvl5pPr>
            <a:lvl6pPr marL="0" marR="0" lvl="5" indent="0" algn="r" rtl="0">
              <a:spcBef>
                <a:spcPts val="0"/>
              </a:spcBef>
              <a:buNone/>
              <a:defRPr sz="1200" b="0" i="0" u="none" strike="noStrike" cap="none">
                <a:solidFill>
                  <a:srgbClr val="888888"/>
                </a:solidFill>
                <a:latin typeface="Calibri"/>
                <a:ea typeface="Calibri"/>
                <a:cs typeface="Calibri"/>
                <a:sym typeface="Calibri"/>
              </a:defRPr>
            </a:lvl6pPr>
            <a:lvl7pPr marL="0" marR="0" lvl="6" indent="0" algn="r" rtl="0">
              <a:spcBef>
                <a:spcPts val="0"/>
              </a:spcBef>
              <a:buNone/>
              <a:defRPr sz="1200" b="0" i="0" u="none" strike="noStrike" cap="none">
                <a:solidFill>
                  <a:srgbClr val="888888"/>
                </a:solidFill>
                <a:latin typeface="Calibri"/>
                <a:ea typeface="Calibri"/>
                <a:cs typeface="Calibri"/>
                <a:sym typeface="Calibri"/>
              </a:defRPr>
            </a:lvl7pPr>
            <a:lvl8pPr marL="0" marR="0" lvl="7" indent="0" algn="r" rtl="0">
              <a:spcBef>
                <a:spcPts val="0"/>
              </a:spcBef>
              <a:buNone/>
              <a:defRPr sz="1200" b="0" i="0" u="none" strike="noStrike" cap="none">
                <a:solidFill>
                  <a:srgbClr val="888888"/>
                </a:solidFill>
                <a:latin typeface="Calibri"/>
                <a:ea typeface="Calibri"/>
                <a:cs typeface="Calibri"/>
                <a:sym typeface="Calibri"/>
              </a:defRPr>
            </a:lvl8pPr>
            <a:lvl9pPr marL="0" marR="0" lvl="8" indent="0" algn="r" rtl="0">
              <a:spcBef>
                <a:spcPts val="0"/>
              </a:spcBef>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pt-BR"/>
              <a:t>‹nº›</a:t>
            </a:fld>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0.xml"/><Relationship Id="rId1" Type="http://schemas.openxmlformats.org/officeDocument/2006/relationships/slideLayout" Target="../slideLayouts/slideLayout2.xml"/><Relationship Id="rId4" Type="http://schemas.openxmlformats.org/officeDocument/2006/relationships/image" Target="../media/image4.png"/></Relationships>
</file>

<file path=ppt/slides/_rels/slide2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1.xml"/><Relationship Id="rId1" Type="http://schemas.openxmlformats.org/officeDocument/2006/relationships/slideLayout" Target="../slideLayouts/slideLayout2.xml"/><Relationship Id="rId4" Type="http://schemas.openxmlformats.org/officeDocument/2006/relationships/image" Target="../media/image5.png"/></Relationships>
</file>

<file path=ppt/slides/_rels/slide2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2.xml"/><Relationship Id="rId1" Type="http://schemas.openxmlformats.org/officeDocument/2006/relationships/slideLayout" Target="../slideLayouts/slideLayout2.xml"/><Relationship Id="rId4" Type="http://schemas.openxmlformats.org/officeDocument/2006/relationships/image" Target="../media/image6.png"/></Relationships>
</file>

<file path=ppt/slides/_rels/slide2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3.xml"/><Relationship Id="rId1" Type="http://schemas.openxmlformats.org/officeDocument/2006/relationships/slideLayout" Target="../slideLayouts/slideLayout2.xml"/><Relationship Id="rId4" Type="http://schemas.openxmlformats.org/officeDocument/2006/relationships/image" Target="../media/image7.png"/></Relationships>
</file>

<file path=ppt/slides/_rels/slide2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4.xml"/><Relationship Id="rId1" Type="http://schemas.openxmlformats.org/officeDocument/2006/relationships/slideLayout" Target="../slideLayouts/slideLayout2.xml"/><Relationship Id="rId5" Type="http://schemas.openxmlformats.org/officeDocument/2006/relationships/image" Target="../media/image9.png"/><Relationship Id="rId4" Type="http://schemas.openxmlformats.org/officeDocument/2006/relationships/image" Target="../media/image8.png"/></Relationships>
</file>

<file path=ppt/slides/_rels/slide2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5.xml"/><Relationship Id="rId1" Type="http://schemas.openxmlformats.org/officeDocument/2006/relationships/slideLayout" Target="../slideLayouts/slideLayout2.xml"/><Relationship Id="rId4" Type="http://schemas.openxmlformats.org/officeDocument/2006/relationships/image" Target="../media/image10.png"/></Relationships>
</file>

<file path=ppt/slides/_rels/slide2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6.xml"/><Relationship Id="rId1" Type="http://schemas.openxmlformats.org/officeDocument/2006/relationships/slideLayout" Target="../slideLayouts/slideLayout2.xml"/><Relationship Id="rId4" Type="http://schemas.openxmlformats.org/officeDocument/2006/relationships/image" Target="../media/image11.png"/></Relationships>
</file>

<file path=ppt/slides/_rels/slide2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7.xml"/><Relationship Id="rId1" Type="http://schemas.openxmlformats.org/officeDocument/2006/relationships/slideLayout" Target="../slideLayouts/slideLayout2.xml"/><Relationship Id="rId4" Type="http://schemas.openxmlformats.org/officeDocument/2006/relationships/image" Target="../media/image12.png"/></Relationships>
</file>

<file path=ppt/slides/_rels/slide2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8.xml"/><Relationship Id="rId1" Type="http://schemas.openxmlformats.org/officeDocument/2006/relationships/slideLayout" Target="../slideLayouts/slideLayout2.xml"/><Relationship Id="rId4" Type="http://schemas.openxmlformats.org/officeDocument/2006/relationships/image" Target="../media/image13.png"/></Relationships>
</file>

<file path=ppt/slides/_rels/slide2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9.xml"/><Relationship Id="rId1" Type="http://schemas.openxmlformats.org/officeDocument/2006/relationships/slideLayout" Target="../slideLayouts/slideLayout2.xml"/><Relationship Id="rId4" Type="http://schemas.openxmlformats.org/officeDocument/2006/relationships/image" Target="../media/image14.png"/></Relationships>
</file>

<file path=ppt/slides/_rels/slide3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0.xml"/><Relationship Id="rId1" Type="http://schemas.openxmlformats.org/officeDocument/2006/relationships/slideLayout" Target="../slideLayouts/slideLayout2.xml"/><Relationship Id="rId4" Type="http://schemas.openxmlformats.org/officeDocument/2006/relationships/image" Target="../media/image15.png"/></Relationships>
</file>

<file path=ppt/slides/_rels/slide3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1.xml"/><Relationship Id="rId1" Type="http://schemas.openxmlformats.org/officeDocument/2006/relationships/slideLayout" Target="../slideLayouts/slideLayout2.xml"/><Relationship Id="rId4" Type="http://schemas.openxmlformats.org/officeDocument/2006/relationships/image" Target="../media/image16.png"/></Relationships>
</file>

<file path=ppt/slides/_rels/slide3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2.xml"/><Relationship Id="rId1" Type="http://schemas.openxmlformats.org/officeDocument/2006/relationships/slideLayout" Target="../slideLayouts/slideLayout2.xml"/><Relationship Id="rId4" Type="http://schemas.openxmlformats.org/officeDocument/2006/relationships/image" Target="../media/image17.png"/></Relationships>
</file>

<file path=ppt/slides/_rels/slide3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3.xml"/><Relationship Id="rId1" Type="http://schemas.openxmlformats.org/officeDocument/2006/relationships/slideLayout" Target="../slideLayouts/slideLayout2.xml"/><Relationship Id="rId4" Type="http://schemas.openxmlformats.org/officeDocument/2006/relationships/image" Target="../media/image18.png"/></Relationships>
</file>

<file path=ppt/slides/_rels/slide3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4.xml"/><Relationship Id="rId1" Type="http://schemas.openxmlformats.org/officeDocument/2006/relationships/slideLayout" Target="../slideLayouts/slideLayout2.xml"/><Relationship Id="rId4" Type="http://schemas.openxmlformats.org/officeDocument/2006/relationships/image" Target="../media/image19.png"/></Relationships>
</file>

<file path=ppt/slides/_rels/slide3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5.xml"/><Relationship Id="rId1" Type="http://schemas.openxmlformats.org/officeDocument/2006/relationships/slideLayout" Target="../slideLayouts/slideLayout2.xml"/><Relationship Id="rId4" Type="http://schemas.openxmlformats.org/officeDocument/2006/relationships/image" Target="../media/image20.png"/></Relationships>
</file>

<file path=ppt/slides/_rels/slide3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6.xml"/><Relationship Id="rId1" Type="http://schemas.openxmlformats.org/officeDocument/2006/relationships/slideLayout" Target="../slideLayouts/slideLayout2.xml"/><Relationship Id="rId4" Type="http://schemas.openxmlformats.org/officeDocument/2006/relationships/image" Target="../media/image21.png"/></Relationships>
</file>

<file path=ppt/slides/_rels/slide3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7.xml"/><Relationship Id="rId1" Type="http://schemas.openxmlformats.org/officeDocument/2006/relationships/slideLayout" Target="../slideLayouts/slideLayout2.xml"/><Relationship Id="rId4" Type="http://schemas.openxmlformats.org/officeDocument/2006/relationships/image" Target="../media/image22.png"/></Relationships>
</file>

<file path=ppt/slides/_rels/slide3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8.xml"/><Relationship Id="rId1" Type="http://schemas.openxmlformats.org/officeDocument/2006/relationships/slideLayout" Target="../slideLayouts/slideLayout2.xml"/><Relationship Id="rId4" Type="http://schemas.openxmlformats.org/officeDocument/2006/relationships/image" Target="../media/image23.png"/></Relationships>
</file>

<file path=ppt/slides/_rels/slide3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9.xml"/><Relationship Id="rId1" Type="http://schemas.openxmlformats.org/officeDocument/2006/relationships/slideLayout" Target="../slideLayouts/slideLayout2.xml"/><Relationship Id="rId4" Type="http://schemas.openxmlformats.org/officeDocument/2006/relationships/image" Target="../media/image24.png"/></Relationships>
</file>

<file path=ppt/slides/_rels/slide4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0.xml"/><Relationship Id="rId1" Type="http://schemas.openxmlformats.org/officeDocument/2006/relationships/slideLayout" Target="../slideLayouts/slideLayout2.xml"/><Relationship Id="rId4" Type="http://schemas.openxmlformats.org/officeDocument/2006/relationships/image" Target="../media/image25.png"/></Relationships>
</file>

<file path=ppt/slides/_rels/slide4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1.xml"/><Relationship Id="rId1" Type="http://schemas.openxmlformats.org/officeDocument/2006/relationships/slideLayout" Target="../slideLayouts/slideLayout2.xml"/><Relationship Id="rId4" Type="http://schemas.openxmlformats.org/officeDocument/2006/relationships/image" Target="../media/image26.png"/></Relationships>
</file>

<file path=ppt/slides/_rels/slide4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2.xml"/><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3.xml"/><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4.xml"/><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5.xml"/><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6.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87"/>
        <p:cNvGrpSpPr/>
        <p:nvPr/>
      </p:nvGrpSpPr>
      <p:grpSpPr>
        <a:xfrm>
          <a:off x="0" y="0"/>
          <a:ext cx="0" cy="0"/>
          <a:chOff x="0" y="0"/>
          <a:chExt cx="0" cy="0"/>
        </a:xfrm>
      </p:grpSpPr>
      <p:sp>
        <p:nvSpPr>
          <p:cNvPr id="88" name="Google Shape;88;p1"/>
          <p:cNvSpPr txBox="1">
            <a:spLocks noGrp="1"/>
          </p:cNvSpPr>
          <p:nvPr>
            <p:ph type="ctrTitle"/>
          </p:nvPr>
        </p:nvSpPr>
        <p:spPr>
          <a:xfrm>
            <a:off x="439332" y="2929631"/>
            <a:ext cx="11313335" cy="2185531"/>
          </a:xfrm>
          <a:prstGeom prst="rect">
            <a:avLst/>
          </a:prstGeom>
          <a:noFill/>
          <a:ln>
            <a:noFill/>
          </a:ln>
        </p:spPr>
        <p:txBody>
          <a:bodyPr spcFirstLastPara="1" wrap="square" lIns="91425" tIns="45700" rIns="91425" bIns="45700" anchor="b" anchorCtr="0">
            <a:noAutofit/>
          </a:bodyPr>
          <a:lstStyle/>
          <a:p>
            <a:pPr lvl="0">
              <a:lnSpc>
                <a:spcPct val="100000"/>
              </a:lnSpc>
              <a:buSzPts val="1100"/>
            </a:pPr>
            <a:r>
              <a:rPr lang="pt-BR" sz="4400" dirty="0">
                <a:latin typeface="+mj-lt"/>
              </a:rPr>
              <a:t>AS MÁQUINAS ECONÔMICAS: </a:t>
            </a:r>
            <a:br>
              <a:rPr lang="pt-BR" sz="4400" dirty="0">
                <a:latin typeface="+mj-lt"/>
              </a:rPr>
            </a:br>
            <a:r>
              <a:rPr lang="pt-BR" sz="4400" dirty="0">
                <a:latin typeface="+mj-lt"/>
              </a:rPr>
              <a:t>PREDIÇÃO DO PIB BRASILEIRO UTILIZANDO INTELIGÊNCIA ARTIFICIAL</a:t>
            </a:r>
            <a:endParaRPr lang="pt-BR" sz="4400" b="1" dirty="0">
              <a:latin typeface="+mj-lt"/>
              <a:ea typeface="Arial"/>
              <a:cs typeface="Arial"/>
              <a:sym typeface="Arial"/>
            </a:endParaRPr>
          </a:p>
        </p:txBody>
      </p:sp>
      <p:pic>
        <p:nvPicPr>
          <p:cNvPr id="89" name="Google Shape;89;p1"/>
          <p:cNvPicPr preferRelativeResize="0"/>
          <p:nvPr/>
        </p:nvPicPr>
        <p:blipFill rotWithShape="1">
          <a:blip r:embed="rId3">
            <a:alphaModFix/>
          </a:blip>
          <a:srcRect/>
          <a:stretch/>
        </p:blipFill>
        <p:spPr>
          <a:xfrm>
            <a:off x="0" y="-212900"/>
            <a:ext cx="12192000" cy="2766060"/>
          </a:xfrm>
          <a:prstGeom prst="rect">
            <a:avLst/>
          </a:prstGeom>
          <a:noFill/>
          <a:ln>
            <a:noFill/>
          </a:ln>
        </p:spPr>
      </p:pic>
      <p:sp>
        <p:nvSpPr>
          <p:cNvPr id="90" name="Google Shape;90;p1"/>
          <p:cNvSpPr txBox="1"/>
          <p:nvPr/>
        </p:nvSpPr>
        <p:spPr>
          <a:xfrm>
            <a:off x="332800" y="5491633"/>
            <a:ext cx="7098900" cy="769401"/>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pt-BR" sz="2200" dirty="0">
                <a:solidFill>
                  <a:schemeClr val="tx1"/>
                </a:solidFill>
              </a:rPr>
              <a:t>Autor: Leonilso </a:t>
            </a:r>
            <a:r>
              <a:rPr lang="pt-BR" sz="2200" dirty="0" err="1">
                <a:solidFill>
                  <a:schemeClr val="tx1"/>
                </a:solidFill>
              </a:rPr>
              <a:t>Fandres</a:t>
            </a:r>
            <a:r>
              <a:rPr lang="pt-BR" sz="2200" dirty="0">
                <a:solidFill>
                  <a:schemeClr val="tx1"/>
                </a:solidFill>
              </a:rPr>
              <a:t> Wrublak</a:t>
            </a:r>
          </a:p>
          <a:p>
            <a:pPr marL="0" marR="0" lvl="0" indent="0" algn="l" rtl="0">
              <a:spcBef>
                <a:spcPts val="0"/>
              </a:spcBef>
              <a:spcAft>
                <a:spcPts val="0"/>
              </a:spcAft>
              <a:buNone/>
            </a:pPr>
            <a:r>
              <a:rPr lang="pt-BR" sz="2200" dirty="0">
                <a:solidFill>
                  <a:schemeClr val="tx1"/>
                </a:solidFill>
              </a:rPr>
              <a:t>Orientador: Prof. Dr. Alexandre Manoel dos Santos</a:t>
            </a:r>
            <a:endParaRPr sz="2200" dirty="0">
              <a:solidFill>
                <a:schemeClr val="tx1"/>
              </a:solidFill>
            </a:endParaRPr>
          </a:p>
        </p:txBody>
      </p:sp>
      <p:sp>
        <p:nvSpPr>
          <p:cNvPr id="91" name="Google Shape;91;p1"/>
          <p:cNvSpPr txBox="1">
            <a:spLocks noGrp="1"/>
          </p:cNvSpPr>
          <p:nvPr>
            <p:ph type="sldNum" idx="12"/>
          </p:nvPr>
        </p:nvSpPr>
        <p:spPr>
          <a:xfrm>
            <a:off x="9448800" y="6492900"/>
            <a:ext cx="2743200" cy="365100"/>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pt-BR" sz="1800"/>
              <a:t>1</a:t>
            </a:fld>
            <a:endParaRPr sz="18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95"/>
        <p:cNvGrpSpPr/>
        <p:nvPr/>
      </p:nvGrpSpPr>
      <p:grpSpPr>
        <a:xfrm>
          <a:off x="0" y="0"/>
          <a:ext cx="0" cy="0"/>
          <a:chOff x="0" y="0"/>
          <a:chExt cx="0" cy="0"/>
        </a:xfrm>
      </p:grpSpPr>
      <p:sp>
        <p:nvSpPr>
          <p:cNvPr id="96" name="Google Shape;96;p2"/>
          <p:cNvSpPr txBox="1">
            <a:spLocks noGrp="1"/>
          </p:cNvSpPr>
          <p:nvPr>
            <p:ph type="title"/>
          </p:nvPr>
        </p:nvSpPr>
        <p:spPr>
          <a:xfrm>
            <a:off x="170268" y="190105"/>
            <a:ext cx="10329566" cy="768438"/>
          </a:xfrm>
          <a:prstGeom prst="rect">
            <a:avLst/>
          </a:prstGeom>
          <a:noFill/>
          <a:ln>
            <a:noFill/>
          </a:ln>
        </p:spPr>
        <p:txBody>
          <a:bodyPr spcFirstLastPara="1" wrap="square" lIns="91425" tIns="45700" rIns="91425" bIns="45700" anchor="ctr" anchorCtr="0">
            <a:noAutofit/>
          </a:bodyPr>
          <a:lstStyle/>
          <a:p>
            <a:pPr lvl="0">
              <a:buSzPts val="4400"/>
            </a:pPr>
            <a:r>
              <a:rPr lang="pt-BR" sz="3200" b="1" dirty="0">
                <a:latin typeface="+mj-lt"/>
              </a:rPr>
              <a:t>Introdução</a:t>
            </a:r>
            <a:endParaRPr sz="3200" b="1" dirty="0">
              <a:latin typeface="+mj-lt"/>
            </a:endParaRPr>
          </a:p>
        </p:txBody>
      </p:sp>
      <p:sp>
        <p:nvSpPr>
          <p:cNvPr id="97" name="Google Shape;97;p2"/>
          <p:cNvSpPr txBox="1">
            <a:spLocks noGrp="1"/>
          </p:cNvSpPr>
          <p:nvPr>
            <p:ph type="body" idx="1"/>
          </p:nvPr>
        </p:nvSpPr>
        <p:spPr>
          <a:xfrm>
            <a:off x="170268" y="1092372"/>
            <a:ext cx="11855669" cy="5732658"/>
          </a:xfrm>
          <a:prstGeom prst="rect">
            <a:avLst/>
          </a:prstGeom>
          <a:noFill/>
          <a:ln>
            <a:noFill/>
          </a:ln>
        </p:spPr>
        <p:txBody>
          <a:bodyPr spcFirstLastPara="1" wrap="square" lIns="91425" tIns="45700" rIns="91425" bIns="45700" anchor="t" anchorCtr="0">
            <a:noAutofit/>
          </a:bodyPr>
          <a:lstStyle/>
          <a:p>
            <a:pPr marL="0" indent="-457200">
              <a:buNone/>
            </a:pPr>
            <a:r>
              <a:rPr lang="pt-BR" sz="2400" dirty="0">
                <a:latin typeface="+mn-lt"/>
              </a:rPr>
              <a:t>Para onde vamos? Uma das questões fundamentais da natureza humana, objeto de estudo de diferentes ciências, dentre elas, a economia. Parte do trabalho de um economista é entender os fatos passados e presentes para predizer (ou tentar) o futuro.</a:t>
            </a:r>
          </a:p>
          <a:p>
            <a:pPr marL="0" indent="-457200">
              <a:buNone/>
            </a:pPr>
            <a:r>
              <a:rPr lang="pt-BR" sz="2400" dirty="0">
                <a:latin typeface="+mn-lt"/>
              </a:rPr>
              <a:t>E é a escassez  a motivadora para a preocupação dos economistas com o futuro. Afinal “a economia é o estudo de como a sociedade administra seus recursos escassos”. (</a:t>
            </a:r>
            <a:r>
              <a:rPr lang="pt-BR" sz="2400" dirty="0" err="1">
                <a:latin typeface="+mn-lt"/>
              </a:rPr>
              <a:t>Mankiw</a:t>
            </a:r>
            <a:r>
              <a:rPr lang="pt-BR" sz="2400" dirty="0">
                <a:latin typeface="+mn-lt"/>
              </a:rPr>
              <a:t>, 2025, p. 1). </a:t>
            </a:r>
          </a:p>
          <a:p>
            <a:pPr marL="0" indent="-457200">
              <a:buNone/>
            </a:pPr>
            <a:r>
              <a:rPr lang="pt-BR" sz="2400" dirty="0">
                <a:latin typeface="+mn-lt"/>
              </a:rPr>
              <a:t>De fato prever o futuro com precisão é impossível atualmente, o que nos leva a noção de incerteza, proposta por Keynes (1936). </a:t>
            </a:r>
          </a:p>
          <a:p>
            <a:pPr marL="0" indent="-457200">
              <a:buNone/>
            </a:pPr>
            <a:r>
              <a:rPr lang="pt-BR" sz="2400" dirty="0">
                <a:latin typeface="+mn-lt"/>
              </a:rPr>
              <a:t>Porém as decisões ainda precisam ser tomadas, para fundamentar as decisões, sem depender unicamente de intuição, são necessárias informações, e essas devem ser extraídas de dados brutos.</a:t>
            </a:r>
          </a:p>
          <a:p>
            <a:pPr marL="0" indent="-457200">
              <a:buNone/>
            </a:pPr>
            <a:r>
              <a:rPr lang="pt-BR" sz="2400" dirty="0">
                <a:latin typeface="+mn-lt"/>
              </a:rPr>
              <a:t>Dados estes que são produzidos a cada atividade humana, porém o processo de coleta e transformação desses dados em informação vem sendo alterado nas últimas décadas, e justamente esses novos métodos são o objeto do presente estudo.</a:t>
            </a:r>
          </a:p>
        </p:txBody>
      </p:sp>
      <p:pic>
        <p:nvPicPr>
          <p:cNvPr id="98" name="Google Shape;98;p2" descr="Universidade Federal da Fronteira Sul – Wikipédia, a enciclopédia livre"/>
          <p:cNvPicPr preferRelativeResize="0"/>
          <p:nvPr/>
        </p:nvPicPr>
        <p:blipFill rotWithShape="1">
          <a:blip r:embed="rId3">
            <a:alphaModFix/>
          </a:blip>
          <a:srcRect/>
          <a:stretch/>
        </p:blipFill>
        <p:spPr>
          <a:xfrm>
            <a:off x="10978329" y="18255"/>
            <a:ext cx="975614" cy="1325563"/>
          </a:xfrm>
          <a:prstGeom prst="rect">
            <a:avLst/>
          </a:prstGeom>
          <a:noFill/>
          <a:ln>
            <a:noFill/>
          </a:ln>
        </p:spPr>
      </p:pic>
      <p:sp>
        <p:nvSpPr>
          <p:cNvPr id="99" name="Google Shape;99;p2"/>
          <p:cNvSpPr/>
          <p:nvPr/>
        </p:nvSpPr>
        <p:spPr>
          <a:xfrm>
            <a:off x="170268" y="958543"/>
            <a:ext cx="10515600" cy="63062"/>
          </a:xfrm>
          <a:prstGeom prst="rect">
            <a:avLst/>
          </a:prstGeom>
          <a:solidFill>
            <a:srgbClr val="548135"/>
          </a:solidFill>
          <a:ln w="12700" cap="flat" cmpd="sng">
            <a:solidFill>
              <a:srgbClr val="1C3052"/>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00" name="Google Shape;100;p2"/>
          <p:cNvSpPr txBox="1">
            <a:spLocks noGrp="1"/>
          </p:cNvSpPr>
          <p:nvPr>
            <p:ph type="sldNum" idx="12"/>
          </p:nvPr>
        </p:nvSpPr>
        <p:spPr>
          <a:xfrm>
            <a:off x="9440152" y="6492875"/>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pt-BR" sz="1800" smtClean="0"/>
              <a:t>2</a:t>
            </a:fld>
            <a:endParaRPr sz="18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95"/>
        <p:cNvGrpSpPr/>
        <p:nvPr/>
      </p:nvGrpSpPr>
      <p:grpSpPr>
        <a:xfrm>
          <a:off x="0" y="0"/>
          <a:ext cx="0" cy="0"/>
          <a:chOff x="0" y="0"/>
          <a:chExt cx="0" cy="0"/>
        </a:xfrm>
      </p:grpSpPr>
      <p:sp>
        <p:nvSpPr>
          <p:cNvPr id="96" name="Google Shape;96;p2"/>
          <p:cNvSpPr txBox="1">
            <a:spLocks noGrp="1"/>
          </p:cNvSpPr>
          <p:nvPr>
            <p:ph type="title"/>
          </p:nvPr>
        </p:nvSpPr>
        <p:spPr>
          <a:xfrm>
            <a:off x="170268" y="190105"/>
            <a:ext cx="10329566" cy="768438"/>
          </a:xfrm>
          <a:prstGeom prst="rect">
            <a:avLst/>
          </a:prstGeom>
          <a:noFill/>
          <a:ln>
            <a:noFill/>
          </a:ln>
        </p:spPr>
        <p:txBody>
          <a:bodyPr spcFirstLastPara="1" wrap="square" lIns="91425" tIns="45700" rIns="91425" bIns="45700" anchor="ctr" anchorCtr="0">
            <a:noAutofit/>
          </a:bodyPr>
          <a:lstStyle/>
          <a:p>
            <a:pPr lvl="0">
              <a:buSzPts val="4400"/>
            </a:pPr>
            <a:r>
              <a:rPr lang="pt-BR" sz="3200" b="1" dirty="0">
                <a:latin typeface="+mj-lt"/>
              </a:rPr>
              <a:t>Introdução</a:t>
            </a:r>
            <a:endParaRPr sz="3200" b="1" dirty="0">
              <a:latin typeface="+mj-lt"/>
            </a:endParaRPr>
          </a:p>
        </p:txBody>
      </p:sp>
      <p:pic>
        <p:nvPicPr>
          <p:cNvPr id="98" name="Google Shape;98;p2" descr="Universidade Federal da Fronteira Sul – Wikipédia, a enciclopédia livre"/>
          <p:cNvPicPr preferRelativeResize="0"/>
          <p:nvPr/>
        </p:nvPicPr>
        <p:blipFill rotWithShape="1">
          <a:blip r:embed="rId3">
            <a:alphaModFix/>
          </a:blip>
          <a:srcRect/>
          <a:stretch/>
        </p:blipFill>
        <p:spPr>
          <a:xfrm>
            <a:off x="10978329" y="18255"/>
            <a:ext cx="975614" cy="1325563"/>
          </a:xfrm>
          <a:prstGeom prst="rect">
            <a:avLst/>
          </a:prstGeom>
          <a:noFill/>
          <a:ln>
            <a:noFill/>
          </a:ln>
        </p:spPr>
      </p:pic>
      <p:sp>
        <p:nvSpPr>
          <p:cNvPr id="99" name="Google Shape;99;p2"/>
          <p:cNvSpPr/>
          <p:nvPr/>
        </p:nvSpPr>
        <p:spPr>
          <a:xfrm>
            <a:off x="170268" y="958543"/>
            <a:ext cx="10515600" cy="63062"/>
          </a:xfrm>
          <a:prstGeom prst="rect">
            <a:avLst/>
          </a:prstGeom>
          <a:solidFill>
            <a:srgbClr val="548135"/>
          </a:solidFill>
          <a:ln w="12700" cap="flat" cmpd="sng">
            <a:solidFill>
              <a:srgbClr val="1C3052"/>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00" name="Google Shape;100;p2"/>
          <p:cNvSpPr txBox="1">
            <a:spLocks noGrp="1"/>
          </p:cNvSpPr>
          <p:nvPr>
            <p:ph type="sldNum" idx="12"/>
          </p:nvPr>
        </p:nvSpPr>
        <p:spPr>
          <a:xfrm>
            <a:off x="9440152" y="6492875"/>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pt-BR" sz="1800"/>
              <a:t>3</a:t>
            </a:fld>
            <a:endParaRPr sz="1800" dirty="0"/>
          </a:p>
        </p:txBody>
      </p:sp>
      <p:sp>
        <p:nvSpPr>
          <p:cNvPr id="7" name="AutoShape 8" descr="Ciclo de decisões econômicas">
            <a:extLst>
              <a:ext uri="{FF2B5EF4-FFF2-40B4-BE49-F238E27FC236}">
                <a16:creationId xmlns:a16="http://schemas.microsoft.com/office/drawing/2014/main" id="{242161F9-79CD-467C-9D86-F30266709615}"/>
              </a:ext>
            </a:extLst>
          </p:cNvPr>
          <p:cNvSpPr>
            <a:spLocks noChangeAspect="1" noChangeArrowheads="1"/>
          </p:cNvSpPr>
          <p:nvPr/>
        </p:nvSpPr>
        <p:spPr bwMode="auto">
          <a:xfrm>
            <a:off x="6400800" y="37338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pt-BR"/>
          </a:p>
        </p:txBody>
      </p:sp>
      <p:pic>
        <p:nvPicPr>
          <p:cNvPr id="10" name="Imagem 9">
            <a:extLst>
              <a:ext uri="{FF2B5EF4-FFF2-40B4-BE49-F238E27FC236}">
                <a16:creationId xmlns:a16="http://schemas.microsoft.com/office/drawing/2014/main" id="{70B5345C-B630-4863-A002-4A26D0A838FB}"/>
              </a:ext>
            </a:extLst>
          </p:cNvPr>
          <p:cNvPicPr>
            <a:picLocks noChangeAspect="1"/>
          </p:cNvPicPr>
          <p:nvPr/>
        </p:nvPicPr>
        <p:blipFill>
          <a:blip r:embed="rId4"/>
          <a:stretch>
            <a:fillRect/>
          </a:stretch>
        </p:blipFill>
        <p:spPr>
          <a:xfrm>
            <a:off x="1847850" y="1086247"/>
            <a:ext cx="8496300" cy="5664200"/>
          </a:xfrm>
          <a:prstGeom prst="rect">
            <a:avLst/>
          </a:prstGeom>
        </p:spPr>
      </p:pic>
    </p:spTree>
    <p:extLst>
      <p:ext uri="{BB962C8B-B14F-4D97-AF65-F5344CB8AC3E}">
        <p14:creationId xmlns:p14="http://schemas.microsoft.com/office/powerpoint/2010/main" val="100982581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95"/>
        <p:cNvGrpSpPr/>
        <p:nvPr/>
      </p:nvGrpSpPr>
      <p:grpSpPr>
        <a:xfrm>
          <a:off x="0" y="0"/>
          <a:ext cx="0" cy="0"/>
          <a:chOff x="0" y="0"/>
          <a:chExt cx="0" cy="0"/>
        </a:xfrm>
      </p:grpSpPr>
      <p:sp>
        <p:nvSpPr>
          <p:cNvPr id="96" name="Google Shape;96;p2"/>
          <p:cNvSpPr txBox="1">
            <a:spLocks noGrp="1"/>
          </p:cNvSpPr>
          <p:nvPr>
            <p:ph type="title"/>
          </p:nvPr>
        </p:nvSpPr>
        <p:spPr>
          <a:xfrm>
            <a:off x="170268" y="190105"/>
            <a:ext cx="10329566" cy="768438"/>
          </a:xfrm>
          <a:prstGeom prst="rect">
            <a:avLst/>
          </a:prstGeom>
          <a:noFill/>
          <a:ln>
            <a:noFill/>
          </a:ln>
        </p:spPr>
        <p:txBody>
          <a:bodyPr spcFirstLastPara="1" wrap="square" lIns="91425" tIns="45700" rIns="91425" bIns="45700" anchor="ctr" anchorCtr="0">
            <a:noAutofit/>
          </a:bodyPr>
          <a:lstStyle/>
          <a:p>
            <a:pPr lvl="0">
              <a:buSzPts val="4400"/>
            </a:pPr>
            <a:r>
              <a:rPr lang="pt-BR" sz="3200" b="1" dirty="0">
                <a:latin typeface="+mj-lt"/>
              </a:rPr>
              <a:t>Tema</a:t>
            </a:r>
            <a:endParaRPr sz="3200" b="1" dirty="0">
              <a:latin typeface="+mj-lt"/>
            </a:endParaRPr>
          </a:p>
        </p:txBody>
      </p:sp>
      <p:pic>
        <p:nvPicPr>
          <p:cNvPr id="98" name="Google Shape;98;p2" descr="Universidade Federal da Fronteira Sul – Wikipédia, a enciclopédia livre"/>
          <p:cNvPicPr preferRelativeResize="0"/>
          <p:nvPr/>
        </p:nvPicPr>
        <p:blipFill rotWithShape="1">
          <a:blip r:embed="rId3">
            <a:alphaModFix/>
          </a:blip>
          <a:srcRect/>
          <a:stretch/>
        </p:blipFill>
        <p:spPr>
          <a:xfrm>
            <a:off x="10978329" y="18255"/>
            <a:ext cx="975614" cy="1325563"/>
          </a:xfrm>
          <a:prstGeom prst="rect">
            <a:avLst/>
          </a:prstGeom>
          <a:noFill/>
          <a:ln>
            <a:noFill/>
          </a:ln>
        </p:spPr>
      </p:pic>
      <p:sp>
        <p:nvSpPr>
          <p:cNvPr id="99" name="Google Shape;99;p2"/>
          <p:cNvSpPr/>
          <p:nvPr/>
        </p:nvSpPr>
        <p:spPr>
          <a:xfrm>
            <a:off x="170268" y="958543"/>
            <a:ext cx="10515600" cy="63062"/>
          </a:xfrm>
          <a:prstGeom prst="rect">
            <a:avLst/>
          </a:prstGeom>
          <a:solidFill>
            <a:srgbClr val="548135"/>
          </a:solidFill>
          <a:ln w="12700" cap="flat" cmpd="sng">
            <a:solidFill>
              <a:srgbClr val="1C3052"/>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00" name="Google Shape;100;p2"/>
          <p:cNvSpPr txBox="1">
            <a:spLocks noGrp="1"/>
          </p:cNvSpPr>
          <p:nvPr>
            <p:ph type="sldNum" idx="12"/>
          </p:nvPr>
        </p:nvSpPr>
        <p:spPr>
          <a:xfrm>
            <a:off x="9440152" y="6492875"/>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pt-BR" sz="1800"/>
              <a:t>4</a:t>
            </a:fld>
            <a:endParaRPr sz="1800" dirty="0"/>
          </a:p>
        </p:txBody>
      </p:sp>
      <p:sp>
        <p:nvSpPr>
          <p:cNvPr id="7" name="AutoShape 8" descr="Ciclo de decisões econômicas">
            <a:extLst>
              <a:ext uri="{FF2B5EF4-FFF2-40B4-BE49-F238E27FC236}">
                <a16:creationId xmlns:a16="http://schemas.microsoft.com/office/drawing/2014/main" id="{242161F9-79CD-467C-9D86-F30266709615}"/>
              </a:ext>
            </a:extLst>
          </p:cNvPr>
          <p:cNvSpPr>
            <a:spLocks noChangeAspect="1" noChangeArrowheads="1"/>
          </p:cNvSpPr>
          <p:nvPr/>
        </p:nvSpPr>
        <p:spPr bwMode="auto">
          <a:xfrm>
            <a:off x="6400800" y="37338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pt-BR"/>
          </a:p>
        </p:txBody>
      </p:sp>
      <p:pic>
        <p:nvPicPr>
          <p:cNvPr id="10" name="Imagem 9">
            <a:extLst>
              <a:ext uri="{FF2B5EF4-FFF2-40B4-BE49-F238E27FC236}">
                <a16:creationId xmlns:a16="http://schemas.microsoft.com/office/drawing/2014/main" id="{70B5345C-B630-4863-A002-4A26D0A838FB}"/>
              </a:ext>
            </a:extLst>
          </p:cNvPr>
          <p:cNvPicPr>
            <a:picLocks noChangeAspect="1"/>
          </p:cNvPicPr>
          <p:nvPr/>
        </p:nvPicPr>
        <p:blipFill>
          <a:blip r:embed="rId4"/>
          <a:stretch>
            <a:fillRect/>
          </a:stretch>
        </p:blipFill>
        <p:spPr>
          <a:xfrm>
            <a:off x="1847850" y="1086247"/>
            <a:ext cx="8496300" cy="5664200"/>
          </a:xfrm>
          <a:prstGeom prst="rect">
            <a:avLst/>
          </a:prstGeom>
        </p:spPr>
      </p:pic>
      <p:sp>
        <p:nvSpPr>
          <p:cNvPr id="2" name="Retângulo: Cantos Arredondados 1">
            <a:extLst>
              <a:ext uri="{FF2B5EF4-FFF2-40B4-BE49-F238E27FC236}">
                <a16:creationId xmlns:a16="http://schemas.microsoft.com/office/drawing/2014/main" id="{00D4DCFE-5317-46EA-A0FE-CBB1BBF7F4F9}"/>
              </a:ext>
            </a:extLst>
          </p:cNvPr>
          <p:cNvSpPr/>
          <p:nvPr/>
        </p:nvSpPr>
        <p:spPr>
          <a:xfrm>
            <a:off x="2997200" y="4175760"/>
            <a:ext cx="3708400" cy="2397760"/>
          </a:xfrm>
          <a:prstGeom prst="roundRect">
            <a:avLst/>
          </a:prstGeom>
          <a:noFill/>
          <a:ln w="76200">
            <a:solidFill>
              <a:srgbClr val="FF0000"/>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pt-BR"/>
          </a:p>
        </p:txBody>
      </p:sp>
    </p:spTree>
    <p:extLst>
      <p:ext uri="{BB962C8B-B14F-4D97-AF65-F5344CB8AC3E}">
        <p14:creationId xmlns:p14="http://schemas.microsoft.com/office/powerpoint/2010/main" val="319388619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95">
          <a:extLst>
            <a:ext uri="{FF2B5EF4-FFF2-40B4-BE49-F238E27FC236}">
              <a16:creationId xmlns:a16="http://schemas.microsoft.com/office/drawing/2014/main" id="{549E3069-603D-179A-F64D-E81A71F18C1C}"/>
            </a:ext>
          </a:extLst>
        </p:cNvPr>
        <p:cNvGrpSpPr/>
        <p:nvPr/>
      </p:nvGrpSpPr>
      <p:grpSpPr>
        <a:xfrm>
          <a:off x="0" y="0"/>
          <a:ext cx="0" cy="0"/>
          <a:chOff x="0" y="0"/>
          <a:chExt cx="0" cy="0"/>
        </a:xfrm>
      </p:grpSpPr>
      <p:sp>
        <p:nvSpPr>
          <p:cNvPr id="96" name="Google Shape;96;p2">
            <a:extLst>
              <a:ext uri="{FF2B5EF4-FFF2-40B4-BE49-F238E27FC236}">
                <a16:creationId xmlns:a16="http://schemas.microsoft.com/office/drawing/2014/main" id="{8C486850-B5A0-4BAF-FEF4-9D3E8CF25D02}"/>
              </a:ext>
            </a:extLst>
          </p:cNvPr>
          <p:cNvSpPr txBox="1">
            <a:spLocks noGrp="1"/>
          </p:cNvSpPr>
          <p:nvPr>
            <p:ph type="title"/>
          </p:nvPr>
        </p:nvSpPr>
        <p:spPr>
          <a:xfrm>
            <a:off x="170268" y="190105"/>
            <a:ext cx="10329566" cy="768438"/>
          </a:xfrm>
          <a:prstGeom prst="rect">
            <a:avLst/>
          </a:prstGeom>
          <a:noFill/>
          <a:ln>
            <a:noFill/>
          </a:ln>
        </p:spPr>
        <p:txBody>
          <a:bodyPr spcFirstLastPara="1" wrap="square" lIns="91425" tIns="45700" rIns="91425" bIns="45700" anchor="ctr" anchorCtr="0">
            <a:noAutofit/>
          </a:bodyPr>
          <a:lstStyle/>
          <a:p>
            <a:pPr lvl="0">
              <a:buSzPts val="4400"/>
            </a:pPr>
            <a:r>
              <a:rPr lang="pt-BR" sz="3200" b="1" dirty="0">
                <a:latin typeface="+mj-lt"/>
              </a:rPr>
              <a:t>Problema de Pesquisa</a:t>
            </a:r>
            <a:endParaRPr sz="3200" b="1" dirty="0">
              <a:latin typeface="+mj-lt"/>
            </a:endParaRPr>
          </a:p>
        </p:txBody>
      </p:sp>
      <p:pic>
        <p:nvPicPr>
          <p:cNvPr id="98" name="Google Shape;98;p2" descr="Universidade Federal da Fronteira Sul – Wikipédia, a enciclopédia livre">
            <a:extLst>
              <a:ext uri="{FF2B5EF4-FFF2-40B4-BE49-F238E27FC236}">
                <a16:creationId xmlns:a16="http://schemas.microsoft.com/office/drawing/2014/main" id="{30512D07-8D02-82AD-7BC8-B9D4422BC054}"/>
              </a:ext>
            </a:extLst>
          </p:cNvPr>
          <p:cNvPicPr preferRelativeResize="0"/>
          <p:nvPr/>
        </p:nvPicPr>
        <p:blipFill rotWithShape="1">
          <a:blip r:embed="rId3">
            <a:alphaModFix/>
          </a:blip>
          <a:srcRect/>
          <a:stretch/>
        </p:blipFill>
        <p:spPr>
          <a:xfrm>
            <a:off x="10978329" y="18255"/>
            <a:ext cx="975614" cy="1325563"/>
          </a:xfrm>
          <a:prstGeom prst="rect">
            <a:avLst/>
          </a:prstGeom>
          <a:noFill/>
          <a:ln>
            <a:noFill/>
          </a:ln>
        </p:spPr>
      </p:pic>
      <p:sp>
        <p:nvSpPr>
          <p:cNvPr id="99" name="Google Shape;99;p2">
            <a:extLst>
              <a:ext uri="{FF2B5EF4-FFF2-40B4-BE49-F238E27FC236}">
                <a16:creationId xmlns:a16="http://schemas.microsoft.com/office/drawing/2014/main" id="{C0A1AEB4-DC75-2656-C2D3-8EFCFCB51FFE}"/>
              </a:ext>
            </a:extLst>
          </p:cNvPr>
          <p:cNvSpPr/>
          <p:nvPr/>
        </p:nvSpPr>
        <p:spPr>
          <a:xfrm>
            <a:off x="170268" y="958543"/>
            <a:ext cx="10515600" cy="63062"/>
          </a:xfrm>
          <a:prstGeom prst="rect">
            <a:avLst/>
          </a:prstGeom>
          <a:solidFill>
            <a:srgbClr val="548135"/>
          </a:solidFill>
          <a:ln w="12700" cap="flat" cmpd="sng">
            <a:solidFill>
              <a:srgbClr val="1C3052"/>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00" name="Google Shape;100;p2">
            <a:extLst>
              <a:ext uri="{FF2B5EF4-FFF2-40B4-BE49-F238E27FC236}">
                <a16:creationId xmlns:a16="http://schemas.microsoft.com/office/drawing/2014/main" id="{2511E7E3-0FCC-EDC8-1BB0-8C7564D1701C}"/>
              </a:ext>
            </a:extLst>
          </p:cNvPr>
          <p:cNvSpPr txBox="1">
            <a:spLocks noGrp="1"/>
          </p:cNvSpPr>
          <p:nvPr>
            <p:ph type="sldNum" idx="12"/>
          </p:nvPr>
        </p:nvSpPr>
        <p:spPr>
          <a:xfrm>
            <a:off x="9440152" y="6492875"/>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pt-BR" sz="1800"/>
              <a:t>5</a:t>
            </a:fld>
            <a:endParaRPr sz="1800" dirty="0"/>
          </a:p>
        </p:txBody>
      </p:sp>
      <p:sp>
        <p:nvSpPr>
          <p:cNvPr id="10" name="Google Shape;97;p2">
            <a:extLst>
              <a:ext uri="{FF2B5EF4-FFF2-40B4-BE49-F238E27FC236}">
                <a16:creationId xmlns:a16="http://schemas.microsoft.com/office/drawing/2014/main" id="{9D6A6B54-BAE8-42EF-980F-7733CEB119B1}"/>
              </a:ext>
            </a:extLst>
          </p:cNvPr>
          <p:cNvSpPr txBox="1">
            <a:spLocks noGrp="1"/>
          </p:cNvSpPr>
          <p:nvPr>
            <p:ph type="body" idx="1"/>
          </p:nvPr>
        </p:nvSpPr>
        <p:spPr>
          <a:xfrm>
            <a:off x="170268" y="1092372"/>
            <a:ext cx="11855669" cy="5732658"/>
          </a:xfrm>
          <a:prstGeom prst="rect">
            <a:avLst/>
          </a:prstGeom>
          <a:noFill/>
          <a:ln>
            <a:noFill/>
          </a:ln>
        </p:spPr>
        <p:txBody>
          <a:bodyPr spcFirstLastPara="1" wrap="square" lIns="91425" tIns="45700" rIns="91425" bIns="45700" anchor="t" anchorCtr="0">
            <a:noAutofit/>
          </a:bodyPr>
          <a:lstStyle/>
          <a:p>
            <a:pPr marL="0" indent="-457200">
              <a:buNone/>
            </a:pPr>
            <a:r>
              <a:rPr lang="pt-BR" sz="2400" dirty="0">
                <a:latin typeface="+mn-lt"/>
              </a:rPr>
              <a:t>Como desenvolver um modelo preditivo baseado em IA para efetivamente estimar o PIB brasileiro, considerando as diferenças e semelhanças significativas entre os modelos tradicionais VAR, ARIMA, DFM e MIDAS.</a:t>
            </a:r>
          </a:p>
        </p:txBody>
      </p:sp>
    </p:spTree>
    <p:extLst>
      <p:ext uri="{BB962C8B-B14F-4D97-AF65-F5344CB8AC3E}">
        <p14:creationId xmlns:p14="http://schemas.microsoft.com/office/powerpoint/2010/main" val="318049488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95">
          <a:extLst>
            <a:ext uri="{FF2B5EF4-FFF2-40B4-BE49-F238E27FC236}">
              <a16:creationId xmlns:a16="http://schemas.microsoft.com/office/drawing/2014/main" id="{7535FED6-87EB-CB7E-FF7B-73F9436E34AC}"/>
            </a:ext>
          </a:extLst>
        </p:cNvPr>
        <p:cNvGrpSpPr/>
        <p:nvPr/>
      </p:nvGrpSpPr>
      <p:grpSpPr>
        <a:xfrm>
          <a:off x="0" y="0"/>
          <a:ext cx="0" cy="0"/>
          <a:chOff x="0" y="0"/>
          <a:chExt cx="0" cy="0"/>
        </a:xfrm>
      </p:grpSpPr>
      <p:sp>
        <p:nvSpPr>
          <p:cNvPr id="96" name="Google Shape;96;p2">
            <a:extLst>
              <a:ext uri="{FF2B5EF4-FFF2-40B4-BE49-F238E27FC236}">
                <a16:creationId xmlns:a16="http://schemas.microsoft.com/office/drawing/2014/main" id="{A7A4E033-D3A3-F4AE-D61A-B7FB568FB209}"/>
              </a:ext>
            </a:extLst>
          </p:cNvPr>
          <p:cNvSpPr txBox="1">
            <a:spLocks noGrp="1"/>
          </p:cNvSpPr>
          <p:nvPr>
            <p:ph type="title"/>
          </p:nvPr>
        </p:nvSpPr>
        <p:spPr>
          <a:xfrm>
            <a:off x="170268" y="190105"/>
            <a:ext cx="10329566" cy="768438"/>
          </a:xfrm>
          <a:prstGeom prst="rect">
            <a:avLst/>
          </a:prstGeom>
          <a:noFill/>
          <a:ln>
            <a:noFill/>
          </a:ln>
        </p:spPr>
        <p:txBody>
          <a:bodyPr spcFirstLastPara="1" wrap="square" lIns="91425" tIns="45700" rIns="91425" bIns="45700" anchor="ctr" anchorCtr="0">
            <a:noAutofit/>
          </a:bodyPr>
          <a:lstStyle/>
          <a:p>
            <a:pPr lvl="0">
              <a:buSzPts val="4400"/>
            </a:pPr>
            <a:r>
              <a:rPr lang="pt-BR" sz="3200" b="1" dirty="0">
                <a:latin typeface="+mj-lt"/>
              </a:rPr>
              <a:t>Objetivos</a:t>
            </a:r>
            <a:endParaRPr sz="3200" b="1" dirty="0">
              <a:latin typeface="+mj-lt"/>
            </a:endParaRPr>
          </a:p>
        </p:txBody>
      </p:sp>
      <p:pic>
        <p:nvPicPr>
          <p:cNvPr id="98" name="Google Shape;98;p2" descr="Universidade Federal da Fronteira Sul – Wikipédia, a enciclopédia livre">
            <a:extLst>
              <a:ext uri="{FF2B5EF4-FFF2-40B4-BE49-F238E27FC236}">
                <a16:creationId xmlns:a16="http://schemas.microsoft.com/office/drawing/2014/main" id="{C8C29CA3-FB6F-F987-E0D0-87D6645982C7}"/>
              </a:ext>
            </a:extLst>
          </p:cNvPr>
          <p:cNvPicPr preferRelativeResize="0"/>
          <p:nvPr/>
        </p:nvPicPr>
        <p:blipFill rotWithShape="1">
          <a:blip r:embed="rId3">
            <a:alphaModFix/>
          </a:blip>
          <a:srcRect/>
          <a:stretch/>
        </p:blipFill>
        <p:spPr>
          <a:xfrm>
            <a:off x="10978329" y="18255"/>
            <a:ext cx="975614" cy="1325563"/>
          </a:xfrm>
          <a:prstGeom prst="rect">
            <a:avLst/>
          </a:prstGeom>
          <a:noFill/>
          <a:ln>
            <a:noFill/>
          </a:ln>
        </p:spPr>
      </p:pic>
      <p:sp>
        <p:nvSpPr>
          <p:cNvPr id="99" name="Google Shape;99;p2">
            <a:extLst>
              <a:ext uri="{FF2B5EF4-FFF2-40B4-BE49-F238E27FC236}">
                <a16:creationId xmlns:a16="http://schemas.microsoft.com/office/drawing/2014/main" id="{A52EC46E-958C-03F5-358A-5975D9272EE6}"/>
              </a:ext>
            </a:extLst>
          </p:cNvPr>
          <p:cNvSpPr/>
          <p:nvPr/>
        </p:nvSpPr>
        <p:spPr>
          <a:xfrm>
            <a:off x="170268" y="958543"/>
            <a:ext cx="10515600" cy="63062"/>
          </a:xfrm>
          <a:prstGeom prst="rect">
            <a:avLst/>
          </a:prstGeom>
          <a:solidFill>
            <a:srgbClr val="548135"/>
          </a:solidFill>
          <a:ln w="12700" cap="flat" cmpd="sng">
            <a:solidFill>
              <a:srgbClr val="1C3052"/>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00" name="Google Shape;100;p2">
            <a:extLst>
              <a:ext uri="{FF2B5EF4-FFF2-40B4-BE49-F238E27FC236}">
                <a16:creationId xmlns:a16="http://schemas.microsoft.com/office/drawing/2014/main" id="{E9FB65C0-0A87-D7AA-C3A7-DEF94AE9413C}"/>
              </a:ext>
            </a:extLst>
          </p:cNvPr>
          <p:cNvSpPr txBox="1">
            <a:spLocks noGrp="1"/>
          </p:cNvSpPr>
          <p:nvPr>
            <p:ph type="sldNum" idx="12"/>
          </p:nvPr>
        </p:nvSpPr>
        <p:spPr>
          <a:xfrm>
            <a:off x="9440152" y="6492875"/>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pt-BR" sz="1800"/>
              <a:t>6</a:t>
            </a:fld>
            <a:endParaRPr sz="1800" dirty="0"/>
          </a:p>
        </p:txBody>
      </p:sp>
      <p:sp>
        <p:nvSpPr>
          <p:cNvPr id="11" name="Google Shape;97;p2">
            <a:extLst>
              <a:ext uri="{FF2B5EF4-FFF2-40B4-BE49-F238E27FC236}">
                <a16:creationId xmlns:a16="http://schemas.microsoft.com/office/drawing/2014/main" id="{17A4CC5B-A7C9-4E17-89B2-6223CF175D1B}"/>
              </a:ext>
            </a:extLst>
          </p:cNvPr>
          <p:cNvSpPr txBox="1">
            <a:spLocks noGrp="1"/>
          </p:cNvSpPr>
          <p:nvPr>
            <p:ph type="body" idx="1"/>
          </p:nvPr>
        </p:nvSpPr>
        <p:spPr>
          <a:xfrm>
            <a:off x="170268" y="1092372"/>
            <a:ext cx="11855669" cy="5732658"/>
          </a:xfrm>
          <a:prstGeom prst="rect">
            <a:avLst/>
          </a:prstGeom>
          <a:noFill/>
          <a:ln>
            <a:noFill/>
          </a:ln>
        </p:spPr>
        <p:txBody>
          <a:bodyPr spcFirstLastPara="1" wrap="square" lIns="91425" tIns="45700" rIns="91425" bIns="45700" anchor="t" anchorCtr="0">
            <a:noAutofit/>
          </a:bodyPr>
          <a:lstStyle/>
          <a:p>
            <a:pPr marL="0" indent="-457200">
              <a:buNone/>
            </a:pPr>
            <a:r>
              <a:rPr lang="pt-BR" sz="2400" b="1" dirty="0">
                <a:latin typeface="+mn-lt"/>
              </a:rPr>
              <a:t>Objetivo Geral:</a:t>
            </a:r>
          </a:p>
          <a:p>
            <a:pPr marL="0" indent="-457200">
              <a:buNone/>
            </a:pPr>
            <a:r>
              <a:rPr lang="pt-BR" sz="2400" dirty="0">
                <a:latin typeface="+mn-lt"/>
              </a:rPr>
              <a:t>Desenvolver um modelo preditivo baseado em IA para efetivamente estimar o PIB brasileiro, considerando as diferenças e semelhanças significativas entre os modelos tradicionais VAR, ARIMA, DFM e MIDAS.</a:t>
            </a:r>
          </a:p>
          <a:p>
            <a:pPr marL="0" indent="-457200">
              <a:buNone/>
            </a:pPr>
            <a:r>
              <a:rPr lang="pt-BR" sz="2400" b="1" dirty="0">
                <a:latin typeface="+mn-lt"/>
              </a:rPr>
              <a:t>Objetivos Específicos:</a:t>
            </a:r>
          </a:p>
          <a:p>
            <a:pPr marL="0" indent="-457200">
              <a:buNone/>
            </a:pPr>
            <a:r>
              <a:rPr lang="pt-BR" sz="2400" dirty="0">
                <a:latin typeface="+mn-lt"/>
              </a:rPr>
              <a:t>a) Caracterizar os modelos econométricos tradicionais (VAR, ARIMA, DFM e MIDAS) e de IA para a predição do PIB;</a:t>
            </a:r>
          </a:p>
          <a:p>
            <a:pPr marL="0" indent="-457200">
              <a:buNone/>
            </a:pPr>
            <a:r>
              <a:rPr lang="pt-BR" sz="2400" dirty="0">
                <a:latin typeface="+mn-lt"/>
              </a:rPr>
              <a:t>b) Identificar as diferentes variáveis determinantes na estimativa do PIB;</a:t>
            </a:r>
          </a:p>
          <a:p>
            <a:pPr marL="0" indent="-457200">
              <a:buNone/>
            </a:pPr>
            <a:r>
              <a:rPr lang="pt-BR" sz="2400" dirty="0">
                <a:latin typeface="+mn-lt"/>
              </a:rPr>
              <a:t>c) Desenvolver um ciclo de vida para a produção de um novo modelo econométrico de IA para a predição do PIB;</a:t>
            </a:r>
          </a:p>
          <a:p>
            <a:pPr marL="0" indent="-457200">
              <a:buNone/>
            </a:pPr>
            <a:r>
              <a:rPr lang="pt-BR" sz="2400" dirty="0">
                <a:latin typeface="+mn-lt"/>
              </a:rPr>
              <a:t>d) Comparar o desempenho dos modelos de IA e tradicionais usando diferentes</a:t>
            </a:r>
          </a:p>
          <a:p>
            <a:pPr marL="0" indent="-457200">
              <a:buNone/>
            </a:pPr>
            <a:r>
              <a:rPr lang="pt-BR" sz="2400" dirty="0">
                <a:latin typeface="+mn-lt"/>
              </a:rPr>
              <a:t>métricas, como desempenho computacional, precisão e </a:t>
            </a:r>
            <a:r>
              <a:rPr lang="pt-BR" sz="2400" dirty="0" err="1">
                <a:latin typeface="+mn-lt"/>
              </a:rPr>
              <a:t>interpretabilidade</a:t>
            </a:r>
            <a:r>
              <a:rPr lang="pt-BR" sz="2400" dirty="0">
                <a:latin typeface="+mn-lt"/>
              </a:rPr>
              <a:t>.</a:t>
            </a:r>
          </a:p>
        </p:txBody>
      </p:sp>
    </p:spTree>
    <p:extLst>
      <p:ext uri="{BB962C8B-B14F-4D97-AF65-F5344CB8AC3E}">
        <p14:creationId xmlns:p14="http://schemas.microsoft.com/office/powerpoint/2010/main" val="412136989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95">
          <a:extLst>
            <a:ext uri="{FF2B5EF4-FFF2-40B4-BE49-F238E27FC236}">
              <a16:creationId xmlns:a16="http://schemas.microsoft.com/office/drawing/2014/main" id="{DFCC81BF-908F-AD2B-0451-A63B8FDE747B}"/>
            </a:ext>
          </a:extLst>
        </p:cNvPr>
        <p:cNvGrpSpPr/>
        <p:nvPr/>
      </p:nvGrpSpPr>
      <p:grpSpPr>
        <a:xfrm>
          <a:off x="0" y="0"/>
          <a:ext cx="0" cy="0"/>
          <a:chOff x="0" y="0"/>
          <a:chExt cx="0" cy="0"/>
        </a:xfrm>
      </p:grpSpPr>
      <p:sp>
        <p:nvSpPr>
          <p:cNvPr id="96" name="Google Shape;96;p2">
            <a:extLst>
              <a:ext uri="{FF2B5EF4-FFF2-40B4-BE49-F238E27FC236}">
                <a16:creationId xmlns:a16="http://schemas.microsoft.com/office/drawing/2014/main" id="{5A4E9FF4-1B12-5F93-B798-09D2F0E37DA8}"/>
              </a:ext>
            </a:extLst>
          </p:cNvPr>
          <p:cNvSpPr txBox="1">
            <a:spLocks noGrp="1"/>
          </p:cNvSpPr>
          <p:nvPr>
            <p:ph type="title"/>
          </p:nvPr>
        </p:nvSpPr>
        <p:spPr>
          <a:xfrm>
            <a:off x="170268" y="190105"/>
            <a:ext cx="10329566" cy="768438"/>
          </a:xfrm>
          <a:prstGeom prst="rect">
            <a:avLst/>
          </a:prstGeom>
          <a:noFill/>
          <a:ln>
            <a:noFill/>
          </a:ln>
        </p:spPr>
        <p:txBody>
          <a:bodyPr spcFirstLastPara="1" wrap="square" lIns="91425" tIns="45700" rIns="91425" bIns="45700" anchor="ctr" anchorCtr="0">
            <a:noAutofit/>
          </a:bodyPr>
          <a:lstStyle/>
          <a:p>
            <a:pPr lvl="0">
              <a:buSzPts val="4400"/>
            </a:pPr>
            <a:r>
              <a:rPr lang="pt-BR" sz="3200" b="1" dirty="0">
                <a:latin typeface="+mj-lt"/>
              </a:rPr>
              <a:t>Justificativa</a:t>
            </a:r>
            <a:endParaRPr sz="3200" b="1" dirty="0">
              <a:latin typeface="+mj-lt"/>
            </a:endParaRPr>
          </a:p>
        </p:txBody>
      </p:sp>
      <p:pic>
        <p:nvPicPr>
          <p:cNvPr id="98" name="Google Shape;98;p2" descr="Universidade Federal da Fronteira Sul – Wikipédia, a enciclopédia livre">
            <a:extLst>
              <a:ext uri="{FF2B5EF4-FFF2-40B4-BE49-F238E27FC236}">
                <a16:creationId xmlns:a16="http://schemas.microsoft.com/office/drawing/2014/main" id="{9301FDD3-CD5D-F226-9DB4-30A4F485FE5C}"/>
              </a:ext>
            </a:extLst>
          </p:cNvPr>
          <p:cNvPicPr preferRelativeResize="0"/>
          <p:nvPr/>
        </p:nvPicPr>
        <p:blipFill rotWithShape="1">
          <a:blip r:embed="rId3">
            <a:alphaModFix/>
          </a:blip>
          <a:srcRect/>
          <a:stretch/>
        </p:blipFill>
        <p:spPr>
          <a:xfrm>
            <a:off x="10978329" y="18255"/>
            <a:ext cx="975614" cy="1325563"/>
          </a:xfrm>
          <a:prstGeom prst="rect">
            <a:avLst/>
          </a:prstGeom>
          <a:noFill/>
          <a:ln>
            <a:noFill/>
          </a:ln>
        </p:spPr>
      </p:pic>
      <p:sp>
        <p:nvSpPr>
          <p:cNvPr id="99" name="Google Shape;99;p2">
            <a:extLst>
              <a:ext uri="{FF2B5EF4-FFF2-40B4-BE49-F238E27FC236}">
                <a16:creationId xmlns:a16="http://schemas.microsoft.com/office/drawing/2014/main" id="{B233147C-9AAF-341F-4EB7-2A30161B9011}"/>
              </a:ext>
            </a:extLst>
          </p:cNvPr>
          <p:cNvSpPr/>
          <p:nvPr/>
        </p:nvSpPr>
        <p:spPr>
          <a:xfrm>
            <a:off x="170268" y="958543"/>
            <a:ext cx="10515600" cy="63062"/>
          </a:xfrm>
          <a:prstGeom prst="rect">
            <a:avLst/>
          </a:prstGeom>
          <a:solidFill>
            <a:srgbClr val="548135"/>
          </a:solidFill>
          <a:ln w="12700" cap="flat" cmpd="sng">
            <a:solidFill>
              <a:srgbClr val="1C3052"/>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00" name="Google Shape;100;p2">
            <a:extLst>
              <a:ext uri="{FF2B5EF4-FFF2-40B4-BE49-F238E27FC236}">
                <a16:creationId xmlns:a16="http://schemas.microsoft.com/office/drawing/2014/main" id="{F540FE8D-1FD5-6067-A113-896128341CFC}"/>
              </a:ext>
            </a:extLst>
          </p:cNvPr>
          <p:cNvSpPr txBox="1">
            <a:spLocks noGrp="1"/>
          </p:cNvSpPr>
          <p:nvPr>
            <p:ph type="sldNum" idx="12"/>
          </p:nvPr>
        </p:nvSpPr>
        <p:spPr>
          <a:xfrm>
            <a:off x="9440152" y="6492875"/>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pt-BR" sz="1800"/>
              <a:t>7</a:t>
            </a:fld>
            <a:endParaRPr sz="1800" dirty="0"/>
          </a:p>
        </p:txBody>
      </p:sp>
      <p:sp>
        <p:nvSpPr>
          <p:cNvPr id="9" name="Google Shape;97;p2">
            <a:extLst>
              <a:ext uri="{FF2B5EF4-FFF2-40B4-BE49-F238E27FC236}">
                <a16:creationId xmlns:a16="http://schemas.microsoft.com/office/drawing/2014/main" id="{C4A0DC7B-2F5A-494A-9EA1-6820148CA96E}"/>
              </a:ext>
            </a:extLst>
          </p:cNvPr>
          <p:cNvSpPr txBox="1">
            <a:spLocks noGrp="1"/>
          </p:cNvSpPr>
          <p:nvPr>
            <p:ph type="body" idx="1"/>
          </p:nvPr>
        </p:nvSpPr>
        <p:spPr>
          <a:xfrm>
            <a:off x="170268" y="1092372"/>
            <a:ext cx="11855669" cy="5732658"/>
          </a:xfrm>
          <a:prstGeom prst="rect">
            <a:avLst/>
          </a:prstGeom>
          <a:noFill/>
          <a:ln>
            <a:noFill/>
          </a:ln>
        </p:spPr>
        <p:txBody>
          <a:bodyPr spcFirstLastPara="1" wrap="square" lIns="91425" tIns="45700" rIns="91425" bIns="45700" anchor="t" anchorCtr="0">
            <a:noAutofit/>
          </a:bodyPr>
          <a:lstStyle/>
          <a:p>
            <a:pPr marL="0" indent="-457200">
              <a:buNone/>
            </a:pPr>
            <a:r>
              <a:rPr lang="pt-BR" sz="2400" dirty="0">
                <a:latin typeface="+mn-lt"/>
              </a:rPr>
              <a:t>O presente trabalho justifica-se empiricamente, pois permite que gestores, sejam eles públicos ou privados, utilizem-se de ferramentas estatísticas para tomarem decisões fundamentadas. "A tomada de decisões empresariais é uma tarefa complexa e fundamental para a sobrevivência de uma organização"(Santana et al., 2023, p. 3).</a:t>
            </a:r>
          </a:p>
          <a:p>
            <a:pPr marL="0" indent="-457200">
              <a:buNone/>
            </a:pPr>
            <a:r>
              <a:rPr lang="pt-BR" sz="2400" dirty="0">
                <a:latin typeface="+mn-lt"/>
              </a:rPr>
              <a:t>Já contribuição teórica desse trabalho está alinhada com a avaliação dos diferentes modelos estatísticos para a predição econômica, além é claro, de explorar as novas fronteiras da ciência, com a avaliação de modelos inovadores como os que usam a IA.</a:t>
            </a:r>
          </a:p>
          <a:p>
            <a:pPr marL="0" indent="-457200">
              <a:buNone/>
            </a:pPr>
            <a:r>
              <a:rPr lang="pt-BR" sz="2400" dirty="0">
                <a:latin typeface="+mn-lt"/>
              </a:rPr>
              <a:t>O presente trabalho busca mesclar diferentes modelos, ranqueando seu desempenho, e possibilitando a identificação dos modelos mais adequados para previsão econômica. Para isso é necessário a avaliação métricas estatísticas comuns, semelhante ao que Castelli (2022) fez, ao comparar modelos de IA com modelos tradicionais, aplicando métricas como coeficiente de determinação (R2), Erro Médio Absoluto (MAE), Erro Quadrático Médio (MSE) para classificar os modelos</a:t>
            </a:r>
          </a:p>
        </p:txBody>
      </p:sp>
    </p:spTree>
    <p:extLst>
      <p:ext uri="{BB962C8B-B14F-4D97-AF65-F5344CB8AC3E}">
        <p14:creationId xmlns:p14="http://schemas.microsoft.com/office/powerpoint/2010/main" val="146982460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95">
          <a:extLst>
            <a:ext uri="{FF2B5EF4-FFF2-40B4-BE49-F238E27FC236}">
              <a16:creationId xmlns:a16="http://schemas.microsoft.com/office/drawing/2014/main" id="{9FF41EF8-48B2-7056-CDDA-BBD428E9F661}"/>
            </a:ext>
          </a:extLst>
        </p:cNvPr>
        <p:cNvGrpSpPr/>
        <p:nvPr/>
      </p:nvGrpSpPr>
      <p:grpSpPr>
        <a:xfrm>
          <a:off x="0" y="0"/>
          <a:ext cx="0" cy="0"/>
          <a:chOff x="0" y="0"/>
          <a:chExt cx="0" cy="0"/>
        </a:xfrm>
      </p:grpSpPr>
      <p:sp>
        <p:nvSpPr>
          <p:cNvPr id="96" name="Google Shape;96;p2">
            <a:extLst>
              <a:ext uri="{FF2B5EF4-FFF2-40B4-BE49-F238E27FC236}">
                <a16:creationId xmlns:a16="http://schemas.microsoft.com/office/drawing/2014/main" id="{5A2FA1F4-5F86-6CB1-9FAA-1F90809EEAD2}"/>
              </a:ext>
            </a:extLst>
          </p:cNvPr>
          <p:cNvSpPr txBox="1">
            <a:spLocks noGrp="1"/>
          </p:cNvSpPr>
          <p:nvPr>
            <p:ph type="title"/>
          </p:nvPr>
        </p:nvSpPr>
        <p:spPr>
          <a:xfrm>
            <a:off x="170268" y="190105"/>
            <a:ext cx="10329566" cy="768438"/>
          </a:xfrm>
          <a:prstGeom prst="rect">
            <a:avLst/>
          </a:prstGeom>
          <a:noFill/>
          <a:ln>
            <a:noFill/>
          </a:ln>
        </p:spPr>
        <p:txBody>
          <a:bodyPr spcFirstLastPara="1" wrap="square" lIns="91425" tIns="45700" rIns="91425" bIns="45700" anchor="ctr" anchorCtr="0">
            <a:noAutofit/>
          </a:bodyPr>
          <a:lstStyle/>
          <a:p>
            <a:pPr lvl="0">
              <a:buSzPts val="4400"/>
            </a:pPr>
            <a:r>
              <a:rPr lang="pt-BR" sz="3200" b="1" dirty="0">
                <a:latin typeface="+mj-lt"/>
              </a:rPr>
              <a:t>Revisão</a:t>
            </a:r>
            <a:r>
              <a:rPr lang="pt-BR" sz="3200" dirty="0"/>
              <a:t> </a:t>
            </a:r>
            <a:r>
              <a:rPr lang="pt-BR" sz="3200" b="1" dirty="0">
                <a:latin typeface="+mj-lt"/>
              </a:rPr>
              <a:t>de literatura</a:t>
            </a:r>
            <a:endParaRPr sz="3200" b="1" dirty="0">
              <a:latin typeface="+mj-lt"/>
            </a:endParaRPr>
          </a:p>
        </p:txBody>
      </p:sp>
      <p:sp>
        <p:nvSpPr>
          <p:cNvPr id="97" name="Google Shape;97;p2">
            <a:extLst>
              <a:ext uri="{FF2B5EF4-FFF2-40B4-BE49-F238E27FC236}">
                <a16:creationId xmlns:a16="http://schemas.microsoft.com/office/drawing/2014/main" id="{D7E3C610-954D-9EC1-3573-1126F369424B}"/>
              </a:ext>
            </a:extLst>
          </p:cNvPr>
          <p:cNvSpPr txBox="1">
            <a:spLocks noGrp="1"/>
          </p:cNvSpPr>
          <p:nvPr>
            <p:ph type="body" idx="1"/>
          </p:nvPr>
        </p:nvSpPr>
        <p:spPr>
          <a:xfrm>
            <a:off x="170268" y="1125342"/>
            <a:ext cx="11855669" cy="5732658"/>
          </a:xfrm>
          <a:prstGeom prst="rect">
            <a:avLst/>
          </a:prstGeom>
          <a:noFill/>
          <a:ln>
            <a:noFill/>
          </a:ln>
        </p:spPr>
        <p:txBody>
          <a:bodyPr spcFirstLastPara="1" wrap="square" lIns="91425" tIns="45700" rIns="91425" bIns="45700" anchor="t" anchorCtr="0">
            <a:noAutofit/>
          </a:bodyPr>
          <a:lstStyle/>
          <a:p>
            <a:pPr>
              <a:buFont typeface="Arial" panose="020B0604020202020204" pitchFamily="34" charset="0"/>
              <a:buChar char="•"/>
            </a:pPr>
            <a:endParaRPr lang="pt-BR" sz="2200" dirty="0">
              <a:latin typeface="+mn-lt"/>
            </a:endParaRPr>
          </a:p>
          <a:p>
            <a:pPr>
              <a:buFont typeface="Arial" panose="020B0604020202020204" pitchFamily="34" charset="0"/>
              <a:buChar char="•"/>
            </a:pPr>
            <a:r>
              <a:rPr lang="pt-BR" sz="2200" dirty="0">
                <a:latin typeface="+mn-lt"/>
              </a:rPr>
              <a:t>Predição econômica: O PIB – Frisch (1929); </a:t>
            </a:r>
            <a:r>
              <a:rPr lang="it-IT" sz="2200" dirty="0">
                <a:latin typeface="+mn-lt"/>
              </a:rPr>
              <a:t>Laudon e Laudon (2022)  e</a:t>
            </a:r>
            <a:r>
              <a:rPr lang="pt-BR" sz="2200" dirty="0">
                <a:latin typeface="+mn-lt"/>
              </a:rPr>
              <a:t> IBGE (2026).</a:t>
            </a:r>
          </a:p>
          <a:p>
            <a:pPr>
              <a:buFont typeface="Arial" panose="020B0604020202020204" pitchFamily="34" charset="0"/>
              <a:buChar char="•"/>
            </a:pPr>
            <a:r>
              <a:rPr lang="pt-BR" sz="2200" dirty="0">
                <a:latin typeface="+mn-lt"/>
              </a:rPr>
              <a:t>Modelos tradicionais: Braga (2025); Rebelo (2022).</a:t>
            </a:r>
          </a:p>
          <a:p>
            <a:pPr>
              <a:buFont typeface="Arial" panose="020B0604020202020204" pitchFamily="34" charset="0"/>
              <a:buChar char="•"/>
            </a:pPr>
            <a:r>
              <a:rPr lang="pt-BR" sz="2200" dirty="0">
                <a:latin typeface="+mn-lt"/>
              </a:rPr>
              <a:t>ARIMA: Box e Jenkins (1970); Silva </a:t>
            </a:r>
            <a:r>
              <a:rPr lang="pt-BR" sz="2200" i="1" dirty="0">
                <a:latin typeface="+mn-lt"/>
              </a:rPr>
              <a:t>et al </a:t>
            </a:r>
            <a:r>
              <a:rPr lang="pt-BR" sz="2200" dirty="0">
                <a:latin typeface="+mn-lt"/>
              </a:rPr>
              <a:t>(2025); Li (2024).</a:t>
            </a:r>
          </a:p>
          <a:p>
            <a:pPr>
              <a:buFont typeface="Arial" panose="020B0604020202020204" pitchFamily="34" charset="0"/>
              <a:buChar char="•"/>
            </a:pPr>
            <a:r>
              <a:rPr lang="pt-BR" sz="2200" dirty="0">
                <a:latin typeface="+mn-lt"/>
              </a:rPr>
              <a:t>VAR: </a:t>
            </a:r>
            <a:r>
              <a:rPr lang="pt-BR" sz="2200" dirty="0" err="1">
                <a:latin typeface="+mn-lt"/>
              </a:rPr>
              <a:t>Sims</a:t>
            </a:r>
            <a:r>
              <a:rPr lang="pt-BR" sz="2200" dirty="0">
                <a:latin typeface="+mn-lt"/>
              </a:rPr>
              <a:t> (1980); Fialho </a:t>
            </a:r>
            <a:r>
              <a:rPr lang="pt-BR" sz="2200" i="1" dirty="0">
                <a:latin typeface="+mn-lt"/>
              </a:rPr>
              <a:t>et al</a:t>
            </a:r>
            <a:r>
              <a:rPr lang="pt-BR" sz="2200" dirty="0">
                <a:latin typeface="+mn-lt"/>
              </a:rPr>
              <a:t>. (2024); Oliveira e Junior (2024); </a:t>
            </a:r>
            <a:r>
              <a:rPr lang="pt-BR" sz="2200" dirty="0" err="1">
                <a:latin typeface="+mn-lt"/>
              </a:rPr>
              <a:t>Koop</a:t>
            </a:r>
            <a:r>
              <a:rPr lang="pt-BR" sz="2200" dirty="0">
                <a:latin typeface="+mn-lt"/>
              </a:rPr>
              <a:t> </a:t>
            </a:r>
            <a:r>
              <a:rPr lang="pt-BR" sz="2200" i="1" dirty="0">
                <a:latin typeface="+mn-lt"/>
              </a:rPr>
              <a:t>et al</a:t>
            </a:r>
            <a:r>
              <a:rPr lang="pt-BR" sz="2200" dirty="0">
                <a:latin typeface="+mn-lt"/>
              </a:rPr>
              <a:t>. (2025).</a:t>
            </a:r>
          </a:p>
          <a:p>
            <a:pPr>
              <a:buFont typeface="Arial" panose="020B0604020202020204" pitchFamily="34" charset="0"/>
              <a:buChar char="•"/>
            </a:pPr>
            <a:r>
              <a:rPr lang="pt-BR" sz="2200" dirty="0">
                <a:latin typeface="+mn-lt"/>
              </a:rPr>
              <a:t>MIDAS: Ghysels et al. (2004); Castelli (2022); Micheletti (2024).</a:t>
            </a:r>
          </a:p>
          <a:p>
            <a:pPr>
              <a:buFont typeface="Arial" panose="020B0604020202020204" pitchFamily="34" charset="0"/>
              <a:buChar char="•"/>
            </a:pPr>
            <a:r>
              <a:rPr lang="pt-BR" sz="2200" dirty="0">
                <a:latin typeface="+mn-lt"/>
              </a:rPr>
              <a:t>DFM: Geweke (1977); Doz e Fuleky (2019); Alves (2009); Moura et al. (2020).</a:t>
            </a:r>
          </a:p>
          <a:p>
            <a:pPr>
              <a:buFont typeface="Arial" panose="020B0604020202020204" pitchFamily="34" charset="0"/>
              <a:buChar char="•"/>
            </a:pPr>
            <a:r>
              <a:rPr lang="pt-BR" sz="2200" dirty="0">
                <a:latin typeface="+mn-lt"/>
              </a:rPr>
              <a:t>Modelos de IA: </a:t>
            </a:r>
            <a:r>
              <a:rPr lang="pt-BR" sz="2200" dirty="0">
                <a:solidFill>
                  <a:schemeClr val="tx1"/>
                </a:solidFill>
                <a:latin typeface="+mn-lt"/>
              </a:rPr>
              <a:t>Carmo e Lopacinski (2023); Vasconcelos (2017) </a:t>
            </a:r>
          </a:p>
          <a:p>
            <a:pPr>
              <a:buFont typeface="Arial" panose="020B0604020202020204" pitchFamily="34" charset="0"/>
              <a:buChar char="•"/>
            </a:pPr>
            <a:r>
              <a:rPr lang="pt-BR" sz="2200" dirty="0">
                <a:latin typeface="+mn-lt"/>
              </a:rPr>
              <a:t>Redes Neurais: Rosenblatt (1958); Rumelhart et al. (1986); Ghosh e Ranjan (2023); Kava (2022); Ekman (2021); Carmo e Lopacinski (2023); Amaral et al. (2023).</a:t>
            </a:r>
          </a:p>
          <a:p>
            <a:pPr>
              <a:buFont typeface="Arial" panose="020B0604020202020204" pitchFamily="34" charset="0"/>
              <a:buChar char="•"/>
            </a:pPr>
            <a:r>
              <a:rPr lang="pt-BR" sz="2200" dirty="0">
                <a:latin typeface="+mn-lt"/>
              </a:rPr>
              <a:t>Florestas Aleatórias: Breiman (2001); Landowska et al. (2025); Lemos e Souza (2025).</a:t>
            </a:r>
          </a:p>
        </p:txBody>
      </p:sp>
      <p:pic>
        <p:nvPicPr>
          <p:cNvPr id="98" name="Google Shape;98;p2" descr="Universidade Federal da Fronteira Sul – Wikipédia, a enciclopédia livre">
            <a:extLst>
              <a:ext uri="{FF2B5EF4-FFF2-40B4-BE49-F238E27FC236}">
                <a16:creationId xmlns:a16="http://schemas.microsoft.com/office/drawing/2014/main" id="{1EE0ECE7-4015-E52D-87CB-07B2E3E79484}"/>
              </a:ext>
            </a:extLst>
          </p:cNvPr>
          <p:cNvPicPr preferRelativeResize="0"/>
          <p:nvPr/>
        </p:nvPicPr>
        <p:blipFill rotWithShape="1">
          <a:blip r:embed="rId3">
            <a:alphaModFix/>
          </a:blip>
          <a:srcRect/>
          <a:stretch/>
        </p:blipFill>
        <p:spPr>
          <a:xfrm>
            <a:off x="10978329" y="18255"/>
            <a:ext cx="975614" cy="1325563"/>
          </a:xfrm>
          <a:prstGeom prst="rect">
            <a:avLst/>
          </a:prstGeom>
          <a:noFill/>
          <a:ln>
            <a:noFill/>
          </a:ln>
        </p:spPr>
      </p:pic>
      <p:sp>
        <p:nvSpPr>
          <p:cNvPr id="99" name="Google Shape;99;p2">
            <a:extLst>
              <a:ext uri="{FF2B5EF4-FFF2-40B4-BE49-F238E27FC236}">
                <a16:creationId xmlns:a16="http://schemas.microsoft.com/office/drawing/2014/main" id="{3D4F7B8C-6764-7564-BFE5-BAB6EBBEB5E9}"/>
              </a:ext>
            </a:extLst>
          </p:cNvPr>
          <p:cNvSpPr/>
          <p:nvPr/>
        </p:nvSpPr>
        <p:spPr>
          <a:xfrm>
            <a:off x="170268" y="958543"/>
            <a:ext cx="10515600" cy="63062"/>
          </a:xfrm>
          <a:prstGeom prst="rect">
            <a:avLst/>
          </a:prstGeom>
          <a:solidFill>
            <a:srgbClr val="548135"/>
          </a:solidFill>
          <a:ln w="12700" cap="flat" cmpd="sng">
            <a:solidFill>
              <a:srgbClr val="1C3052"/>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00" name="Google Shape;100;p2">
            <a:extLst>
              <a:ext uri="{FF2B5EF4-FFF2-40B4-BE49-F238E27FC236}">
                <a16:creationId xmlns:a16="http://schemas.microsoft.com/office/drawing/2014/main" id="{A6A58863-CCF4-A345-61CA-EE98F82E8FFA}"/>
              </a:ext>
            </a:extLst>
          </p:cNvPr>
          <p:cNvSpPr txBox="1">
            <a:spLocks noGrp="1"/>
          </p:cNvSpPr>
          <p:nvPr>
            <p:ph type="sldNum" idx="12"/>
          </p:nvPr>
        </p:nvSpPr>
        <p:spPr>
          <a:xfrm>
            <a:off x="9440152" y="6492875"/>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pt-BR" sz="1800"/>
              <a:t>8</a:t>
            </a:fld>
            <a:endParaRPr sz="1800" dirty="0"/>
          </a:p>
        </p:txBody>
      </p:sp>
    </p:spTree>
    <p:extLst>
      <p:ext uri="{BB962C8B-B14F-4D97-AF65-F5344CB8AC3E}">
        <p14:creationId xmlns:p14="http://schemas.microsoft.com/office/powerpoint/2010/main" val="165944378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95">
          <a:extLst>
            <a:ext uri="{FF2B5EF4-FFF2-40B4-BE49-F238E27FC236}">
              <a16:creationId xmlns:a16="http://schemas.microsoft.com/office/drawing/2014/main" id="{082FCE3D-C8E4-D641-0E59-757A55B023E5}"/>
            </a:ext>
          </a:extLst>
        </p:cNvPr>
        <p:cNvGrpSpPr/>
        <p:nvPr/>
      </p:nvGrpSpPr>
      <p:grpSpPr>
        <a:xfrm>
          <a:off x="0" y="0"/>
          <a:ext cx="0" cy="0"/>
          <a:chOff x="0" y="0"/>
          <a:chExt cx="0" cy="0"/>
        </a:xfrm>
      </p:grpSpPr>
      <p:sp>
        <p:nvSpPr>
          <p:cNvPr id="96" name="Google Shape;96;p2">
            <a:extLst>
              <a:ext uri="{FF2B5EF4-FFF2-40B4-BE49-F238E27FC236}">
                <a16:creationId xmlns:a16="http://schemas.microsoft.com/office/drawing/2014/main" id="{9642474F-AAFD-3D56-D2A5-8D01A8A4F1A8}"/>
              </a:ext>
            </a:extLst>
          </p:cNvPr>
          <p:cNvSpPr txBox="1">
            <a:spLocks noGrp="1"/>
          </p:cNvSpPr>
          <p:nvPr>
            <p:ph type="title"/>
          </p:nvPr>
        </p:nvSpPr>
        <p:spPr>
          <a:xfrm>
            <a:off x="170268" y="190105"/>
            <a:ext cx="10329566" cy="768438"/>
          </a:xfrm>
          <a:prstGeom prst="rect">
            <a:avLst/>
          </a:prstGeom>
          <a:noFill/>
          <a:ln>
            <a:noFill/>
          </a:ln>
        </p:spPr>
        <p:txBody>
          <a:bodyPr spcFirstLastPara="1" wrap="square" lIns="91425" tIns="45700" rIns="91425" bIns="45700" anchor="ctr" anchorCtr="0">
            <a:noAutofit/>
          </a:bodyPr>
          <a:lstStyle/>
          <a:p>
            <a:pPr lvl="0">
              <a:buSzPts val="4400"/>
            </a:pPr>
            <a:r>
              <a:rPr lang="pt-BR" sz="3200" b="1" dirty="0">
                <a:latin typeface="+mj-lt"/>
              </a:rPr>
              <a:t>Revisão</a:t>
            </a:r>
            <a:r>
              <a:rPr lang="pt-BR" sz="3200" dirty="0"/>
              <a:t> </a:t>
            </a:r>
            <a:r>
              <a:rPr lang="pt-BR" sz="3200" b="1" dirty="0">
                <a:latin typeface="+mj-lt"/>
              </a:rPr>
              <a:t>de literatura</a:t>
            </a:r>
            <a:endParaRPr sz="3200" b="1" dirty="0">
              <a:latin typeface="+mj-lt"/>
            </a:endParaRPr>
          </a:p>
        </p:txBody>
      </p:sp>
      <p:sp>
        <p:nvSpPr>
          <p:cNvPr id="97" name="Google Shape;97;p2">
            <a:extLst>
              <a:ext uri="{FF2B5EF4-FFF2-40B4-BE49-F238E27FC236}">
                <a16:creationId xmlns:a16="http://schemas.microsoft.com/office/drawing/2014/main" id="{A5778268-0C1C-7264-4EBC-88757EC986B1}"/>
              </a:ext>
            </a:extLst>
          </p:cNvPr>
          <p:cNvSpPr txBox="1">
            <a:spLocks noGrp="1"/>
          </p:cNvSpPr>
          <p:nvPr>
            <p:ph type="body" idx="1"/>
          </p:nvPr>
        </p:nvSpPr>
        <p:spPr>
          <a:xfrm>
            <a:off x="170268" y="1125342"/>
            <a:ext cx="11855669" cy="5732658"/>
          </a:xfrm>
          <a:prstGeom prst="rect">
            <a:avLst/>
          </a:prstGeom>
          <a:noFill/>
          <a:ln>
            <a:noFill/>
          </a:ln>
        </p:spPr>
        <p:txBody>
          <a:bodyPr spcFirstLastPara="1" wrap="square" lIns="91425" tIns="45700" rIns="91425" bIns="45700" anchor="t" anchorCtr="0">
            <a:noAutofit/>
          </a:bodyPr>
          <a:lstStyle/>
          <a:p>
            <a:pPr>
              <a:buFont typeface="Arial" panose="020B0604020202020204" pitchFamily="34" charset="0"/>
              <a:buChar char="•"/>
            </a:pPr>
            <a:endParaRPr lang="pt-BR" sz="2200" dirty="0">
              <a:latin typeface="+mn-lt"/>
            </a:endParaRPr>
          </a:p>
          <a:p>
            <a:pPr>
              <a:buFont typeface="Arial" panose="020B0604020202020204" pitchFamily="34" charset="0"/>
              <a:buChar char="•"/>
            </a:pPr>
            <a:r>
              <a:rPr lang="pt-BR" sz="2200" b="1" dirty="0">
                <a:latin typeface="+mn-lt"/>
              </a:rPr>
              <a:t>Predição econômica: O PIB – Frisch (1929); </a:t>
            </a:r>
            <a:r>
              <a:rPr lang="it-IT" sz="2200" b="1" dirty="0">
                <a:latin typeface="+mn-lt"/>
              </a:rPr>
              <a:t>Laudon e Laudon (2022)  e</a:t>
            </a:r>
            <a:r>
              <a:rPr lang="pt-BR" sz="2200" b="1" dirty="0">
                <a:latin typeface="+mn-lt"/>
              </a:rPr>
              <a:t> IBGE (2026).</a:t>
            </a:r>
          </a:p>
          <a:p>
            <a:pPr>
              <a:buFont typeface="Arial" panose="020B0604020202020204" pitchFamily="34" charset="0"/>
              <a:buChar char="•"/>
            </a:pPr>
            <a:r>
              <a:rPr lang="pt-BR" sz="2200" dirty="0">
                <a:latin typeface="+mn-lt"/>
              </a:rPr>
              <a:t>Modelos tradicionais: Braga (2025); Rebelo (2022).</a:t>
            </a:r>
          </a:p>
          <a:p>
            <a:pPr>
              <a:buFont typeface="Arial" panose="020B0604020202020204" pitchFamily="34" charset="0"/>
              <a:buChar char="•"/>
            </a:pPr>
            <a:r>
              <a:rPr lang="pt-BR" sz="2200" dirty="0">
                <a:latin typeface="+mn-lt"/>
              </a:rPr>
              <a:t>ARIMA: Box e Jenkins (1970); Silva </a:t>
            </a:r>
            <a:r>
              <a:rPr lang="pt-BR" sz="2200" i="1" dirty="0">
                <a:latin typeface="+mn-lt"/>
              </a:rPr>
              <a:t>et al </a:t>
            </a:r>
            <a:r>
              <a:rPr lang="pt-BR" sz="2200" dirty="0">
                <a:latin typeface="+mn-lt"/>
              </a:rPr>
              <a:t>(2025); Li (2024).</a:t>
            </a:r>
          </a:p>
          <a:p>
            <a:pPr>
              <a:buFont typeface="Arial" panose="020B0604020202020204" pitchFamily="34" charset="0"/>
              <a:buChar char="•"/>
            </a:pPr>
            <a:r>
              <a:rPr lang="pt-BR" sz="2200" dirty="0">
                <a:latin typeface="+mn-lt"/>
              </a:rPr>
              <a:t>VAR: </a:t>
            </a:r>
            <a:r>
              <a:rPr lang="pt-BR" sz="2200" dirty="0" err="1">
                <a:latin typeface="+mn-lt"/>
              </a:rPr>
              <a:t>Sims</a:t>
            </a:r>
            <a:r>
              <a:rPr lang="pt-BR" sz="2200" dirty="0">
                <a:latin typeface="+mn-lt"/>
              </a:rPr>
              <a:t> (1980); Fialho </a:t>
            </a:r>
            <a:r>
              <a:rPr lang="pt-BR" sz="2200" i="1" dirty="0">
                <a:latin typeface="+mn-lt"/>
              </a:rPr>
              <a:t>et al</a:t>
            </a:r>
            <a:r>
              <a:rPr lang="pt-BR" sz="2200" dirty="0">
                <a:latin typeface="+mn-lt"/>
              </a:rPr>
              <a:t>. (2024); Oliveira e Junior (2024); </a:t>
            </a:r>
            <a:r>
              <a:rPr lang="pt-BR" sz="2200" dirty="0" err="1">
                <a:latin typeface="+mn-lt"/>
              </a:rPr>
              <a:t>Koop</a:t>
            </a:r>
            <a:r>
              <a:rPr lang="pt-BR" sz="2200" dirty="0">
                <a:latin typeface="+mn-lt"/>
              </a:rPr>
              <a:t> </a:t>
            </a:r>
            <a:r>
              <a:rPr lang="pt-BR" sz="2200" i="1" dirty="0">
                <a:latin typeface="+mn-lt"/>
              </a:rPr>
              <a:t>et al</a:t>
            </a:r>
            <a:r>
              <a:rPr lang="pt-BR" sz="2200" dirty="0">
                <a:latin typeface="+mn-lt"/>
              </a:rPr>
              <a:t>. (2025).</a:t>
            </a:r>
          </a:p>
          <a:p>
            <a:pPr>
              <a:buFont typeface="Arial" panose="020B0604020202020204" pitchFamily="34" charset="0"/>
              <a:buChar char="•"/>
            </a:pPr>
            <a:r>
              <a:rPr lang="pt-BR" sz="2200" dirty="0">
                <a:latin typeface="+mn-lt"/>
              </a:rPr>
              <a:t>MIDAS: Ghysels et al. (2004); Castelli (2022); Micheletti (2024).</a:t>
            </a:r>
          </a:p>
          <a:p>
            <a:pPr>
              <a:buFont typeface="Arial" panose="020B0604020202020204" pitchFamily="34" charset="0"/>
              <a:buChar char="•"/>
            </a:pPr>
            <a:r>
              <a:rPr lang="pt-BR" sz="2200" dirty="0">
                <a:latin typeface="+mn-lt"/>
              </a:rPr>
              <a:t>DFM: Geweke (1977); Doz e Fuleky (2019); Alves (2009); Moura et al. (2020).</a:t>
            </a:r>
          </a:p>
          <a:p>
            <a:pPr>
              <a:buFont typeface="Arial" panose="020B0604020202020204" pitchFamily="34" charset="0"/>
              <a:buChar char="•"/>
            </a:pPr>
            <a:r>
              <a:rPr lang="pt-BR" sz="2200" dirty="0">
                <a:latin typeface="+mn-lt"/>
              </a:rPr>
              <a:t>Modelos de IA: </a:t>
            </a:r>
            <a:r>
              <a:rPr lang="pt-BR" sz="2200" dirty="0">
                <a:solidFill>
                  <a:schemeClr val="tx1"/>
                </a:solidFill>
                <a:latin typeface="+mn-lt"/>
              </a:rPr>
              <a:t>Carmo e Lopacinski (2023); Vasconcelos (2017) </a:t>
            </a:r>
          </a:p>
          <a:p>
            <a:pPr>
              <a:buFont typeface="Arial" panose="020B0604020202020204" pitchFamily="34" charset="0"/>
              <a:buChar char="•"/>
            </a:pPr>
            <a:r>
              <a:rPr lang="pt-BR" sz="2200" dirty="0">
                <a:latin typeface="+mn-lt"/>
              </a:rPr>
              <a:t>Redes Neurais: Rosenblatt (1958); Rumelhart et al. (1986); Ghosh e Ranjan (2023); Kava (2022); Ekman (2021); Carmo e Lopacinski (2023); Amaral et al. (2023).</a:t>
            </a:r>
          </a:p>
          <a:p>
            <a:pPr>
              <a:buFont typeface="Arial" panose="020B0604020202020204" pitchFamily="34" charset="0"/>
              <a:buChar char="•"/>
            </a:pPr>
            <a:r>
              <a:rPr lang="pt-BR" sz="2200" dirty="0">
                <a:latin typeface="+mn-lt"/>
              </a:rPr>
              <a:t>Florestas Aleatórias: Breiman (2001); Landowska et al. (2025); Lemos e Souza (2025).</a:t>
            </a:r>
          </a:p>
        </p:txBody>
      </p:sp>
      <p:pic>
        <p:nvPicPr>
          <p:cNvPr id="98" name="Google Shape;98;p2" descr="Universidade Federal da Fronteira Sul – Wikipédia, a enciclopédia livre">
            <a:extLst>
              <a:ext uri="{FF2B5EF4-FFF2-40B4-BE49-F238E27FC236}">
                <a16:creationId xmlns:a16="http://schemas.microsoft.com/office/drawing/2014/main" id="{F3D5547A-DBD1-E76A-49E9-452D410DFD4F}"/>
              </a:ext>
            </a:extLst>
          </p:cNvPr>
          <p:cNvPicPr preferRelativeResize="0"/>
          <p:nvPr/>
        </p:nvPicPr>
        <p:blipFill rotWithShape="1">
          <a:blip r:embed="rId3">
            <a:alphaModFix/>
          </a:blip>
          <a:srcRect/>
          <a:stretch/>
        </p:blipFill>
        <p:spPr>
          <a:xfrm>
            <a:off x="10978329" y="18255"/>
            <a:ext cx="975614" cy="1325563"/>
          </a:xfrm>
          <a:prstGeom prst="rect">
            <a:avLst/>
          </a:prstGeom>
          <a:noFill/>
          <a:ln>
            <a:noFill/>
          </a:ln>
        </p:spPr>
      </p:pic>
      <p:sp>
        <p:nvSpPr>
          <p:cNvPr id="99" name="Google Shape;99;p2">
            <a:extLst>
              <a:ext uri="{FF2B5EF4-FFF2-40B4-BE49-F238E27FC236}">
                <a16:creationId xmlns:a16="http://schemas.microsoft.com/office/drawing/2014/main" id="{38C04DD0-282E-6744-6A2C-D07A9D616792}"/>
              </a:ext>
            </a:extLst>
          </p:cNvPr>
          <p:cNvSpPr/>
          <p:nvPr/>
        </p:nvSpPr>
        <p:spPr>
          <a:xfrm>
            <a:off x="170268" y="958543"/>
            <a:ext cx="10515600" cy="63062"/>
          </a:xfrm>
          <a:prstGeom prst="rect">
            <a:avLst/>
          </a:prstGeom>
          <a:solidFill>
            <a:srgbClr val="548135"/>
          </a:solidFill>
          <a:ln w="12700" cap="flat" cmpd="sng">
            <a:solidFill>
              <a:srgbClr val="1C3052"/>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00" name="Google Shape;100;p2">
            <a:extLst>
              <a:ext uri="{FF2B5EF4-FFF2-40B4-BE49-F238E27FC236}">
                <a16:creationId xmlns:a16="http://schemas.microsoft.com/office/drawing/2014/main" id="{3C5C31B2-78C9-68EB-6D16-073B8478F7C9}"/>
              </a:ext>
            </a:extLst>
          </p:cNvPr>
          <p:cNvSpPr txBox="1">
            <a:spLocks noGrp="1"/>
          </p:cNvSpPr>
          <p:nvPr>
            <p:ph type="sldNum" idx="12"/>
          </p:nvPr>
        </p:nvSpPr>
        <p:spPr>
          <a:xfrm>
            <a:off x="9440152" y="6492875"/>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pt-BR" sz="1800"/>
              <a:t>9</a:t>
            </a:fld>
            <a:endParaRPr sz="1800" dirty="0"/>
          </a:p>
        </p:txBody>
      </p:sp>
    </p:spTree>
    <p:extLst>
      <p:ext uri="{BB962C8B-B14F-4D97-AF65-F5344CB8AC3E}">
        <p14:creationId xmlns:p14="http://schemas.microsoft.com/office/powerpoint/2010/main" val="75925924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95">
          <a:extLst>
            <a:ext uri="{FF2B5EF4-FFF2-40B4-BE49-F238E27FC236}">
              <a16:creationId xmlns:a16="http://schemas.microsoft.com/office/drawing/2014/main" id="{260B01C5-8FEE-6F48-07B2-E436F12A4FF5}"/>
            </a:ext>
          </a:extLst>
        </p:cNvPr>
        <p:cNvGrpSpPr/>
        <p:nvPr/>
      </p:nvGrpSpPr>
      <p:grpSpPr>
        <a:xfrm>
          <a:off x="0" y="0"/>
          <a:ext cx="0" cy="0"/>
          <a:chOff x="0" y="0"/>
          <a:chExt cx="0" cy="0"/>
        </a:xfrm>
      </p:grpSpPr>
      <p:sp>
        <p:nvSpPr>
          <p:cNvPr id="96" name="Google Shape;96;p2">
            <a:extLst>
              <a:ext uri="{FF2B5EF4-FFF2-40B4-BE49-F238E27FC236}">
                <a16:creationId xmlns:a16="http://schemas.microsoft.com/office/drawing/2014/main" id="{DC7CB748-DA1A-6DB8-D411-E9E2AEE026FA}"/>
              </a:ext>
            </a:extLst>
          </p:cNvPr>
          <p:cNvSpPr txBox="1">
            <a:spLocks noGrp="1"/>
          </p:cNvSpPr>
          <p:nvPr>
            <p:ph type="title"/>
          </p:nvPr>
        </p:nvSpPr>
        <p:spPr>
          <a:xfrm>
            <a:off x="170268" y="190105"/>
            <a:ext cx="10329566" cy="768438"/>
          </a:xfrm>
          <a:prstGeom prst="rect">
            <a:avLst/>
          </a:prstGeom>
          <a:noFill/>
          <a:ln>
            <a:noFill/>
          </a:ln>
        </p:spPr>
        <p:txBody>
          <a:bodyPr spcFirstLastPara="1" wrap="square" lIns="91425" tIns="45700" rIns="91425" bIns="45700" anchor="ctr" anchorCtr="0">
            <a:noAutofit/>
          </a:bodyPr>
          <a:lstStyle/>
          <a:p>
            <a:pPr lvl="0">
              <a:buSzPts val="4400"/>
            </a:pPr>
            <a:r>
              <a:rPr lang="pt-BR" sz="3200" b="1" dirty="0">
                <a:latin typeface="+mj-lt"/>
              </a:rPr>
              <a:t>Revisão</a:t>
            </a:r>
            <a:r>
              <a:rPr lang="pt-BR" sz="3200" dirty="0"/>
              <a:t> </a:t>
            </a:r>
            <a:r>
              <a:rPr lang="pt-BR" sz="3200" b="1" dirty="0">
                <a:latin typeface="+mj-lt"/>
              </a:rPr>
              <a:t>de literatura</a:t>
            </a:r>
            <a:endParaRPr sz="3200" b="1" dirty="0">
              <a:latin typeface="+mj-lt"/>
            </a:endParaRPr>
          </a:p>
        </p:txBody>
      </p:sp>
      <p:sp>
        <p:nvSpPr>
          <p:cNvPr id="97" name="Google Shape;97;p2">
            <a:extLst>
              <a:ext uri="{FF2B5EF4-FFF2-40B4-BE49-F238E27FC236}">
                <a16:creationId xmlns:a16="http://schemas.microsoft.com/office/drawing/2014/main" id="{E924DE75-AFE9-AB3E-201C-EA3B8A1EB927}"/>
              </a:ext>
            </a:extLst>
          </p:cNvPr>
          <p:cNvSpPr txBox="1">
            <a:spLocks noGrp="1"/>
          </p:cNvSpPr>
          <p:nvPr>
            <p:ph type="body" idx="1"/>
          </p:nvPr>
        </p:nvSpPr>
        <p:spPr>
          <a:xfrm>
            <a:off x="170268" y="1125342"/>
            <a:ext cx="11855669" cy="5732658"/>
          </a:xfrm>
          <a:prstGeom prst="rect">
            <a:avLst/>
          </a:prstGeom>
          <a:noFill/>
          <a:ln>
            <a:noFill/>
          </a:ln>
        </p:spPr>
        <p:txBody>
          <a:bodyPr spcFirstLastPara="1" wrap="square" lIns="91425" tIns="45700" rIns="91425" bIns="45700" anchor="t" anchorCtr="0">
            <a:noAutofit/>
          </a:bodyPr>
          <a:lstStyle/>
          <a:p>
            <a:pPr>
              <a:buFont typeface="Arial" panose="020B0604020202020204" pitchFamily="34" charset="0"/>
              <a:buChar char="•"/>
            </a:pPr>
            <a:endParaRPr lang="pt-BR" sz="2200" dirty="0">
              <a:latin typeface="+mn-lt"/>
            </a:endParaRPr>
          </a:p>
          <a:p>
            <a:pPr>
              <a:buFont typeface="Arial" panose="020B0604020202020204" pitchFamily="34" charset="0"/>
              <a:buChar char="•"/>
            </a:pPr>
            <a:r>
              <a:rPr lang="pt-BR" sz="2200" dirty="0">
                <a:latin typeface="+mn-lt"/>
              </a:rPr>
              <a:t>Predição econômica: O PIB – Frisch (1929); </a:t>
            </a:r>
            <a:r>
              <a:rPr lang="it-IT" sz="2200" dirty="0">
                <a:latin typeface="+mn-lt"/>
              </a:rPr>
              <a:t>Laudon e Laudon (2022)  e</a:t>
            </a:r>
            <a:r>
              <a:rPr lang="pt-BR" sz="2200" dirty="0">
                <a:latin typeface="+mn-lt"/>
              </a:rPr>
              <a:t> IBGE (2026).</a:t>
            </a:r>
          </a:p>
          <a:p>
            <a:pPr>
              <a:buFont typeface="Arial" panose="020B0604020202020204" pitchFamily="34" charset="0"/>
              <a:buChar char="•"/>
            </a:pPr>
            <a:r>
              <a:rPr lang="pt-BR" sz="2200" b="1" dirty="0">
                <a:latin typeface="+mn-lt"/>
              </a:rPr>
              <a:t>Modelos tradicionais: Braga (2025); Rebelo (2022).</a:t>
            </a:r>
          </a:p>
          <a:p>
            <a:pPr>
              <a:buFont typeface="Arial" panose="020B0604020202020204" pitchFamily="34" charset="0"/>
              <a:buChar char="•"/>
            </a:pPr>
            <a:r>
              <a:rPr lang="pt-BR" sz="2200" dirty="0">
                <a:latin typeface="+mn-lt"/>
              </a:rPr>
              <a:t>ARIMA: Box e Jenkins (1970); Silva </a:t>
            </a:r>
            <a:r>
              <a:rPr lang="pt-BR" sz="2200" i="1" dirty="0">
                <a:latin typeface="+mn-lt"/>
              </a:rPr>
              <a:t>et al </a:t>
            </a:r>
            <a:r>
              <a:rPr lang="pt-BR" sz="2200" dirty="0">
                <a:latin typeface="+mn-lt"/>
              </a:rPr>
              <a:t>(2025); Li (2024).</a:t>
            </a:r>
          </a:p>
          <a:p>
            <a:pPr>
              <a:buFont typeface="Arial" panose="020B0604020202020204" pitchFamily="34" charset="0"/>
              <a:buChar char="•"/>
            </a:pPr>
            <a:r>
              <a:rPr lang="pt-BR" sz="2200" dirty="0">
                <a:latin typeface="+mn-lt"/>
              </a:rPr>
              <a:t>VAR: Sims (1980); Fialho </a:t>
            </a:r>
            <a:r>
              <a:rPr lang="pt-BR" sz="2200" i="1" dirty="0">
                <a:latin typeface="+mn-lt"/>
              </a:rPr>
              <a:t>et al</a:t>
            </a:r>
            <a:r>
              <a:rPr lang="pt-BR" sz="2200" dirty="0">
                <a:latin typeface="+mn-lt"/>
              </a:rPr>
              <a:t>. (2024); Oliveira e Junior (2024); Koop </a:t>
            </a:r>
            <a:r>
              <a:rPr lang="pt-BR" sz="2200" i="1" dirty="0">
                <a:latin typeface="+mn-lt"/>
              </a:rPr>
              <a:t>et al</a:t>
            </a:r>
            <a:r>
              <a:rPr lang="pt-BR" sz="2200" dirty="0">
                <a:latin typeface="+mn-lt"/>
              </a:rPr>
              <a:t>. (2025).</a:t>
            </a:r>
          </a:p>
          <a:p>
            <a:pPr>
              <a:buFont typeface="Arial" panose="020B0604020202020204" pitchFamily="34" charset="0"/>
              <a:buChar char="•"/>
            </a:pPr>
            <a:r>
              <a:rPr lang="pt-BR" sz="2200" dirty="0">
                <a:latin typeface="+mn-lt"/>
              </a:rPr>
              <a:t>MIDAS: Ghysels et al. (2004); Castelli (2022); Micheletti (2024).</a:t>
            </a:r>
          </a:p>
          <a:p>
            <a:pPr>
              <a:buFont typeface="Arial" panose="020B0604020202020204" pitchFamily="34" charset="0"/>
              <a:buChar char="•"/>
            </a:pPr>
            <a:r>
              <a:rPr lang="pt-BR" sz="2200" dirty="0">
                <a:latin typeface="+mn-lt"/>
              </a:rPr>
              <a:t>DFM: Geweke (1977); Doz e Fuleky (2019); Alves (2009); Moura et al. (2020).</a:t>
            </a:r>
          </a:p>
          <a:p>
            <a:pPr>
              <a:buFont typeface="Arial" panose="020B0604020202020204" pitchFamily="34" charset="0"/>
              <a:buChar char="•"/>
            </a:pPr>
            <a:r>
              <a:rPr lang="pt-BR" sz="2200" dirty="0">
                <a:latin typeface="+mn-lt"/>
              </a:rPr>
              <a:t>Modelos de IA: </a:t>
            </a:r>
            <a:r>
              <a:rPr lang="pt-BR" sz="2200" dirty="0">
                <a:solidFill>
                  <a:schemeClr val="tx1"/>
                </a:solidFill>
                <a:latin typeface="+mn-lt"/>
              </a:rPr>
              <a:t>Carmo e Lopacinski (2023); Vasconcelos (2017) </a:t>
            </a:r>
          </a:p>
          <a:p>
            <a:pPr>
              <a:buFont typeface="Arial" panose="020B0604020202020204" pitchFamily="34" charset="0"/>
              <a:buChar char="•"/>
            </a:pPr>
            <a:r>
              <a:rPr lang="pt-BR" sz="2200" dirty="0">
                <a:latin typeface="+mn-lt"/>
              </a:rPr>
              <a:t>Redes Neurais: Rosenblatt (1958); Rumelhart et al. (1986); Ghosh e Ranjan (2023); Kava (2022); Ekman (2021); Carmo e Lopacinski (2023); Amaral et al. (2023).</a:t>
            </a:r>
          </a:p>
          <a:p>
            <a:pPr>
              <a:buFont typeface="Arial" panose="020B0604020202020204" pitchFamily="34" charset="0"/>
              <a:buChar char="•"/>
            </a:pPr>
            <a:r>
              <a:rPr lang="pt-BR" sz="2200" dirty="0">
                <a:latin typeface="+mn-lt"/>
              </a:rPr>
              <a:t>Florestas Aleatórias: Breiman (2001); Landowska et al. (2025); Lemos e Souza (2025).</a:t>
            </a:r>
          </a:p>
        </p:txBody>
      </p:sp>
      <p:pic>
        <p:nvPicPr>
          <p:cNvPr id="98" name="Google Shape;98;p2" descr="Universidade Federal da Fronteira Sul – Wikipédia, a enciclopédia livre">
            <a:extLst>
              <a:ext uri="{FF2B5EF4-FFF2-40B4-BE49-F238E27FC236}">
                <a16:creationId xmlns:a16="http://schemas.microsoft.com/office/drawing/2014/main" id="{2B9CFFB4-8948-B4ED-85D9-D80CBC3B6C88}"/>
              </a:ext>
            </a:extLst>
          </p:cNvPr>
          <p:cNvPicPr preferRelativeResize="0"/>
          <p:nvPr/>
        </p:nvPicPr>
        <p:blipFill rotWithShape="1">
          <a:blip r:embed="rId3">
            <a:alphaModFix/>
          </a:blip>
          <a:srcRect/>
          <a:stretch/>
        </p:blipFill>
        <p:spPr>
          <a:xfrm>
            <a:off x="10978329" y="18255"/>
            <a:ext cx="975614" cy="1325563"/>
          </a:xfrm>
          <a:prstGeom prst="rect">
            <a:avLst/>
          </a:prstGeom>
          <a:noFill/>
          <a:ln>
            <a:noFill/>
          </a:ln>
        </p:spPr>
      </p:pic>
      <p:sp>
        <p:nvSpPr>
          <p:cNvPr id="99" name="Google Shape;99;p2">
            <a:extLst>
              <a:ext uri="{FF2B5EF4-FFF2-40B4-BE49-F238E27FC236}">
                <a16:creationId xmlns:a16="http://schemas.microsoft.com/office/drawing/2014/main" id="{F6D9AD49-9869-9CD2-DB15-3E17858BDB7F}"/>
              </a:ext>
            </a:extLst>
          </p:cNvPr>
          <p:cNvSpPr/>
          <p:nvPr/>
        </p:nvSpPr>
        <p:spPr>
          <a:xfrm>
            <a:off x="170268" y="958543"/>
            <a:ext cx="10515600" cy="63062"/>
          </a:xfrm>
          <a:prstGeom prst="rect">
            <a:avLst/>
          </a:prstGeom>
          <a:solidFill>
            <a:srgbClr val="548135"/>
          </a:solidFill>
          <a:ln w="12700" cap="flat" cmpd="sng">
            <a:solidFill>
              <a:srgbClr val="1C3052"/>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00" name="Google Shape;100;p2">
            <a:extLst>
              <a:ext uri="{FF2B5EF4-FFF2-40B4-BE49-F238E27FC236}">
                <a16:creationId xmlns:a16="http://schemas.microsoft.com/office/drawing/2014/main" id="{53B1E86B-7B07-1CA8-F5A8-BB787E9038BF}"/>
              </a:ext>
            </a:extLst>
          </p:cNvPr>
          <p:cNvSpPr txBox="1">
            <a:spLocks noGrp="1"/>
          </p:cNvSpPr>
          <p:nvPr>
            <p:ph type="sldNum" idx="12"/>
          </p:nvPr>
        </p:nvSpPr>
        <p:spPr>
          <a:xfrm>
            <a:off x="9440152" y="6492875"/>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pt-BR" sz="1800"/>
              <a:t>10</a:t>
            </a:fld>
            <a:endParaRPr sz="1800" dirty="0"/>
          </a:p>
        </p:txBody>
      </p:sp>
    </p:spTree>
    <p:extLst>
      <p:ext uri="{BB962C8B-B14F-4D97-AF65-F5344CB8AC3E}">
        <p14:creationId xmlns:p14="http://schemas.microsoft.com/office/powerpoint/2010/main" val="154396821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95">
          <a:extLst>
            <a:ext uri="{FF2B5EF4-FFF2-40B4-BE49-F238E27FC236}">
              <a16:creationId xmlns:a16="http://schemas.microsoft.com/office/drawing/2014/main" id="{B566F343-055F-5FAB-8169-75D17DED3B6D}"/>
            </a:ext>
          </a:extLst>
        </p:cNvPr>
        <p:cNvGrpSpPr/>
        <p:nvPr/>
      </p:nvGrpSpPr>
      <p:grpSpPr>
        <a:xfrm>
          <a:off x="0" y="0"/>
          <a:ext cx="0" cy="0"/>
          <a:chOff x="0" y="0"/>
          <a:chExt cx="0" cy="0"/>
        </a:xfrm>
      </p:grpSpPr>
      <p:sp>
        <p:nvSpPr>
          <p:cNvPr id="96" name="Google Shape;96;p2">
            <a:extLst>
              <a:ext uri="{FF2B5EF4-FFF2-40B4-BE49-F238E27FC236}">
                <a16:creationId xmlns:a16="http://schemas.microsoft.com/office/drawing/2014/main" id="{EEC339BD-09A9-EC85-32A5-A12D59A51F8A}"/>
              </a:ext>
            </a:extLst>
          </p:cNvPr>
          <p:cNvSpPr txBox="1">
            <a:spLocks noGrp="1"/>
          </p:cNvSpPr>
          <p:nvPr>
            <p:ph type="title"/>
          </p:nvPr>
        </p:nvSpPr>
        <p:spPr>
          <a:xfrm>
            <a:off x="170268" y="190105"/>
            <a:ext cx="10329566" cy="768438"/>
          </a:xfrm>
          <a:prstGeom prst="rect">
            <a:avLst/>
          </a:prstGeom>
          <a:noFill/>
          <a:ln>
            <a:noFill/>
          </a:ln>
        </p:spPr>
        <p:txBody>
          <a:bodyPr spcFirstLastPara="1" wrap="square" lIns="91425" tIns="45700" rIns="91425" bIns="45700" anchor="ctr" anchorCtr="0">
            <a:noAutofit/>
          </a:bodyPr>
          <a:lstStyle/>
          <a:p>
            <a:pPr lvl="0">
              <a:buSzPts val="4400"/>
            </a:pPr>
            <a:r>
              <a:rPr lang="pt-BR" sz="3200" b="1" dirty="0">
                <a:latin typeface="+mj-lt"/>
              </a:rPr>
              <a:t>Revisão</a:t>
            </a:r>
            <a:r>
              <a:rPr lang="pt-BR" sz="3200" dirty="0"/>
              <a:t> </a:t>
            </a:r>
            <a:r>
              <a:rPr lang="pt-BR" sz="3200" b="1" dirty="0">
                <a:latin typeface="+mj-lt"/>
              </a:rPr>
              <a:t>de literatura</a:t>
            </a:r>
            <a:endParaRPr sz="3200" b="1" dirty="0">
              <a:latin typeface="+mj-lt"/>
            </a:endParaRPr>
          </a:p>
        </p:txBody>
      </p:sp>
      <p:sp>
        <p:nvSpPr>
          <p:cNvPr id="97" name="Google Shape;97;p2">
            <a:extLst>
              <a:ext uri="{FF2B5EF4-FFF2-40B4-BE49-F238E27FC236}">
                <a16:creationId xmlns:a16="http://schemas.microsoft.com/office/drawing/2014/main" id="{254F87FF-7D39-3447-77B7-2A20F6F71F0B}"/>
              </a:ext>
            </a:extLst>
          </p:cNvPr>
          <p:cNvSpPr txBox="1">
            <a:spLocks noGrp="1"/>
          </p:cNvSpPr>
          <p:nvPr>
            <p:ph type="body" idx="1"/>
          </p:nvPr>
        </p:nvSpPr>
        <p:spPr>
          <a:xfrm>
            <a:off x="170268" y="1125342"/>
            <a:ext cx="11855669" cy="5732658"/>
          </a:xfrm>
          <a:prstGeom prst="rect">
            <a:avLst/>
          </a:prstGeom>
          <a:noFill/>
          <a:ln>
            <a:noFill/>
          </a:ln>
        </p:spPr>
        <p:txBody>
          <a:bodyPr spcFirstLastPara="1" wrap="square" lIns="91425" tIns="45700" rIns="91425" bIns="45700" anchor="t" anchorCtr="0">
            <a:noAutofit/>
          </a:bodyPr>
          <a:lstStyle/>
          <a:p>
            <a:pPr>
              <a:buFont typeface="Arial" panose="020B0604020202020204" pitchFamily="34" charset="0"/>
              <a:buChar char="•"/>
            </a:pPr>
            <a:endParaRPr lang="pt-BR" sz="2200" dirty="0">
              <a:latin typeface="+mn-lt"/>
            </a:endParaRPr>
          </a:p>
          <a:p>
            <a:pPr>
              <a:buFont typeface="Arial" panose="020B0604020202020204" pitchFamily="34" charset="0"/>
              <a:buChar char="•"/>
            </a:pPr>
            <a:r>
              <a:rPr lang="pt-BR" sz="2200" dirty="0">
                <a:latin typeface="+mn-lt"/>
              </a:rPr>
              <a:t>Predição econômica: O PIB – Frisch (1929); </a:t>
            </a:r>
            <a:r>
              <a:rPr lang="it-IT" sz="2200" dirty="0">
                <a:latin typeface="+mn-lt"/>
              </a:rPr>
              <a:t>Laudon e Laudon (2022)  e</a:t>
            </a:r>
            <a:r>
              <a:rPr lang="pt-BR" sz="2200" dirty="0">
                <a:latin typeface="+mn-lt"/>
              </a:rPr>
              <a:t> IBGE (2026).</a:t>
            </a:r>
          </a:p>
          <a:p>
            <a:pPr>
              <a:buFont typeface="Arial" panose="020B0604020202020204" pitchFamily="34" charset="0"/>
              <a:buChar char="•"/>
            </a:pPr>
            <a:r>
              <a:rPr lang="pt-BR" sz="2200" dirty="0">
                <a:latin typeface="+mn-lt"/>
              </a:rPr>
              <a:t>Modelos tradicionais: Braga (2025); Rebelo (2022).</a:t>
            </a:r>
          </a:p>
          <a:p>
            <a:pPr>
              <a:buFont typeface="Arial" panose="020B0604020202020204" pitchFamily="34" charset="0"/>
              <a:buChar char="•"/>
            </a:pPr>
            <a:r>
              <a:rPr lang="pt-BR" sz="2200" b="1" dirty="0">
                <a:latin typeface="+mn-lt"/>
              </a:rPr>
              <a:t>ARIMA: Box e Jenkins (1970); Silva </a:t>
            </a:r>
            <a:r>
              <a:rPr lang="pt-BR" sz="2200" b="1" i="1" dirty="0">
                <a:latin typeface="+mn-lt"/>
              </a:rPr>
              <a:t>et al </a:t>
            </a:r>
            <a:r>
              <a:rPr lang="pt-BR" sz="2200" b="1" dirty="0">
                <a:latin typeface="+mn-lt"/>
              </a:rPr>
              <a:t>(2025); Li (2024).</a:t>
            </a:r>
          </a:p>
          <a:p>
            <a:pPr>
              <a:buFont typeface="Arial" panose="020B0604020202020204" pitchFamily="34" charset="0"/>
              <a:buChar char="•"/>
            </a:pPr>
            <a:r>
              <a:rPr lang="pt-BR" sz="2200" dirty="0">
                <a:latin typeface="+mn-lt"/>
              </a:rPr>
              <a:t>VAR: </a:t>
            </a:r>
            <a:r>
              <a:rPr lang="pt-BR" sz="2200" dirty="0" err="1">
                <a:latin typeface="+mn-lt"/>
              </a:rPr>
              <a:t>Sims</a:t>
            </a:r>
            <a:r>
              <a:rPr lang="pt-BR" sz="2200" dirty="0">
                <a:latin typeface="+mn-lt"/>
              </a:rPr>
              <a:t> (1980); Fialho </a:t>
            </a:r>
            <a:r>
              <a:rPr lang="pt-BR" sz="2200" i="1" dirty="0">
                <a:latin typeface="+mn-lt"/>
              </a:rPr>
              <a:t>et al</a:t>
            </a:r>
            <a:r>
              <a:rPr lang="pt-BR" sz="2200" dirty="0">
                <a:latin typeface="+mn-lt"/>
              </a:rPr>
              <a:t>. (2024); Oliveira e Junior (2024); </a:t>
            </a:r>
            <a:r>
              <a:rPr lang="pt-BR" sz="2200" dirty="0" err="1">
                <a:latin typeface="+mn-lt"/>
              </a:rPr>
              <a:t>Koop</a:t>
            </a:r>
            <a:r>
              <a:rPr lang="pt-BR" sz="2200" dirty="0">
                <a:latin typeface="+mn-lt"/>
              </a:rPr>
              <a:t> </a:t>
            </a:r>
            <a:r>
              <a:rPr lang="pt-BR" sz="2200" i="1" dirty="0">
                <a:latin typeface="+mn-lt"/>
              </a:rPr>
              <a:t>et al</a:t>
            </a:r>
            <a:r>
              <a:rPr lang="pt-BR" sz="2200" dirty="0">
                <a:latin typeface="+mn-lt"/>
              </a:rPr>
              <a:t>. (2025).</a:t>
            </a:r>
          </a:p>
          <a:p>
            <a:pPr>
              <a:buFont typeface="Arial" panose="020B0604020202020204" pitchFamily="34" charset="0"/>
              <a:buChar char="•"/>
            </a:pPr>
            <a:r>
              <a:rPr lang="pt-BR" sz="2200" dirty="0">
                <a:latin typeface="+mn-lt"/>
              </a:rPr>
              <a:t>MIDAS: Ghysels et al. (2004); Castelli (2022); Micheletti (2024).</a:t>
            </a:r>
          </a:p>
          <a:p>
            <a:pPr>
              <a:buFont typeface="Arial" panose="020B0604020202020204" pitchFamily="34" charset="0"/>
              <a:buChar char="•"/>
            </a:pPr>
            <a:r>
              <a:rPr lang="pt-BR" sz="2200" dirty="0">
                <a:latin typeface="+mn-lt"/>
              </a:rPr>
              <a:t>DFM: Geweke (1977); Doz e Fuleky (2019); Alves (2009); Moura et al. (2020).</a:t>
            </a:r>
          </a:p>
          <a:p>
            <a:pPr>
              <a:buFont typeface="Arial" panose="020B0604020202020204" pitchFamily="34" charset="0"/>
              <a:buChar char="•"/>
            </a:pPr>
            <a:r>
              <a:rPr lang="pt-BR" sz="2200" dirty="0">
                <a:latin typeface="+mn-lt"/>
              </a:rPr>
              <a:t>Modelos de IA: </a:t>
            </a:r>
            <a:r>
              <a:rPr lang="pt-BR" sz="2200" dirty="0">
                <a:solidFill>
                  <a:schemeClr val="tx1"/>
                </a:solidFill>
                <a:latin typeface="+mn-lt"/>
              </a:rPr>
              <a:t>Carmo e Lopacinski (2023); Vasconcelos (2017) </a:t>
            </a:r>
          </a:p>
          <a:p>
            <a:pPr>
              <a:buFont typeface="Arial" panose="020B0604020202020204" pitchFamily="34" charset="0"/>
              <a:buChar char="•"/>
            </a:pPr>
            <a:r>
              <a:rPr lang="pt-BR" sz="2200" dirty="0">
                <a:latin typeface="+mn-lt"/>
              </a:rPr>
              <a:t>Redes Neurais: Rosenblatt (1958); Rumelhart et al. (1986); Ghosh e Ranjan (2023); Kava (2022); Ekman (2021); Carmo e Lopacinski (2023); Amaral et al. (2023).</a:t>
            </a:r>
          </a:p>
          <a:p>
            <a:pPr>
              <a:buFont typeface="Arial" panose="020B0604020202020204" pitchFamily="34" charset="0"/>
              <a:buChar char="•"/>
            </a:pPr>
            <a:r>
              <a:rPr lang="pt-BR" sz="2200" dirty="0">
                <a:latin typeface="+mn-lt"/>
              </a:rPr>
              <a:t>Florestas Aleatórias: Breiman (2001); Landowska et al. (2025); Lemos e Souza (2025).</a:t>
            </a:r>
          </a:p>
        </p:txBody>
      </p:sp>
      <p:pic>
        <p:nvPicPr>
          <p:cNvPr id="98" name="Google Shape;98;p2" descr="Universidade Federal da Fronteira Sul – Wikipédia, a enciclopédia livre">
            <a:extLst>
              <a:ext uri="{FF2B5EF4-FFF2-40B4-BE49-F238E27FC236}">
                <a16:creationId xmlns:a16="http://schemas.microsoft.com/office/drawing/2014/main" id="{44C0284A-B45E-8460-C22C-C1DC6674E2FA}"/>
              </a:ext>
            </a:extLst>
          </p:cNvPr>
          <p:cNvPicPr preferRelativeResize="0"/>
          <p:nvPr/>
        </p:nvPicPr>
        <p:blipFill rotWithShape="1">
          <a:blip r:embed="rId3">
            <a:alphaModFix/>
          </a:blip>
          <a:srcRect/>
          <a:stretch/>
        </p:blipFill>
        <p:spPr>
          <a:xfrm>
            <a:off x="10978329" y="18255"/>
            <a:ext cx="975614" cy="1325563"/>
          </a:xfrm>
          <a:prstGeom prst="rect">
            <a:avLst/>
          </a:prstGeom>
          <a:noFill/>
          <a:ln>
            <a:noFill/>
          </a:ln>
        </p:spPr>
      </p:pic>
      <p:sp>
        <p:nvSpPr>
          <p:cNvPr id="99" name="Google Shape;99;p2">
            <a:extLst>
              <a:ext uri="{FF2B5EF4-FFF2-40B4-BE49-F238E27FC236}">
                <a16:creationId xmlns:a16="http://schemas.microsoft.com/office/drawing/2014/main" id="{4AB01632-80E3-25F5-1573-7BAC8CBA545E}"/>
              </a:ext>
            </a:extLst>
          </p:cNvPr>
          <p:cNvSpPr/>
          <p:nvPr/>
        </p:nvSpPr>
        <p:spPr>
          <a:xfrm>
            <a:off x="170268" y="958543"/>
            <a:ext cx="10515600" cy="63062"/>
          </a:xfrm>
          <a:prstGeom prst="rect">
            <a:avLst/>
          </a:prstGeom>
          <a:solidFill>
            <a:srgbClr val="548135"/>
          </a:solidFill>
          <a:ln w="12700" cap="flat" cmpd="sng">
            <a:solidFill>
              <a:srgbClr val="1C3052"/>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00" name="Google Shape;100;p2">
            <a:extLst>
              <a:ext uri="{FF2B5EF4-FFF2-40B4-BE49-F238E27FC236}">
                <a16:creationId xmlns:a16="http://schemas.microsoft.com/office/drawing/2014/main" id="{1EFAB09D-17A2-0754-2EFF-3C32D80C5D4E}"/>
              </a:ext>
            </a:extLst>
          </p:cNvPr>
          <p:cNvSpPr txBox="1">
            <a:spLocks noGrp="1"/>
          </p:cNvSpPr>
          <p:nvPr>
            <p:ph type="sldNum" idx="12"/>
          </p:nvPr>
        </p:nvSpPr>
        <p:spPr>
          <a:xfrm>
            <a:off x="9440152" y="6492875"/>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pt-BR" sz="1800"/>
              <a:t>11</a:t>
            </a:fld>
            <a:endParaRPr sz="1800" dirty="0"/>
          </a:p>
        </p:txBody>
      </p:sp>
    </p:spTree>
    <p:extLst>
      <p:ext uri="{BB962C8B-B14F-4D97-AF65-F5344CB8AC3E}">
        <p14:creationId xmlns:p14="http://schemas.microsoft.com/office/powerpoint/2010/main" val="426346199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95">
          <a:extLst>
            <a:ext uri="{FF2B5EF4-FFF2-40B4-BE49-F238E27FC236}">
              <a16:creationId xmlns:a16="http://schemas.microsoft.com/office/drawing/2014/main" id="{22DED526-854A-9948-642F-9266CE316FCB}"/>
            </a:ext>
          </a:extLst>
        </p:cNvPr>
        <p:cNvGrpSpPr/>
        <p:nvPr/>
      </p:nvGrpSpPr>
      <p:grpSpPr>
        <a:xfrm>
          <a:off x="0" y="0"/>
          <a:ext cx="0" cy="0"/>
          <a:chOff x="0" y="0"/>
          <a:chExt cx="0" cy="0"/>
        </a:xfrm>
      </p:grpSpPr>
      <p:sp>
        <p:nvSpPr>
          <p:cNvPr id="96" name="Google Shape;96;p2">
            <a:extLst>
              <a:ext uri="{FF2B5EF4-FFF2-40B4-BE49-F238E27FC236}">
                <a16:creationId xmlns:a16="http://schemas.microsoft.com/office/drawing/2014/main" id="{E5DD0DCE-7A8D-F789-7325-D1074C5887E7}"/>
              </a:ext>
            </a:extLst>
          </p:cNvPr>
          <p:cNvSpPr txBox="1">
            <a:spLocks noGrp="1"/>
          </p:cNvSpPr>
          <p:nvPr>
            <p:ph type="title"/>
          </p:nvPr>
        </p:nvSpPr>
        <p:spPr>
          <a:xfrm>
            <a:off x="170268" y="190105"/>
            <a:ext cx="10329566" cy="768438"/>
          </a:xfrm>
          <a:prstGeom prst="rect">
            <a:avLst/>
          </a:prstGeom>
          <a:noFill/>
          <a:ln>
            <a:noFill/>
          </a:ln>
        </p:spPr>
        <p:txBody>
          <a:bodyPr spcFirstLastPara="1" wrap="square" lIns="91425" tIns="45700" rIns="91425" bIns="45700" anchor="ctr" anchorCtr="0">
            <a:noAutofit/>
          </a:bodyPr>
          <a:lstStyle/>
          <a:p>
            <a:pPr lvl="0">
              <a:buSzPts val="4400"/>
            </a:pPr>
            <a:r>
              <a:rPr lang="pt-BR" sz="3200" b="1" dirty="0">
                <a:latin typeface="+mj-lt"/>
              </a:rPr>
              <a:t>Revisão</a:t>
            </a:r>
            <a:r>
              <a:rPr lang="pt-BR" sz="3200" dirty="0"/>
              <a:t> </a:t>
            </a:r>
            <a:r>
              <a:rPr lang="pt-BR" sz="3200" b="1" dirty="0">
                <a:latin typeface="+mj-lt"/>
              </a:rPr>
              <a:t>de literatura</a:t>
            </a:r>
            <a:endParaRPr sz="3200" b="1" dirty="0">
              <a:latin typeface="+mj-lt"/>
            </a:endParaRPr>
          </a:p>
        </p:txBody>
      </p:sp>
      <p:sp>
        <p:nvSpPr>
          <p:cNvPr id="97" name="Google Shape;97;p2">
            <a:extLst>
              <a:ext uri="{FF2B5EF4-FFF2-40B4-BE49-F238E27FC236}">
                <a16:creationId xmlns:a16="http://schemas.microsoft.com/office/drawing/2014/main" id="{4D3CB55C-93C6-6127-AE9B-DB199B67B7B2}"/>
              </a:ext>
            </a:extLst>
          </p:cNvPr>
          <p:cNvSpPr txBox="1">
            <a:spLocks noGrp="1"/>
          </p:cNvSpPr>
          <p:nvPr>
            <p:ph type="body" idx="1"/>
          </p:nvPr>
        </p:nvSpPr>
        <p:spPr>
          <a:xfrm>
            <a:off x="170268" y="1125342"/>
            <a:ext cx="11855669" cy="5732658"/>
          </a:xfrm>
          <a:prstGeom prst="rect">
            <a:avLst/>
          </a:prstGeom>
          <a:noFill/>
          <a:ln>
            <a:noFill/>
          </a:ln>
        </p:spPr>
        <p:txBody>
          <a:bodyPr spcFirstLastPara="1" wrap="square" lIns="91425" tIns="45700" rIns="91425" bIns="45700" anchor="t" anchorCtr="0">
            <a:noAutofit/>
          </a:bodyPr>
          <a:lstStyle/>
          <a:p>
            <a:pPr>
              <a:buFont typeface="Arial" panose="020B0604020202020204" pitchFamily="34" charset="0"/>
              <a:buChar char="•"/>
            </a:pPr>
            <a:endParaRPr lang="pt-BR" sz="2200" dirty="0">
              <a:latin typeface="+mn-lt"/>
            </a:endParaRPr>
          </a:p>
          <a:p>
            <a:pPr>
              <a:buFont typeface="Arial" panose="020B0604020202020204" pitchFamily="34" charset="0"/>
              <a:buChar char="•"/>
            </a:pPr>
            <a:r>
              <a:rPr lang="pt-BR" sz="2200" dirty="0">
                <a:latin typeface="+mn-lt"/>
              </a:rPr>
              <a:t>Predição econômica: O PIB – Frisch (1929); </a:t>
            </a:r>
            <a:r>
              <a:rPr lang="it-IT" sz="2200" dirty="0">
                <a:latin typeface="+mn-lt"/>
              </a:rPr>
              <a:t>Laudon e Laudon (2022)  e</a:t>
            </a:r>
            <a:r>
              <a:rPr lang="pt-BR" sz="2200" dirty="0">
                <a:latin typeface="+mn-lt"/>
              </a:rPr>
              <a:t> IBGE (2026).</a:t>
            </a:r>
          </a:p>
          <a:p>
            <a:pPr>
              <a:buFont typeface="Arial" panose="020B0604020202020204" pitchFamily="34" charset="0"/>
              <a:buChar char="•"/>
            </a:pPr>
            <a:r>
              <a:rPr lang="pt-BR" sz="2200" dirty="0">
                <a:latin typeface="+mn-lt"/>
              </a:rPr>
              <a:t>Modelos tradicionais: Braga (2025); Rebelo (2022).</a:t>
            </a:r>
          </a:p>
          <a:p>
            <a:pPr>
              <a:buFont typeface="Arial" panose="020B0604020202020204" pitchFamily="34" charset="0"/>
              <a:buChar char="•"/>
            </a:pPr>
            <a:r>
              <a:rPr lang="pt-BR" sz="2200" dirty="0">
                <a:latin typeface="+mn-lt"/>
              </a:rPr>
              <a:t>ARIMA: Box e Jenkins (1970); Silva </a:t>
            </a:r>
            <a:r>
              <a:rPr lang="pt-BR" sz="2200" i="1" dirty="0">
                <a:latin typeface="+mn-lt"/>
              </a:rPr>
              <a:t>et al </a:t>
            </a:r>
            <a:r>
              <a:rPr lang="pt-BR" sz="2200" dirty="0">
                <a:latin typeface="+mn-lt"/>
              </a:rPr>
              <a:t>(2025); Li (2024).</a:t>
            </a:r>
          </a:p>
          <a:p>
            <a:pPr>
              <a:buFont typeface="Arial" panose="020B0604020202020204" pitchFamily="34" charset="0"/>
              <a:buChar char="•"/>
            </a:pPr>
            <a:r>
              <a:rPr lang="pt-BR" sz="2200" b="1" dirty="0">
                <a:latin typeface="+mn-lt"/>
              </a:rPr>
              <a:t>VAR: </a:t>
            </a:r>
            <a:r>
              <a:rPr lang="pt-BR" sz="2200" b="1" dirty="0" err="1">
                <a:latin typeface="+mn-lt"/>
              </a:rPr>
              <a:t>Sims</a:t>
            </a:r>
            <a:r>
              <a:rPr lang="pt-BR" sz="2200" b="1" dirty="0">
                <a:latin typeface="+mn-lt"/>
              </a:rPr>
              <a:t> (1980); Fialho </a:t>
            </a:r>
            <a:r>
              <a:rPr lang="pt-BR" sz="2200" b="1" i="1" dirty="0">
                <a:latin typeface="+mn-lt"/>
              </a:rPr>
              <a:t>et al</a:t>
            </a:r>
            <a:r>
              <a:rPr lang="pt-BR" sz="2200" b="1" dirty="0">
                <a:latin typeface="+mn-lt"/>
              </a:rPr>
              <a:t>. (2024); Oliveira e Junior (2024); </a:t>
            </a:r>
            <a:r>
              <a:rPr lang="pt-BR" sz="2200" b="1" dirty="0" err="1">
                <a:latin typeface="+mn-lt"/>
              </a:rPr>
              <a:t>Koop</a:t>
            </a:r>
            <a:r>
              <a:rPr lang="pt-BR" sz="2200" b="1" dirty="0">
                <a:latin typeface="+mn-lt"/>
              </a:rPr>
              <a:t> </a:t>
            </a:r>
            <a:r>
              <a:rPr lang="pt-BR" sz="2200" b="1" i="1" dirty="0">
                <a:latin typeface="+mn-lt"/>
              </a:rPr>
              <a:t>et al</a:t>
            </a:r>
            <a:r>
              <a:rPr lang="pt-BR" sz="2200" b="1" dirty="0">
                <a:latin typeface="+mn-lt"/>
              </a:rPr>
              <a:t>. (2025).</a:t>
            </a:r>
          </a:p>
          <a:p>
            <a:pPr>
              <a:buFont typeface="Arial" panose="020B0604020202020204" pitchFamily="34" charset="0"/>
              <a:buChar char="•"/>
            </a:pPr>
            <a:r>
              <a:rPr lang="pt-BR" sz="2200" dirty="0">
                <a:latin typeface="+mn-lt"/>
              </a:rPr>
              <a:t>MIDAS: Ghysels et al. (2004); Castelli (2022); Micheletti (2024).</a:t>
            </a:r>
          </a:p>
          <a:p>
            <a:pPr>
              <a:buFont typeface="Arial" panose="020B0604020202020204" pitchFamily="34" charset="0"/>
              <a:buChar char="•"/>
            </a:pPr>
            <a:r>
              <a:rPr lang="pt-BR" sz="2200" dirty="0">
                <a:latin typeface="+mn-lt"/>
              </a:rPr>
              <a:t>DFM: Geweke (1977); Doz e Fuleky (2019); Alves (2009); Moura et al. (2020).</a:t>
            </a:r>
          </a:p>
          <a:p>
            <a:pPr>
              <a:buFont typeface="Arial" panose="020B0604020202020204" pitchFamily="34" charset="0"/>
              <a:buChar char="•"/>
            </a:pPr>
            <a:r>
              <a:rPr lang="pt-BR" sz="2200" dirty="0">
                <a:latin typeface="+mn-lt"/>
              </a:rPr>
              <a:t>Modelos de IA: </a:t>
            </a:r>
            <a:r>
              <a:rPr lang="pt-BR" sz="2200" dirty="0">
                <a:solidFill>
                  <a:schemeClr val="tx1"/>
                </a:solidFill>
                <a:latin typeface="+mn-lt"/>
              </a:rPr>
              <a:t>Carmo e Lopacinski (2023); Vasconcelos (2017) </a:t>
            </a:r>
          </a:p>
          <a:p>
            <a:pPr>
              <a:buFont typeface="Arial" panose="020B0604020202020204" pitchFamily="34" charset="0"/>
              <a:buChar char="•"/>
            </a:pPr>
            <a:r>
              <a:rPr lang="pt-BR" sz="2200" dirty="0">
                <a:latin typeface="+mn-lt"/>
              </a:rPr>
              <a:t>Redes Neurais: Rosenblatt (1958); Rumelhart et al. (1986); Ghosh e Ranjan (2023); Kava (2022); Ekman (2021); Carmo e Lopacinski (2023); Amaral et al. (2023).</a:t>
            </a:r>
          </a:p>
          <a:p>
            <a:pPr>
              <a:buFont typeface="Arial" panose="020B0604020202020204" pitchFamily="34" charset="0"/>
              <a:buChar char="•"/>
            </a:pPr>
            <a:r>
              <a:rPr lang="pt-BR" sz="2200" dirty="0">
                <a:latin typeface="+mn-lt"/>
              </a:rPr>
              <a:t>Florestas Aleatórias: Breiman (2001); Landowska et al. (2025); Lemos e Souza (2025).</a:t>
            </a:r>
          </a:p>
        </p:txBody>
      </p:sp>
      <p:pic>
        <p:nvPicPr>
          <p:cNvPr id="98" name="Google Shape;98;p2" descr="Universidade Federal da Fronteira Sul – Wikipédia, a enciclopédia livre">
            <a:extLst>
              <a:ext uri="{FF2B5EF4-FFF2-40B4-BE49-F238E27FC236}">
                <a16:creationId xmlns:a16="http://schemas.microsoft.com/office/drawing/2014/main" id="{722B9BA5-FCDA-79C1-47C4-8029C6C4ABEA}"/>
              </a:ext>
            </a:extLst>
          </p:cNvPr>
          <p:cNvPicPr preferRelativeResize="0"/>
          <p:nvPr/>
        </p:nvPicPr>
        <p:blipFill rotWithShape="1">
          <a:blip r:embed="rId3">
            <a:alphaModFix/>
          </a:blip>
          <a:srcRect/>
          <a:stretch/>
        </p:blipFill>
        <p:spPr>
          <a:xfrm>
            <a:off x="10978329" y="18255"/>
            <a:ext cx="975614" cy="1325563"/>
          </a:xfrm>
          <a:prstGeom prst="rect">
            <a:avLst/>
          </a:prstGeom>
          <a:noFill/>
          <a:ln>
            <a:noFill/>
          </a:ln>
        </p:spPr>
      </p:pic>
      <p:sp>
        <p:nvSpPr>
          <p:cNvPr id="99" name="Google Shape;99;p2">
            <a:extLst>
              <a:ext uri="{FF2B5EF4-FFF2-40B4-BE49-F238E27FC236}">
                <a16:creationId xmlns:a16="http://schemas.microsoft.com/office/drawing/2014/main" id="{DFC27075-31A5-8C48-9224-09E425CAD80B}"/>
              </a:ext>
            </a:extLst>
          </p:cNvPr>
          <p:cNvSpPr/>
          <p:nvPr/>
        </p:nvSpPr>
        <p:spPr>
          <a:xfrm>
            <a:off x="170268" y="958543"/>
            <a:ext cx="10515600" cy="63062"/>
          </a:xfrm>
          <a:prstGeom prst="rect">
            <a:avLst/>
          </a:prstGeom>
          <a:solidFill>
            <a:srgbClr val="548135"/>
          </a:solidFill>
          <a:ln w="12700" cap="flat" cmpd="sng">
            <a:solidFill>
              <a:srgbClr val="1C3052"/>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00" name="Google Shape;100;p2">
            <a:extLst>
              <a:ext uri="{FF2B5EF4-FFF2-40B4-BE49-F238E27FC236}">
                <a16:creationId xmlns:a16="http://schemas.microsoft.com/office/drawing/2014/main" id="{310E81C3-7168-1BFF-D7B3-4890A6F6A7E7}"/>
              </a:ext>
            </a:extLst>
          </p:cNvPr>
          <p:cNvSpPr txBox="1">
            <a:spLocks noGrp="1"/>
          </p:cNvSpPr>
          <p:nvPr>
            <p:ph type="sldNum" idx="12"/>
          </p:nvPr>
        </p:nvSpPr>
        <p:spPr>
          <a:xfrm>
            <a:off x="9440152" y="6492875"/>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pt-BR" sz="1800"/>
              <a:t>12</a:t>
            </a:fld>
            <a:endParaRPr sz="1800" dirty="0"/>
          </a:p>
        </p:txBody>
      </p:sp>
    </p:spTree>
    <p:extLst>
      <p:ext uri="{BB962C8B-B14F-4D97-AF65-F5344CB8AC3E}">
        <p14:creationId xmlns:p14="http://schemas.microsoft.com/office/powerpoint/2010/main" val="52195811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95">
          <a:extLst>
            <a:ext uri="{FF2B5EF4-FFF2-40B4-BE49-F238E27FC236}">
              <a16:creationId xmlns:a16="http://schemas.microsoft.com/office/drawing/2014/main" id="{AFC58360-86CA-DD21-12B6-648B6D7651F8}"/>
            </a:ext>
          </a:extLst>
        </p:cNvPr>
        <p:cNvGrpSpPr/>
        <p:nvPr/>
      </p:nvGrpSpPr>
      <p:grpSpPr>
        <a:xfrm>
          <a:off x="0" y="0"/>
          <a:ext cx="0" cy="0"/>
          <a:chOff x="0" y="0"/>
          <a:chExt cx="0" cy="0"/>
        </a:xfrm>
      </p:grpSpPr>
      <p:sp>
        <p:nvSpPr>
          <p:cNvPr id="96" name="Google Shape;96;p2">
            <a:extLst>
              <a:ext uri="{FF2B5EF4-FFF2-40B4-BE49-F238E27FC236}">
                <a16:creationId xmlns:a16="http://schemas.microsoft.com/office/drawing/2014/main" id="{552A8662-B841-1779-8A96-A38FC13D1767}"/>
              </a:ext>
            </a:extLst>
          </p:cNvPr>
          <p:cNvSpPr txBox="1">
            <a:spLocks noGrp="1"/>
          </p:cNvSpPr>
          <p:nvPr>
            <p:ph type="title"/>
          </p:nvPr>
        </p:nvSpPr>
        <p:spPr>
          <a:xfrm>
            <a:off x="170268" y="190105"/>
            <a:ext cx="10329566" cy="768438"/>
          </a:xfrm>
          <a:prstGeom prst="rect">
            <a:avLst/>
          </a:prstGeom>
          <a:noFill/>
          <a:ln>
            <a:noFill/>
          </a:ln>
        </p:spPr>
        <p:txBody>
          <a:bodyPr spcFirstLastPara="1" wrap="square" lIns="91425" tIns="45700" rIns="91425" bIns="45700" anchor="ctr" anchorCtr="0">
            <a:noAutofit/>
          </a:bodyPr>
          <a:lstStyle/>
          <a:p>
            <a:pPr lvl="0">
              <a:buSzPts val="4400"/>
            </a:pPr>
            <a:r>
              <a:rPr lang="pt-BR" sz="3200" b="1" dirty="0">
                <a:latin typeface="+mj-lt"/>
              </a:rPr>
              <a:t>Revisão</a:t>
            </a:r>
            <a:r>
              <a:rPr lang="pt-BR" sz="3200" dirty="0"/>
              <a:t> </a:t>
            </a:r>
            <a:r>
              <a:rPr lang="pt-BR" sz="3200" b="1" dirty="0">
                <a:latin typeface="+mj-lt"/>
              </a:rPr>
              <a:t>de literatura</a:t>
            </a:r>
            <a:endParaRPr sz="3200" b="1" dirty="0">
              <a:latin typeface="+mj-lt"/>
            </a:endParaRPr>
          </a:p>
        </p:txBody>
      </p:sp>
      <p:sp>
        <p:nvSpPr>
          <p:cNvPr id="97" name="Google Shape;97;p2">
            <a:extLst>
              <a:ext uri="{FF2B5EF4-FFF2-40B4-BE49-F238E27FC236}">
                <a16:creationId xmlns:a16="http://schemas.microsoft.com/office/drawing/2014/main" id="{BF5B64CB-B14D-E789-A0FF-4F59C439D724}"/>
              </a:ext>
            </a:extLst>
          </p:cNvPr>
          <p:cNvSpPr txBox="1">
            <a:spLocks noGrp="1"/>
          </p:cNvSpPr>
          <p:nvPr>
            <p:ph type="body" idx="1"/>
          </p:nvPr>
        </p:nvSpPr>
        <p:spPr>
          <a:xfrm>
            <a:off x="170268" y="1125342"/>
            <a:ext cx="11855669" cy="5732658"/>
          </a:xfrm>
          <a:prstGeom prst="rect">
            <a:avLst/>
          </a:prstGeom>
          <a:noFill/>
          <a:ln>
            <a:noFill/>
          </a:ln>
        </p:spPr>
        <p:txBody>
          <a:bodyPr spcFirstLastPara="1" wrap="square" lIns="91425" tIns="45700" rIns="91425" bIns="45700" anchor="t" anchorCtr="0">
            <a:noAutofit/>
          </a:bodyPr>
          <a:lstStyle/>
          <a:p>
            <a:pPr>
              <a:buFont typeface="Arial" panose="020B0604020202020204" pitchFamily="34" charset="0"/>
              <a:buChar char="•"/>
            </a:pPr>
            <a:endParaRPr lang="pt-BR" sz="2200" dirty="0">
              <a:latin typeface="+mn-lt"/>
            </a:endParaRPr>
          </a:p>
          <a:p>
            <a:pPr>
              <a:buFont typeface="Arial" panose="020B0604020202020204" pitchFamily="34" charset="0"/>
              <a:buChar char="•"/>
            </a:pPr>
            <a:r>
              <a:rPr lang="pt-BR" sz="2200" dirty="0">
                <a:latin typeface="+mn-lt"/>
              </a:rPr>
              <a:t>Predição econômica: O PIB – Frisch (1929); </a:t>
            </a:r>
            <a:r>
              <a:rPr lang="it-IT" sz="2200" dirty="0">
                <a:latin typeface="+mn-lt"/>
              </a:rPr>
              <a:t>Laudon e Laudon (2022)  e</a:t>
            </a:r>
            <a:r>
              <a:rPr lang="pt-BR" sz="2200" dirty="0">
                <a:latin typeface="+mn-lt"/>
              </a:rPr>
              <a:t> IBGE (2026).</a:t>
            </a:r>
          </a:p>
          <a:p>
            <a:pPr>
              <a:buFont typeface="Arial" panose="020B0604020202020204" pitchFamily="34" charset="0"/>
              <a:buChar char="•"/>
            </a:pPr>
            <a:r>
              <a:rPr lang="pt-BR" sz="2200" dirty="0">
                <a:latin typeface="+mn-lt"/>
              </a:rPr>
              <a:t>Modelos tradicionais: Braga (2025); Rebelo (2022).</a:t>
            </a:r>
          </a:p>
          <a:p>
            <a:pPr>
              <a:buFont typeface="Arial" panose="020B0604020202020204" pitchFamily="34" charset="0"/>
              <a:buChar char="•"/>
            </a:pPr>
            <a:r>
              <a:rPr lang="pt-BR" sz="2200" dirty="0">
                <a:latin typeface="+mn-lt"/>
              </a:rPr>
              <a:t>ARIMA: Box e Jenkins (1970); Silva </a:t>
            </a:r>
            <a:r>
              <a:rPr lang="pt-BR" sz="2200" i="1" dirty="0">
                <a:latin typeface="+mn-lt"/>
              </a:rPr>
              <a:t>et al </a:t>
            </a:r>
            <a:r>
              <a:rPr lang="pt-BR" sz="2200" dirty="0">
                <a:latin typeface="+mn-lt"/>
              </a:rPr>
              <a:t>(2025); Li (2024).</a:t>
            </a:r>
          </a:p>
          <a:p>
            <a:pPr>
              <a:buFont typeface="Arial" panose="020B0604020202020204" pitchFamily="34" charset="0"/>
              <a:buChar char="•"/>
            </a:pPr>
            <a:r>
              <a:rPr lang="pt-BR" sz="2200" dirty="0">
                <a:latin typeface="+mn-lt"/>
              </a:rPr>
              <a:t>VAR: </a:t>
            </a:r>
            <a:r>
              <a:rPr lang="pt-BR" sz="2200" dirty="0" err="1">
                <a:latin typeface="+mn-lt"/>
              </a:rPr>
              <a:t>Sims</a:t>
            </a:r>
            <a:r>
              <a:rPr lang="pt-BR" sz="2200" dirty="0">
                <a:latin typeface="+mn-lt"/>
              </a:rPr>
              <a:t> (1980); Fialho </a:t>
            </a:r>
            <a:r>
              <a:rPr lang="pt-BR" sz="2200" i="1" dirty="0">
                <a:latin typeface="+mn-lt"/>
              </a:rPr>
              <a:t>et al</a:t>
            </a:r>
            <a:r>
              <a:rPr lang="pt-BR" sz="2200" dirty="0">
                <a:latin typeface="+mn-lt"/>
              </a:rPr>
              <a:t>. (2024); Oliveira e Junior (2024); </a:t>
            </a:r>
            <a:r>
              <a:rPr lang="pt-BR" sz="2200" dirty="0" err="1">
                <a:latin typeface="+mn-lt"/>
              </a:rPr>
              <a:t>Koop</a:t>
            </a:r>
            <a:r>
              <a:rPr lang="pt-BR" sz="2200" dirty="0">
                <a:latin typeface="+mn-lt"/>
              </a:rPr>
              <a:t> </a:t>
            </a:r>
            <a:r>
              <a:rPr lang="pt-BR" sz="2200" i="1" dirty="0">
                <a:latin typeface="+mn-lt"/>
              </a:rPr>
              <a:t>et al</a:t>
            </a:r>
            <a:r>
              <a:rPr lang="pt-BR" sz="2200" dirty="0">
                <a:latin typeface="+mn-lt"/>
              </a:rPr>
              <a:t>. (2025).</a:t>
            </a:r>
          </a:p>
          <a:p>
            <a:pPr>
              <a:buFont typeface="Arial" panose="020B0604020202020204" pitchFamily="34" charset="0"/>
              <a:buChar char="•"/>
            </a:pPr>
            <a:r>
              <a:rPr lang="pt-BR" sz="2200" b="1" dirty="0">
                <a:latin typeface="+mn-lt"/>
              </a:rPr>
              <a:t>MIDAS: Ghysels et al. (2004); Castelli (2022); Micheletti (2024).</a:t>
            </a:r>
          </a:p>
          <a:p>
            <a:pPr>
              <a:buFont typeface="Arial" panose="020B0604020202020204" pitchFamily="34" charset="0"/>
              <a:buChar char="•"/>
            </a:pPr>
            <a:r>
              <a:rPr lang="pt-BR" sz="2200" dirty="0">
                <a:latin typeface="+mn-lt"/>
              </a:rPr>
              <a:t>DFM: Geweke (1977); Doz e Fuleky (2019); Alves (2009); Moura et al. (2020).</a:t>
            </a:r>
          </a:p>
          <a:p>
            <a:pPr>
              <a:buFont typeface="Arial" panose="020B0604020202020204" pitchFamily="34" charset="0"/>
              <a:buChar char="•"/>
            </a:pPr>
            <a:r>
              <a:rPr lang="pt-BR" sz="2200" dirty="0">
                <a:latin typeface="+mn-lt"/>
              </a:rPr>
              <a:t>Modelos de IA: </a:t>
            </a:r>
            <a:r>
              <a:rPr lang="pt-BR" sz="2200" dirty="0">
                <a:solidFill>
                  <a:schemeClr val="tx1"/>
                </a:solidFill>
                <a:latin typeface="+mn-lt"/>
              </a:rPr>
              <a:t>Carmo e Lopacinski (2023); Vasconcelos (2017) </a:t>
            </a:r>
          </a:p>
          <a:p>
            <a:pPr>
              <a:buFont typeface="Arial" panose="020B0604020202020204" pitchFamily="34" charset="0"/>
              <a:buChar char="•"/>
            </a:pPr>
            <a:r>
              <a:rPr lang="pt-BR" sz="2200" dirty="0">
                <a:latin typeface="+mn-lt"/>
              </a:rPr>
              <a:t>Redes Neurais: Rosenblatt (1958); Rumelhart et al. (1986); Ghosh e Ranjan (2023); Kava (2022); Ekman (2021); Carmo e Lopacinski (2023); Amaral et al. (2023).</a:t>
            </a:r>
          </a:p>
          <a:p>
            <a:pPr>
              <a:buFont typeface="Arial" panose="020B0604020202020204" pitchFamily="34" charset="0"/>
              <a:buChar char="•"/>
            </a:pPr>
            <a:r>
              <a:rPr lang="pt-BR" sz="2200" dirty="0">
                <a:latin typeface="+mn-lt"/>
              </a:rPr>
              <a:t>Florestas Aleatórias: Breiman (2001); Landowska et al. (2025); Lemos e Souza (2025).</a:t>
            </a:r>
          </a:p>
        </p:txBody>
      </p:sp>
      <p:pic>
        <p:nvPicPr>
          <p:cNvPr id="98" name="Google Shape;98;p2" descr="Universidade Federal da Fronteira Sul – Wikipédia, a enciclopédia livre">
            <a:extLst>
              <a:ext uri="{FF2B5EF4-FFF2-40B4-BE49-F238E27FC236}">
                <a16:creationId xmlns:a16="http://schemas.microsoft.com/office/drawing/2014/main" id="{E7165E79-A991-8C92-44AC-B9123934E37C}"/>
              </a:ext>
            </a:extLst>
          </p:cNvPr>
          <p:cNvPicPr preferRelativeResize="0"/>
          <p:nvPr/>
        </p:nvPicPr>
        <p:blipFill rotWithShape="1">
          <a:blip r:embed="rId3">
            <a:alphaModFix/>
          </a:blip>
          <a:srcRect/>
          <a:stretch/>
        </p:blipFill>
        <p:spPr>
          <a:xfrm>
            <a:off x="10978329" y="18255"/>
            <a:ext cx="975614" cy="1325563"/>
          </a:xfrm>
          <a:prstGeom prst="rect">
            <a:avLst/>
          </a:prstGeom>
          <a:noFill/>
          <a:ln>
            <a:noFill/>
          </a:ln>
        </p:spPr>
      </p:pic>
      <p:sp>
        <p:nvSpPr>
          <p:cNvPr id="99" name="Google Shape;99;p2">
            <a:extLst>
              <a:ext uri="{FF2B5EF4-FFF2-40B4-BE49-F238E27FC236}">
                <a16:creationId xmlns:a16="http://schemas.microsoft.com/office/drawing/2014/main" id="{BDE0712D-40EB-9C64-6E57-97CEF6440DF3}"/>
              </a:ext>
            </a:extLst>
          </p:cNvPr>
          <p:cNvSpPr/>
          <p:nvPr/>
        </p:nvSpPr>
        <p:spPr>
          <a:xfrm>
            <a:off x="170268" y="958543"/>
            <a:ext cx="10515600" cy="63062"/>
          </a:xfrm>
          <a:prstGeom prst="rect">
            <a:avLst/>
          </a:prstGeom>
          <a:solidFill>
            <a:srgbClr val="548135"/>
          </a:solidFill>
          <a:ln w="12700" cap="flat" cmpd="sng">
            <a:solidFill>
              <a:srgbClr val="1C3052"/>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00" name="Google Shape;100;p2">
            <a:extLst>
              <a:ext uri="{FF2B5EF4-FFF2-40B4-BE49-F238E27FC236}">
                <a16:creationId xmlns:a16="http://schemas.microsoft.com/office/drawing/2014/main" id="{4E1C1D1B-29FF-CACF-C733-0FA9E787367F}"/>
              </a:ext>
            </a:extLst>
          </p:cNvPr>
          <p:cNvSpPr txBox="1">
            <a:spLocks noGrp="1"/>
          </p:cNvSpPr>
          <p:nvPr>
            <p:ph type="sldNum" idx="12"/>
          </p:nvPr>
        </p:nvSpPr>
        <p:spPr>
          <a:xfrm>
            <a:off x="9440152" y="6492875"/>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pt-BR" sz="1800"/>
              <a:t>13</a:t>
            </a:fld>
            <a:endParaRPr sz="1800" dirty="0"/>
          </a:p>
        </p:txBody>
      </p:sp>
    </p:spTree>
    <p:extLst>
      <p:ext uri="{BB962C8B-B14F-4D97-AF65-F5344CB8AC3E}">
        <p14:creationId xmlns:p14="http://schemas.microsoft.com/office/powerpoint/2010/main" val="151541121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95">
          <a:extLst>
            <a:ext uri="{FF2B5EF4-FFF2-40B4-BE49-F238E27FC236}">
              <a16:creationId xmlns:a16="http://schemas.microsoft.com/office/drawing/2014/main" id="{482D31C7-B5A1-1515-E015-A4A846243F2E}"/>
            </a:ext>
          </a:extLst>
        </p:cNvPr>
        <p:cNvGrpSpPr/>
        <p:nvPr/>
      </p:nvGrpSpPr>
      <p:grpSpPr>
        <a:xfrm>
          <a:off x="0" y="0"/>
          <a:ext cx="0" cy="0"/>
          <a:chOff x="0" y="0"/>
          <a:chExt cx="0" cy="0"/>
        </a:xfrm>
      </p:grpSpPr>
      <p:sp>
        <p:nvSpPr>
          <p:cNvPr id="96" name="Google Shape;96;p2">
            <a:extLst>
              <a:ext uri="{FF2B5EF4-FFF2-40B4-BE49-F238E27FC236}">
                <a16:creationId xmlns:a16="http://schemas.microsoft.com/office/drawing/2014/main" id="{D304F6A2-15C1-5DD8-3B85-6BB8DA1A0E02}"/>
              </a:ext>
            </a:extLst>
          </p:cNvPr>
          <p:cNvSpPr txBox="1">
            <a:spLocks noGrp="1"/>
          </p:cNvSpPr>
          <p:nvPr>
            <p:ph type="title"/>
          </p:nvPr>
        </p:nvSpPr>
        <p:spPr>
          <a:xfrm>
            <a:off x="170268" y="190105"/>
            <a:ext cx="10329566" cy="768438"/>
          </a:xfrm>
          <a:prstGeom prst="rect">
            <a:avLst/>
          </a:prstGeom>
          <a:noFill/>
          <a:ln>
            <a:noFill/>
          </a:ln>
        </p:spPr>
        <p:txBody>
          <a:bodyPr spcFirstLastPara="1" wrap="square" lIns="91425" tIns="45700" rIns="91425" bIns="45700" anchor="ctr" anchorCtr="0">
            <a:noAutofit/>
          </a:bodyPr>
          <a:lstStyle/>
          <a:p>
            <a:pPr lvl="0">
              <a:buSzPts val="4400"/>
            </a:pPr>
            <a:r>
              <a:rPr lang="pt-BR" sz="3200" b="1" dirty="0">
                <a:latin typeface="+mj-lt"/>
              </a:rPr>
              <a:t>Revisão</a:t>
            </a:r>
            <a:r>
              <a:rPr lang="pt-BR" sz="3200" dirty="0"/>
              <a:t> </a:t>
            </a:r>
            <a:r>
              <a:rPr lang="pt-BR" sz="3200" b="1" dirty="0">
                <a:latin typeface="+mj-lt"/>
              </a:rPr>
              <a:t>de literatura</a:t>
            </a:r>
            <a:endParaRPr sz="3200" b="1" dirty="0">
              <a:latin typeface="+mj-lt"/>
            </a:endParaRPr>
          </a:p>
        </p:txBody>
      </p:sp>
      <p:sp>
        <p:nvSpPr>
          <p:cNvPr id="97" name="Google Shape;97;p2">
            <a:extLst>
              <a:ext uri="{FF2B5EF4-FFF2-40B4-BE49-F238E27FC236}">
                <a16:creationId xmlns:a16="http://schemas.microsoft.com/office/drawing/2014/main" id="{8F2DB888-DBF8-3949-46EC-D61327FCD8C5}"/>
              </a:ext>
            </a:extLst>
          </p:cNvPr>
          <p:cNvSpPr txBox="1">
            <a:spLocks noGrp="1"/>
          </p:cNvSpPr>
          <p:nvPr>
            <p:ph type="body" idx="1"/>
          </p:nvPr>
        </p:nvSpPr>
        <p:spPr>
          <a:xfrm>
            <a:off x="170268" y="1125342"/>
            <a:ext cx="11855669" cy="5732658"/>
          </a:xfrm>
          <a:prstGeom prst="rect">
            <a:avLst/>
          </a:prstGeom>
          <a:noFill/>
          <a:ln>
            <a:noFill/>
          </a:ln>
        </p:spPr>
        <p:txBody>
          <a:bodyPr spcFirstLastPara="1" wrap="square" lIns="91425" tIns="45700" rIns="91425" bIns="45700" anchor="t" anchorCtr="0">
            <a:noAutofit/>
          </a:bodyPr>
          <a:lstStyle/>
          <a:p>
            <a:pPr>
              <a:buFont typeface="Arial" panose="020B0604020202020204" pitchFamily="34" charset="0"/>
              <a:buChar char="•"/>
            </a:pPr>
            <a:endParaRPr lang="pt-BR" sz="2200" dirty="0">
              <a:latin typeface="+mn-lt"/>
            </a:endParaRPr>
          </a:p>
          <a:p>
            <a:pPr>
              <a:buFont typeface="Arial" panose="020B0604020202020204" pitchFamily="34" charset="0"/>
              <a:buChar char="•"/>
            </a:pPr>
            <a:r>
              <a:rPr lang="pt-BR" sz="2200" dirty="0">
                <a:latin typeface="+mn-lt"/>
              </a:rPr>
              <a:t>Predição econômica: O PIB – Frisch (1929); </a:t>
            </a:r>
            <a:r>
              <a:rPr lang="it-IT" sz="2200" dirty="0">
                <a:latin typeface="+mn-lt"/>
              </a:rPr>
              <a:t>Laudon e Laudon (2022)  e</a:t>
            </a:r>
            <a:r>
              <a:rPr lang="pt-BR" sz="2200" dirty="0">
                <a:latin typeface="+mn-lt"/>
              </a:rPr>
              <a:t> IBGE (2026).</a:t>
            </a:r>
          </a:p>
          <a:p>
            <a:pPr>
              <a:buFont typeface="Arial" panose="020B0604020202020204" pitchFamily="34" charset="0"/>
              <a:buChar char="•"/>
            </a:pPr>
            <a:r>
              <a:rPr lang="pt-BR" sz="2200" dirty="0">
                <a:latin typeface="+mn-lt"/>
              </a:rPr>
              <a:t>Modelos tradicionais: Braga (2025); Rebelo (2022).</a:t>
            </a:r>
          </a:p>
          <a:p>
            <a:pPr>
              <a:buFont typeface="Arial" panose="020B0604020202020204" pitchFamily="34" charset="0"/>
              <a:buChar char="•"/>
            </a:pPr>
            <a:r>
              <a:rPr lang="pt-BR" sz="2200" dirty="0">
                <a:latin typeface="+mn-lt"/>
              </a:rPr>
              <a:t>ARIMA: Box e Jenkins (1970); Silva </a:t>
            </a:r>
            <a:r>
              <a:rPr lang="pt-BR" sz="2200" i="1" dirty="0">
                <a:latin typeface="+mn-lt"/>
              </a:rPr>
              <a:t>et al </a:t>
            </a:r>
            <a:r>
              <a:rPr lang="pt-BR" sz="2200" dirty="0">
                <a:latin typeface="+mn-lt"/>
              </a:rPr>
              <a:t>(2025); Li (2024).</a:t>
            </a:r>
          </a:p>
          <a:p>
            <a:pPr>
              <a:buFont typeface="Arial" panose="020B0604020202020204" pitchFamily="34" charset="0"/>
              <a:buChar char="•"/>
            </a:pPr>
            <a:r>
              <a:rPr lang="pt-BR" sz="2200" dirty="0">
                <a:latin typeface="+mn-lt"/>
              </a:rPr>
              <a:t>VAR: </a:t>
            </a:r>
            <a:r>
              <a:rPr lang="pt-BR" sz="2200" dirty="0" err="1">
                <a:latin typeface="+mn-lt"/>
              </a:rPr>
              <a:t>Sims</a:t>
            </a:r>
            <a:r>
              <a:rPr lang="pt-BR" sz="2200" dirty="0">
                <a:latin typeface="+mn-lt"/>
              </a:rPr>
              <a:t> (1980); Fialho </a:t>
            </a:r>
            <a:r>
              <a:rPr lang="pt-BR" sz="2200" i="1" dirty="0">
                <a:latin typeface="+mn-lt"/>
              </a:rPr>
              <a:t>et al</a:t>
            </a:r>
            <a:r>
              <a:rPr lang="pt-BR" sz="2200" dirty="0">
                <a:latin typeface="+mn-lt"/>
              </a:rPr>
              <a:t>. (2024); Oliveira e Junior (2024); </a:t>
            </a:r>
            <a:r>
              <a:rPr lang="pt-BR" sz="2200" dirty="0" err="1">
                <a:latin typeface="+mn-lt"/>
              </a:rPr>
              <a:t>Koop</a:t>
            </a:r>
            <a:r>
              <a:rPr lang="pt-BR" sz="2200" dirty="0">
                <a:latin typeface="+mn-lt"/>
              </a:rPr>
              <a:t> </a:t>
            </a:r>
            <a:r>
              <a:rPr lang="pt-BR" sz="2200" i="1" dirty="0">
                <a:latin typeface="+mn-lt"/>
              </a:rPr>
              <a:t>et al</a:t>
            </a:r>
            <a:r>
              <a:rPr lang="pt-BR" sz="2200" dirty="0">
                <a:latin typeface="+mn-lt"/>
              </a:rPr>
              <a:t>. (2025).</a:t>
            </a:r>
          </a:p>
          <a:p>
            <a:pPr>
              <a:buFont typeface="Arial" panose="020B0604020202020204" pitchFamily="34" charset="0"/>
              <a:buChar char="•"/>
            </a:pPr>
            <a:r>
              <a:rPr lang="pt-BR" sz="2200" dirty="0">
                <a:latin typeface="+mn-lt"/>
              </a:rPr>
              <a:t>MIDAS: Ghysels et al. (2004); Castelli (2022); Micheletti (2024).</a:t>
            </a:r>
          </a:p>
          <a:p>
            <a:pPr>
              <a:buFont typeface="Arial" panose="020B0604020202020204" pitchFamily="34" charset="0"/>
              <a:buChar char="•"/>
            </a:pPr>
            <a:r>
              <a:rPr lang="pt-BR" sz="2200" b="1" dirty="0">
                <a:latin typeface="+mn-lt"/>
              </a:rPr>
              <a:t>DFM: Geweke (1977); Doz e Fuleky (2019); Alves (2009); Moura et al. (2020).</a:t>
            </a:r>
          </a:p>
          <a:p>
            <a:pPr>
              <a:buFont typeface="Arial" panose="020B0604020202020204" pitchFamily="34" charset="0"/>
              <a:buChar char="•"/>
            </a:pPr>
            <a:r>
              <a:rPr lang="pt-BR" sz="2200" dirty="0">
                <a:latin typeface="+mn-lt"/>
              </a:rPr>
              <a:t>Modelos de IA: </a:t>
            </a:r>
            <a:r>
              <a:rPr lang="pt-BR" sz="2200" dirty="0">
                <a:solidFill>
                  <a:schemeClr val="tx1"/>
                </a:solidFill>
                <a:latin typeface="+mn-lt"/>
              </a:rPr>
              <a:t>Carmo e Lopacinski (2023); Vasconcelos (2017) </a:t>
            </a:r>
          </a:p>
          <a:p>
            <a:pPr>
              <a:buFont typeface="Arial" panose="020B0604020202020204" pitchFamily="34" charset="0"/>
              <a:buChar char="•"/>
            </a:pPr>
            <a:r>
              <a:rPr lang="pt-BR" sz="2200" dirty="0">
                <a:latin typeface="+mn-lt"/>
              </a:rPr>
              <a:t>Redes Neurais: Rosenblatt (1958); Rumelhart et al. (1986); Ghosh e Ranjan (2023); Kava (2022); Ekman (2021); Carmo e Lopacinski (2023); Amaral et al. (2023).</a:t>
            </a:r>
          </a:p>
          <a:p>
            <a:pPr>
              <a:buFont typeface="Arial" panose="020B0604020202020204" pitchFamily="34" charset="0"/>
              <a:buChar char="•"/>
            </a:pPr>
            <a:r>
              <a:rPr lang="pt-BR" sz="2200" dirty="0">
                <a:latin typeface="+mn-lt"/>
              </a:rPr>
              <a:t>Florestas Aleatórias: Breiman (2001); Landowska et al. (2025); Lemos e Souza (2025).</a:t>
            </a:r>
          </a:p>
        </p:txBody>
      </p:sp>
      <p:pic>
        <p:nvPicPr>
          <p:cNvPr id="98" name="Google Shape;98;p2" descr="Universidade Federal da Fronteira Sul – Wikipédia, a enciclopédia livre">
            <a:extLst>
              <a:ext uri="{FF2B5EF4-FFF2-40B4-BE49-F238E27FC236}">
                <a16:creationId xmlns:a16="http://schemas.microsoft.com/office/drawing/2014/main" id="{CB4492C1-635A-9A07-31CD-406E96F5D9FE}"/>
              </a:ext>
            </a:extLst>
          </p:cNvPr>
          <p:cNvPicPr preferRelativeResize="0"/>
          <p:nvPr/>
        </p:nvPicPr>
        <p:blipFill rotWithShape="1">
          <a:blip r:embed="rId3">
            <a:alphaModFix/>
          </a:blip>
          <a:srcRect/>
          <a:stretch/>
        </p:blipFill>
        <p:spPr>
          <a:xfrm>
            <a:off x="10978329" y="18255"/>
            <a:ext cx="975614" cy="1325563"/>
          </a:xfrm>
          <a:prstGeom prst="rect">
            <a:avLst/>
          </a:prstGeom>
          <a:noFill/>
          <a:ln>
            <a:noFill/>
          </a:ln>
        </p:spPr>
      </p:pic>
      <p:sp>
        <p:nvSpPr>
          <p:cNvPr id="99" name="Google Shape;99;p2">
            <a:extLst>
              <a:ext uri="{FF2B5EF4-FFF2-40B4-BE49-F238E27FC236}">
                <a16:creationId xmlns:a16="http://schemas.microsoft.com/office/drawing/2014/main" id="{E5AA9E94-F733-DA7C-5FCC-AF88F32C3021}"/>
              </a:ext>
            </a:extLst>
          </p:cNvPr>
          <p:cNvSpPr/>
          <p:nvPr/>
        </p:nvSpPr>
        <p:spPr>
          <a:xfrm>
            <a:off x="170268" y="958543"/>
            <a:ext cx="10515600" cy="63062"/>
          </a:xfrm>
          <a:prstGeom prst="rect">
            <a:avLst/>
          </a:prstGeom>
          <a:solidFill>
            <a:srgbClr val="548135"/>
          </a:solidFill>
          <a:ln w="12700" cap="flat" cmpd="sng">
            <a:solidFill>
              <a:srgbClr val="1C3052"/>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00" name="Google Shape;100;p2">
            <a:extLst>
              <a:ext uri="{FF2B5EF4-FFF2-40B4-BE49-F238E27FC236}">
                <a16:creationId xmlns:a16="http://schemas.microsoft.com/office/drawing/2014/main" id="{29C0E70E-155B-516A-E5A4-B0CCD0B14F92}"/>
              </a:ext>
            </a:extLst>
          </p:cNvPr>
          <p:cNvSpPr txBox="1">
            <a:spLocks noGrp="1"/>
          </p:cNvSpPr>
          <p:nvPr>
            <p:ph type="sldNum" idx="12"/>
          </p:nvPr>
        </p:nvSpPr>
        <p:spPr>
          <a:xfrm>
            <a:off x="9440152" y="6492875"/>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pt-BR" sz="1800"/>
              <a:t>14</a:t>
            </a:fld>
            <a:endParaRPr sz="1800" dirty="0"/>
          </a:p>
        </p:txBody>
      </p:sp>
    </p:spTree>
    <p:extLst>
      <p:ext uri="{BB962C8B-B14F-4D97-AF65-F5344CB8AC3E}">
        <p14:creationId xmlns:p14="http://schemas.microsoft.com/office/powerpoint/2010/main" val="165872320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95">
          <a:extLst>
            <a:ext uri="{FF2B5EF4-FFF2-40B4-BE49-F238E27FC236}">
              <a16:creationId xmlns:a16="http://schemas.microsoft.com/office/drawing/2014/main" id="{00B4ED39-91D5-11E9-4859-F945A387E9CE}"/>
            </a:ext>
          </a:extLst>
        </p:cNvPr>
        <p:cNvGrpSpPr/>
        <p:nvPr/>
      </p:nvGrpSpPr>
      <p:grpSpPr>
        <a:xfrm>
          <a:off x="0" y="0"/>
          <a:ext cx="0" cy="0"/>
          <a:chOff x="0" y="0"/>
          <a:chExt cx="0" cy="0"/>
        </a:xfrm>
      </p:grpSpPr>
      <p:sp>
        <p:nvSpPr>
          <p:cNvPr id="96" name="Google Shape;96;p2">
            <a:extLst>
              <a:ext uri="{FF2B5EF4-FFF2-40B4-BE49-F238E27FC236}">
                <a16:creationId xmlns:a16="http://schemas.microsoft.com/office/drawing/2014/main" id="{2344CC15-7814-9B7A-2855-74F8886ED56B}"/>
              </a:ext>
            </a:extLst>
          </p:cNvPr>
          <p:cNvSpPr txBox="1">
            <a:spLocks noGrp="1"/>
          </p:cNvSpPr>
          <p:nvPr>
            <p:ph type="title"/>
          </p:nvPr>
        </p:nvSpPr>
        <p:spPr>
          <a:xfrm>
            <a:off x="170268" y="190105"/>
            <a:ext cx="10329566" cy="768438"/>
          </a:xfrm>
          <a:prstGeom prst="rect">
            <a:avLst/>
          </a:prstGeom>
          <a:noFill/>
          <a:ln>
            <a:noFill/>
          </a:ln>
        </p:spPr>
        <p:txBody>
          <a:bodyPr spcFirstLastPara="1" wrap="square" lIns="91425" tIns="45700" rIns="91425" bIns="45700" anchor="ctr" anchorCtr="0">
            <a:noAutofit/>
          </a:bodyPr>
          <a:lstStyle/>
          <a:p>
            <a:pPr lvl="0">
              <a:buSzPts val="4400"/>
            </a:pPr>
            <a:r>
              <a:rPr lang="pt-BR" sz="3200" b="1" dirty="0">
                <a:latin typeface="+mj-lt"/>
              </a:rPr>
              <a:t>Revisão</a:t>
            </a:r>
            <a:r>
              <a:rPr lang="pt-BR" sz="3200" dirty="0"/>
              <a:t> </a:t>
            </a:r>
            <a:r>
              <a:rPr lang="pt-BR" sz="3200" b="1" dirty="0">
                <a:latin typeface="+mj-lt"/>
              </a:rPr>
              <a:t>de literatura</a:t>
            </a:r>
            <a:endParaRPr sz="3200" b="1" dirty="0">
              <a:latin typeface="+mj-lt"/>
            </a:endParaRPr>
          </a:p>
        </p:txBody>
      </p:sp>
      <p:sp>
        <p:nvSpPr>
          <p:cNvPr id="97" name="Google Shape;97;p2">
            <a:extLst>
              <a:ext uri="{FF2B5EF4-FFF2-40B4-BE49-F238E27FC236}">
                <a16:creationId xmlns:a16="http://schemas.microsoft.com/office/drawing/2014/main" id="{0D0E9EF5-7BCC-2204-6213-61CC7D8E4FE9}"/>
              </a:ext>
            </a:extLst>
          </p:cNvPr>
          <p:cNvSpPr txBox="1">
            <a:spLocks noGrp="1"/>
          </p:cNvSpPr>
          <p:nvPr>
            <p:ph type="body" idx="1"/>
          </p:nvPr>
        </p:nvSpPr>
        <p:spPr>
          <a:xfrm>
            <a:off x="170268" y="1125342"/>
            <a:ext cx="11855669" cy="5732658"/>
          </a:xfrm>
          <a:prstGeom prst="rect">
            <a:avLst/>
          </a:prstGeom>
          <a:noFill/>
          <a:ln>
            <a:noFill/>
          </a:ln>
        </p:spPr>
        <p:txBody>
          <a:bodyPr spcFirstLastPara="1" wrap="square" lIns="91425" tIns="45700" rIns="91425" bIns="45700" anchor="t" anchorCtr="0">
            <a:noAutofit/>
          </a:bodyPr>
          <a:lstStyle/>
          <a:p>
            <a:pPr>
              <a:buFont typeface="Arial" panose="020B0604020202020204" pitchFamily="34" charset="0"/>
              <a:buChar char="•"/>
            </a:pPr>
            <a:endParaRPr lang="pt-BR" sz="2200" dirty="0">
              <a:latin typeface="+mn-lt"/>
            </a:endParaRPr>
          </a:p>
          <a:p>
            <a:pPr>
              <a:buFont typeface="Arial" panose="020B0604020202020204" pitchFamily="34" charset="0"/>
              <a:buChar char="•"/>
            </a:pPr>
            <a:r>
              <a:rPr lang="pt-BR" sz="2200" dirty="0">
                <a:latin typeface="+mn-lt"/>
              </a:rPr>
              <a:t>Predição econômica: O PIB – Frisch (1929); </a:t>
            </a:r>
            <a:r>
              <a:rPr lang="it-IT" sz="2200" dirty="0">
                <a:latin typeface="+mn-lt"/>
              </a:rPr>
              <a:t>Laudon e Laudon (2022)  e</a:t>
            </a:r>
            <a:r>
              <a:rPr lang="pt-BR" sz="2200" dirty="0">
                <a:latin typeface="+mn-lt"/>
              </a:rPr>
              <a:t> IBGE (2026).</a:t>
            </a:r>
          </a:p>
          <a:p>
            <a:pPr>
              <a:buFont typeface="Arial" panose="020B0604020202020204" pitchFamily="34" charset="0"/>
              <a:buChar char="•"/>
            </a:pPr>
            <a:r>
              <a:rPr lang="pt-BR" sz="2200" dirty="0">
                <a:latin typeface="+mn-lt"/>
              </a:rPr>
              <a:t>Modelos tradicionais: Braga (2025); Rebelo (2022).</a:t>
            </a:r>
          </a:p>
          <a:p>
            <a:pPr>
              <a:buFont typeface="Arial" panose="020B0604020202020204" pitchFamily="34" charset="0"/>
              <a:buChar char="•"/>
            </a:pPr>
            <a:r>
              <a:rPr lang="pt-BR" sz="2200" dirty="0">
                <a:latin typeface="+mn-lt"/>
              </a:rPr>
              <a:t>ARIMA: Box e Jenkins (1970); Silva </a:t>
            </a:r>
            <a:r>
              <a:rPr lang="pt-BR" sz="2200" i="1" dirty="0">
                <a:latin typeface="+mn-lt"/>
              </a:rPr>
              <a:t>et al </a:t>
            </a:r>
            <a:r>
              <a:rPr lang="pt-BR" sz="2200" dirty="0">
                <a:latin typeface="+mn-lt"/>
              </a:rPr>
              <a:t>(2025); Li (2024).</a:t>
            </a:r>
          </a:p>
          <a:p>
            <a:pPr>
              <a:buFont typeface="Arial" panose="020B0604020202020204" pitchFamily="34" charset="0"/>
              <a:buChar char="•"/>
            </a:pPr>
            <a:r>
              <a:rPr lang="pt-BR" sz="2200" dirty="0">
                <a:latin typeface="+mn-lt"/>
              </a:rPr>
              <a:t>VAR: </a:t>
            </a:r>
            <a:r>
              <a:rPr lang="pt-BR" sz="2200" dirty="0" err="1">
                <a:latin typeface="+mn-lt"/>
              </a:rPr>
              <a:t>Sims</a:t>
            </a:r>
            <a:r>
              <a:rPr lang="pt-BR" sz="2200" dirty="0">
                <a:latin typeface="+mn-lt"/>
              </a:rPr>
              <a:t> (1980); Fialho </a:t>
            </a:r>
            <a:r>
              <a:rPr lang="pt-BR" sz="2200" i="1" dirty="0">
                <a:latin typeface="+mn-lt"/>
              </a:rPr>
              <a:t>et al</a:t>
            </a:r>
            <a:r>
              <a:rPr lang="pt-BR" sz="2200" dirty="0">
                <a:latin typeface="+mn-lt"/>
              </a:rPr>
              <a:t>. (2024); Oliveira e Junior (2024); </a:t>
            </a:r>
            <a:r>
              <a:rPr lang="pt-BR" sz="2200" dirty="0" err="1">
                <a:latin typeface="+mn-lt"/>
              </a:rPr>
              <a:t>Koop</a:t>
            </a:r>
            <a:r>
              <a:rPr lang="pt-BR" sz="2200" dirty="0">
                <a:latin typeface="+mn-lt"/>
              </a:rPr>
              <a:t> </a:t>
            </a:r>
            <a:r>
              <a:rPr lang="pt-BR" sz="2200" i="1" dirty="0">
                <a:latin typeface="+mn-lt"/>
              </a:rPr>
              <a:t>et al</a:t>
            </a:r>
            <a:r>
              <a:rPr lang="pt-BR" sz="2200" dirty="0">
                <a:latin typeface="+mn-lt"/>
              </a:rPr>
              <a:t>. (2025).</a:t>
            </a:r>
          </a:p>
          <a:p>
            <a:pPr>
              <a:buFont typeface="Arial" panose="020B0604020202020204" pitchFamily="34" charset="0"/>
              <a:buChar char="•"/>
            </a:pPr>
            <a:r>
              <a:rPr lang="pt-BR" sz="2200" dirty="0">
                <a:latin typeface="+mn-lt"/>
              </a:rPr>
              <a:t>MIDAS: Ghysels et al. (2004); Castelli (2022); Micheletti (2024).</a:t>
            </a:r>
          </a:p>
          <a:p>
            <a:pPr>
              <a:buFont typeface="Arial" panose="020B0604020202020204" pitchFamily="34" charset="0"/>
              <a:buChar char="•"/>
            </a:pPr>
            <a:r>
              <a:rPr lang="pt-BR" sz="2200" dirty="0">
                <a:latin typeface="+mn-lt"/>
              </a:rPr>
              <a:t>DFM: Geweke (1977); Doz e Fuleky (2019); Alves (2009); Moura et al. (2020).</a:t>
            </a:r>
          </a:p>
          <a:p>
            <a:pPr>
              <a:buFont typeface="Arial" panose="020B0604020202020204" pitchFamily="34" charset="0"/>
              <a:buChar char="•"/>
            </a:pPr>
            <a:r>
              <a:rPr lang="pt-BR" sz="2200" b="1" dirty="0">
                <a:latin typeface="+mn-lt"/>
              </a:rPr>
              <a:t>Modelos de IA: </a:t>
            </a:r>
            <a:r>
              <a:rPr lang="pt-BR" sz="2200" b="1" dirty="0">
                <a:solidFill>
                  <a:schemeClr val="tx1"/>
                </a:solidFill>
                <a:latin typeface="+mn-lt"/>
              </a:rPr>
              <a:t>Carmo e Lopacinski (2023); Vasconcelos (2017) </a:t>
            </a:r>
          </a:p>
          <a:p>
            <a:pPr>
              <a:buFont typeface="Arial" panose="020B0604020202020204" pitchFamily="34" charset="0"/>
              <a:buChar char="•"/>
            </a:pPr>
            <a:r>
              <a:rPr lang="pt-BR" sz="2200" dirty="0">
                <a:latin typeface="+mn-lt"/>
              </a:rPr>
              <a:t>Redes Neurais: Rosenblatt (1958); Rumelhart et al. (1986); Ghosh e Ranjan (2023); Kava (2022); Ekman (2021); Carmo e Lopacinski (2023); Amaral et al. (2023).</a:t>
            </a:r>
          </a:p>
          <a:p>
            <a:pPr>
              <a:buFont typeface="Arial" panose="020B0604020202020204" pitchFamily="34" charset="0"/>
              <a:buChar char="•"/>
            </a:pPr>
            <a:r>
              <a:rPr lang="pt-BR" sz="2200" dirty="0">
                <a:latin typeface="+mn-lt"/>
              </a:rPr>
              <a:t>Florestas Aleatórias: Breiman (2001); Landowska et al. (2025); Lemos e Souza (2025).</a:t>
            </a:r>
          </a:p>
        </p:txBody>
      </p:sp>
      <p:pic>
        <p:nvPicPr>
          <p:cNvPr id="98" name="Google Shape;98;p2" descr="Universidade Federal da Fronteira Sul – Wikipédia, a enciclopédia livre">
            <a:extLst>
              <a:ext uri="{FF2B5EF4-FFF2-40B4-BE49-F238E27FC236}">
                <a16:creationId xmlns:a16="http://schemas.microsoft.com/office/drawing/2014/main" id="{E80EF5C1-A5F0-D096-4ACE-96A3F0AC3097}"/>
              </a:ext>
            </a:extLst>
          </p:cNvPr>
          <p:cNvPicPr preferRelativeResize="0"/>
          <p:nvPr/>
        </p:nvPicPr>
        <p:blipFill rotWithShape="1">
          <a:blip r:embed="rId3">
            <a:alphaModFix/>
          </a:blip>
          <a:srcRect/>
          <a:stretch/>
        </p:blipFill>
        <p:spPr>
          <a:xfrm>
            <a:off x="10978329" y="18255"/>
            <a:ext cx="975614" cy="1325563"/>
          </a:xfrm>
          <a:prstGeom prst="rect">
            <a:avLst/>
          </a:prstGeom>
          <a:noFill/>
          <a:ln>
            <a:noFill/>
          </a:ln>
        </p:spPr>
      </p:pic>
      <p:sp>
        <p:nvSpPr>
          <p:cNvPr id="99" name="Google Shape;99;p2">
            <a:extLst>
              <a:ext uri="{FF2B5EF4-FFF2-40B4-BE49-F238E27FC236}">
                <a16:creationId xmlns:a16="http://schemas.microsoft.com/office/drawing/2014/main" id="{024228DC-FAE5-FEC1-D1C6-033E26803133}"/>
              </a:ext>
            </a:extLst>
          </p:cNvPr>
          <p:cNvSpPr/>
          <p:nvPr/>
        </p:nvSpPr>
        <p:spPr>
          <a:xfrm>
            <a:off x="170268" y="958543"/>
            <a:ext cx="10515600" cy="63062"/>
          </a:xfrm>
          <a:prstGeom prst="rect">
            <a:avLst/>
          </a:prstGeom>
          <a:solidFill>
            <a:srgbClr val="548135"/>
          </a:solidFill>
          <a:ln w="12700" cap="flat" cmpd="sng">
            <a:solidFill>
              <a:srgbClr val="1C3052"/>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00" name="Google Shape;100;p2">
            <a:extLst>
              <a:ext uri="{FF2B5EF4-FFF2-40B4-BE49-F238E27FC236}">
                <a16:creationId xmlns:a16="http://schemas.microsoft.com/office/drawing/2014/main" id="{7A01BD98-8141-02CE-6A92-834CA6939F66}"/>
              </a:ext>
            </a:extLst>
          </p:cNvPr>
          <p:cNvSpPr txBox="1">
            <a:spLocks noGrp="1"/>
          </p:cNvSpPr>
          <p:nvPr>
            <p:ph type="sldNum" idx="12"/>
          </p:nvPr>
        </p:nvSpPr>
        <p:spPr>
          <a:xfrm>
            <a:off x="9440152" y="6492875"/>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pt-BR" sz="1800"/>
              <a:t>15</a:t>
            </a:fld>
            <a:endParaRPr sz="1800" dirty="0"/>
          </a:p>
        </p:txBody>
      </p:sp>
    </p:spTree>
    <p:extLst>
      <p:ext uri="{BB962C8B-B14F-4D97-AF65-F5344CB8AC3E}">
        <p14:creationId xmlns:p14="http://schemas.microsoft.com/office/powerpoint/2010/main" val="25061982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95">
          <a:extLst>
            <a:ext uri="{FF2B5EF4-FFF2-40B4-BE49-F238E27FC236}">
              <a16:creationId xmlns:a16="http://schemas.microsoft.com/office/drawing/2014/main" id="{D6FA4DD3-CC2E-D4D8-9A49-10B98487B1C6}"/>
            </a:ext>
          </a:extLst>
        </p:cNvPr>
        <p:cNvGrpSpPr/>
        <p:nvPr/>
      </p:nvGrpSpPr>
      <p:grpSpPr>
        <a:xfrm>
          <a:off x="0" y="0"/>
          <a:ext cx="0" cy="0"/>
          <a:chOff x="0" y="0"/>
          <a:chExt cx="0" cy="0"/>
        </a:xfrm>
      </p:grpSpPr>
      <p:sp>
        <p:nvSpPr>
          <p:cNvPr id="96" name="Google Shape;96;p2">
            <a:extLst>
              <a:ext uri="{FF2B5EF4-FFF2-40B4-BE49-F238E27FC236}">
                <a16:creationId xmlns:a16="http://schemas.microsoft.com/office/drawing/2014/main" id="{F3B5CDFA-6204-7074-39A3-D7AACD104D67}"/>
              </a:ext>
            </a:extLst>
          </p:cNvPr>
          <p:cNvSpPr txBox="1">
            <a:spLocks noGrp="1"/>
          </p:cNvSpPr>
          <p:nvPr>
            <p:ph type="title"/>
          </p:nvPr>
        </p:nvSpPr>
        <p:spPr>
          <a:xfrm>
            <a:off x="170268" y="190105"/>
            <a:ext cx="10329566" cy="768438"/>
          </a:xfrm>
          <a:prstGeom prst="rect">
            <a:avLst/>
          </a:prstGeom>
          <a:noFill/>
          <a:ln>
            <a:noFill/>
          </a:ln>
        </p:spPr>
        <p:txBody>
          <a:bodyPr spcFirstLastPara="1" wrap="square" lIns="91425" tIns="45700" rIns="91425" bIns="45700" anchor="ctr" anchorCtr="0">
            <a:noAutofit/>
          </a:bodyPr>
          <a:lstStyle/>
          <a:p>
            <a:pPr lvl="0">
              <a:buSzPts val="4400"/>
            </a:pPr>
            <a:r>
              <a:rPr lang="pt-BR" sz="3200" b="1" dirty="0">
                <a:latin typeface="+mj-lt"/>
              </a:rPr>
              <a:t>Revisão</a:t>
            </a:r>
            <a:r>
              <a:rPr lang="pt-BR" sz="3200" dirty="0"/>
              <a:t> </a:t>
            </a:r>
            <a:r>
              <a:rPr lang="pt-BR" sz="3200" b="1" dirty="0">
                <a:latin typeface="+mj-lt"/>
              </a:rPr>
              <a:t>de literatura</a:t>
            </a:r>
            <a:endParaRPr sz="3200" b="1" dirty="0">
              <a:latin typeface="+mj-lt"/>
            </a:endParaRPr>
          </a:p>
        </p:txBody>
      </p:sp>
      <p:sp>
        <p:nvSpPr>
          <p:cNvPr id="97" name="Google Shape;97;p2">
            <a:extLst>
              <a:ext uri="{FF2B5EF4-FFF2-40B4-BE49-F238E27FC236}">
                <a16:creationId xmlns:a16="http://schemas.microsoft.com/office/drawing/2014/main" id="{BF6BEEED-C5BC-CB27-3161-761AA4F142E7}"/>
              </a:ext>
            </a:extLst>
          </p:cNvPr>
          <p:cNvSpPr txBox="1">
            <a:spLocks noGrp="1"/>
          </p:cNvSpPr>
          <p:nvPr>
            <p:ph type="body" idx="1"/>
          </p:nvPr>
        </p:nvSpPr>
        <p:spPr>
          <a:xfrm>
            <a:off x="170268" y="1125342"/>
            <a:ext cx="11855669" cy="5732658"/>
          </a:xfrm>
          <a:prstGeom prst="rect">
            <a:avLst/>
          </a:prstGeom>
          <a:noFill/>
          <a:ln>
            <a:noFill/>
          </a:ln>
        </p:spPr>
        <p:txBody>
          <a:bodyPr spcFirstLastPara="1" wrap="square" lIns="91425" tIns="45700" rIns="91425" bIns="45700" anchor="t" anchorCtr="0">
            <a:noAutofit/>
          </a:bodyPr>
          <a:lstStyle/>
          <a:p>
            <a:pPr>
              <a:buFont typeface="Arial" panose="020B0604020202020204" pitchFamily="34" charset="0"/>
              <a:buChar char="•"/>
            </a:pPr>
            <a:endParaRPr lang="pt-BR" sz="2200" dirty="0">
              <a:latin typeface="+mn-lt"/>
            </a:endParaRPr>
          </a:p>
          <a:p>
            <a:pPr>
              <a:buFont typeface="Arial" panose="020B0604020202020204" pitchFamily="34" charset="0"/>
              <a:buChar char="•"/>
            </a:pPr>
            <a:r>
              <a:rPr lang="pt-BR" sz="2200" dirty="0">
                <a:latin typeface="+mn-lt"/>
              </a:rPr>
              <a:t>Predição econômica: O PIB – Frisch (1929); </a:t>
            </a:r>
            <a:r>
              <a:rPr lang="it-IT" sz="2200" dirty="0">
                <a:latin typeface="+mn-lt"/>
              </a:rPr>
              <a:t>Laudon e Laudon (2022)  e</a:t>
            </a:r>
            <a:r>
              <a:rPr lang="pt-BR" sz="2200" dirty="0">
                <a:latin typeface="+mn-lt"/>
              </a:rPr>
              <a:t> IBGE (2026).</a:t>
            </a:r>
          </a:p>
          <a:p>
            <a:pPr>
              <a:buFont typeface="Arial" panose="020B0604020202020204" pitchFamily="34" charset="0"/>
              <a:buChar char="•"/>
            </a:pPr>
            <a:r>
              <a:rPr lang="pt-BR" sz="2200" dirty="0">
                <a:latin typeface="+mn-lt"/>
              </a:rPr>
              <a:t>Modelos tradicionais: Braga (2025); Rebelo (2022).</a:t>
            </a:r>
          </a:p>
          <a:p>
            <a:pPr>
              <a:buFont typeface="Arial" panose="020B0604020202020204" pitchFamily="34" charset="0"/>
              <a:buChar char="•"/>
            </a:pPr>
            <a:r>
              <a:rPr lang="pt-BR" sz="2200" dirty="0">
                <a:latin typeface="+mn-lt"/>
              </a:rPr>
              <a:t>ARIMA: Box e Jenkins (1970); Silva </a:t>
            </a:r>
            <a:r>
              <a:rPr lang="pt-BR" sz="2200" i="1" dirty="0">
                <a:latin typeface="+mn-lt"/>
              </a:rPr>
              <a:t>et al </a:t>
            </a:r>
            <a:r>
              <a:rPr lang="pt-BR" sz="2200" dirty="0">
                <a:latin typeface="+mn-lt"/>
              </a:rPr>
              <a:t>(2025); Li (2024).</a:t>
            </a:r>
          </a:p>
          <a:p>
            <a:pPr>
              <a:buFont typeface="Arial" panose="020B0604020202020204" pitchFamily="34" charset="0"/>
              <a:buChar char="•"/>
            </a:pPr>
            <a:r>
              <a:rPr lang="pt-BR" sz="2200" dirty="0">
                <a:latin typeface="+mn-lt"/>
              </a:rPr>
              <a:t>VAR: </a:t>
            </a:r>
            <a:r>
              <a:rPr lang="pt-BR" sz="2200" dirty="0" err="1">
                <a:latin typeface="+mn-lt"/>
              </a:rPr>
              <a:t>Sims</a:t>
            </a:r>
            <a:r>
              <a:rPr lang="pt-BR" sz="2200" dirty="0">
                <a:latin typeface="+mn-lt"/>
              </a:rPr>
              <a:t> (1980); Fialho </a:t>
            </a:r>
            <a:r>
              <a:rPr lang="pt-BR" sz="2200" i="1" dirty="0">
                <a:latin typeface="+mn-lt"/>
              </a:rPr>
              <a:t>et al</a:t>
            </a:r>
            <a:r>
              <a:rPr lang="pt-BR" sz="2200" dirty="0">
                <a:latin typeface="+mn-lt"/>
              </a:rPr>
              <a:t>. (2024); Oliveira e Junior (2024); </a:t>
            </a:r>
            <a:r>
              <a:rPr lang="pt-BR" sz="2200" dirty="0" err="1">
                <a:latin typeface="+mn-lt"/>
              </a:rPr>
              <a:t>Koop</a:t>
            </a:r>
            <a:r>
              <a:rPr lang="pt-BR" sz="2200" dirty="0">
                <a:latin typeface="+mn-lt"/>
              </a:rPr>
              <a:t> </a:t>
            </a:r>
            <a:r>
              <a:rPr lang="pt-BR" sz="2200" i="1" dirty="0">
                <a:latin typeface="+mn-lt"/>
              </a:rPr>
              <a:t>et al</a:t>
            </a:r>
            <a:r>
              <a:rPr lang="pt-BR" sz="2200" dirty="0">
                <a:latin typeface="+mn-lt"/>
              </a:rPr>
              <a:t>. (2025).</a:t>
            </a:r>
          </a:p>
          <a:p>
            <a:pPr>
              <a:buFont typeface="Arial" panose="020B0604020202020204" pitchFamily="34" charset="0"/>
              <a:buChar char="•"/>
            </a:pPr>
            <a:r>
              <a:rPr lang="pt-BR" sz="2200" dirty="0">
                <a:latin typeface="+mn-lt"/>
              </a:rPr>
              <a:t>MIDAS: Ghysels et al. (2004); Castelli (2022); Micheletti (2024).</a:t>
            </a:r>
          </a:p>
          <a:p>
            <a:pPr>
              <a:buFont typeface="Arial" panose="020B0604020202020204" pitchFamily="34" charset="0"/>
              <a:buChar char="•"/>
            </a:pPr>
            <a:r>
              <a:rPr lang="pt-BR" sz="2200" dirty="0">
                <a:latin typeface="+mn-lt"/>
              </a:rPr>
              <a:t>DFM: Geweke (1977); Doz e Fuleky (2019); Alves (2009); Moura et al. (2020).</a:t>
            </a:r>
          </a:p>
          <a:p>
            <a:pPr>
              <a:buFont typeface="Arial" panose="020B0604020202020204" pitchFamily="34" charset="0"/>
              <a:buChar char="•"/>
            </a:pPr>
            <a:r>
              <a:rPr lang="pt-BR" sz="2200" dirty="0">
                <a:latin typeface="+mn-lt"/>
              </a:rPr>
              <a:t>Modelos de IA: </a:t>
            </a:r>
            <a:r>
              <a:rPr lang="pt-BR" sz="2200" dirty="0">
                <a:solidFill>
                  <a:schemeClr val="tx1"/>
                </a:solidFill>
                <a:latin typeface="+mn-lt"/>
              </a:rPr>
              <a:t>Carmo e Lopacinski (2023); Vasconcelos (2017) </a:t>
            </a:r>
          </a:p>
          <a:p>
            <a:pPr>
              <a:buFont typeface="Arial" panose="020B0604020202020204" pitchFamily="34" charset="0"/>
              <a:buChar char="•"/>
            </a:pPr>
            <a:r>
              <a:rPr lang="pt-BR" sz="2200" b="1" dirty="0">
                <a:latin typeface="+mn-lt"/>
              </a:rPr>
              <a:t>Redes Neurais: Rosenblatt (1958); Rumelhart et al. (1986); Ghosh e Ranjan (2023); Kava (2022); Ekman (2021); Carmo e Lopacinski (2023); Amaral et al. (2023).</a:t>
            </a:r>
          </a:p>
          <a:p>
            <a:pPr>
              <a:buFont typeface="Arial" panose="020B0604020202020204" pitchFamily="34" charset="0"/>
              <a:buChar char="•"/>
            </a:pPr>
            <a:r>
              <a:rPr lang="pt-BR" sz="2200" dirty="0">
                <a:latin typeface="+mn-lt"/>
              </a:rPr>
              <a:t>Florestas Aleatórias: Breiman (2001); Landowska et al. (2025); Lemos e Souza (2025).</a:t>
            </a:r>
          </a:p>
        </p:txBody>
      </p:sp>
      <p:pic>
        <p:nvPicPr>
          <p:cNvPr id="98" name="Google Shape;98;p2" descr="Universidade Federal da Fronteira Sul – Wikipédia, a enciclopédia livre">
            <a:extLst>
              <a:ext uri="{FF2B5EF4-FFF2-40B4-BE49-F238E27FC236}">
                <a16:creationId xmlns:a16="http://schemas.microsoft.com/office/drawing/2014/main" id="{5D235F74-02D8-A8AD-B182-395AAC363A23}"/>
              </a:ext>
            </a:extLst>
          </p:cNvPr>
          <p:cNvPicPr preferRelativeResize="0"/>
          <p:nvPr/>
        </p:nvPicPr>
        <p:blipFill rotWithShape="1">
          <a:blip r:embed="rId3">
            <a:alphaModFix/>
          </a:blip>
          <a:srcRect/>
          <a:stretch/>
        </p:blipFill>
        <p:spPr>
          <a:xfrm>
            <a:off x="10978329" y="18255"/>
            <a:ext cx="975614" cy="1325563"/>
          </a:xfrm>
          <a:prstGeom prst="rect">
            <a:avLst/>
          </a:prstGeom>
          <a:noFill/>
          <a:ln>
            <a:noFill/>
          </a:ln>
        </p:spPr>
      </p:pic>
      <p:sp>
        <p:nvSpPr>
          <p:cNvPr id="99" name="Google Shape;99;p2">
            <a:extLst>
              <a:ext uri="{FF2B5EF4-FFF2-40B4-BE49-F238E27FC236}">
                <a16:creationId xmlns:a16="http://schemas.microsoft.com/office/drawing/2014/main" id="{5FCAC372-2454-B30D-F6EC-2D9FA5D2CA3D}"/>
              </a:ext>
            </a:extLst>
          </p:cNvPr>
          <p:cNvSpPr/>
          <p:nvPr/>
        </p:nvSpPr>
        <p:spPr>
          <a:xfrm>
            <a:off x="170268" y="958543"/>
            <a:ext cx="10515600" cy="63062"/>
          </a:xfrm>
          <a:prstGeom prst="rect">
            <a:avLst/>
          </a:prstGeom>
          <a:solidFill>
            <a:srgbClr val="548135"/>
          </a:solidFill>
          <a:ln w="12700" cap="flat" cmpd="sng">
            <a:solidFill>
              <a:srgbClr val="1C3052"/>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00" name="Google Shape;100;p2">
            <a:extLst>
              <a:ext uri="{FF2B5EF4-FFF2-40B4-BE49-F238E27FC236}">
                <a16:creationId xmlns:a16="http://schemas.microsoft.com/office/drawing/2014/main" id="{CCC83299-F6AE-7EB2-04AD-988C055F4616}"/>
              </a:ext>
            </a:extLst>
          </p:cNvPr>
          <p:cNvSpPr txBox="1">
            <a:spLocks noGrp="1"/>
          </p:cNvSpPr>
          <p:nvPr>
            <p:ph type="sldNum" idx="12"/>
          </p:nvPr>
        </p:nvSpPr>
        <p:spPr>
          <a:xfrm>
            <a:off x="9440152" y="6492875"/>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pt-BR" sz="1800"/>
              <a:t>16</a:t>
            </a:fld>
            <a:endParaRPr sz="1800" dirty="0"/>
          </a:p>
        </p:txBody>
      </p:sp>
    </p:spTree>
    <p:extLst>
      <p:ext uri="{BB962C8B-B14F-4D97-AF65-F5344CB8AC3E}">
        <p14:creationId xmlns:p14="http://schemas.microsoft.com/office/powerpoint/2010/main" val="89127346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95">
          <a:extLst>
            <a:ext uri="{FF2B5EF4-FFF2-40B4-BE49-F238E27FC236}">
              <a16:creationId xmlns:a16="http://schemas.microsoft.com/office/drawing/2014/main" id="{FB4A82C9-DE8E-830C-3447-9BD647FABCF5}"/>
            </a:ext>
          </a:extLst>
        </p:cNvPr>
        <p:cNvGrpSpPr/>
        <p:nvPr/>
      </p:nvGrpSpPr>
      <p:grpSpPr>
        <a:xfrm>
          <a:off x="0" y="0"/>
          <a:ext cx="0" cy="0"/>
          <a:chOff x="0" y="0"/>
          <a:chExt cx="0" cy="0"/>
        </a:xfrm>
      </p:grpSpPr>
      <p:sp>
        <p:nvSpPr>
          <p:cNvPr id="96" name="Google Shape;96;p2">
            <a:extLst>
              <a:ext uri="{FF2B5EF4-FFF2-40B4-BE49-F238E27FC236}">
                <a16:creationId xmlns:a16="http://schemas.microsoft.com/office/drawing/2014/main" id="{7634B631-6536-4148-1F5F-6A8EDD41E076}"/>
              </a:ext>
            </a:extLst>
          </p:cNvPr>
          <p:cNvSpPr txBox="1">
            <a:spLocks noGrp="1"/>
          </p:cNvSpPr>
          <p:nvPr>
            <p:ph type="title"/>
          </p:nvPr>
        </p:nvSpPr>
        <p:spPr>
          <a:xfrm>
            <a:off x="170268" y="190105"/>
            <a:ext cx="10329566" cy="768438"/>
          </a:xfrm>
          <a:prstGeom prst="rect">
            <a:avLst/>
          </a:prstGeom>
          <a:noFill/>
          <a:ln>
            <a:noFill/>
          </a:ln>
        </p:spPr>
        <p:txBody>
          <a:bodyPr spcFirstLastPara="1" wrap="square" lIns="91425" tIns="45700" rIns="91425" bIns="45700" anchor="ctr" anchorCtr="0">
            <a:noAutofit/>
          </a:bodyPr>
          <a:lstStyle/>
          <a:p>
            <a:pPr lvl="0">
              <a:buSzPts val="4400"/>
            </a:pPr>
            <a:r>
              <a:rPr lang="pt-BR" sz="3200" b="1" dirty="0">
                <a:latin typeface="+mj-lt"/>
              </a:rPr>
              <a:t>Revisão</a:t>
            </a:r>
            <a:r>
              <a:rPr lang="pt-BR" sz="3200" dirty="0"/>
              <a:t> </a:t>
            </a:r>
            <a:r>
              <a:rPr lang="pt-BR" sz="3200" b="1" dirty="0">
                <a:latin typeface="+mj-lt"/>
              </a:rPr>
              <a:t>de literatura</a:t>
            </a:r>
            <a:endParaRPr sz="3200" b="1" dirty="0">
              <a:latin typeface="+mj-lt"/>
            </a:endParaRPr>
          </a:p>
        </p:txBody>
      </p:sp>
      <p:sp>
        <p:nvSpPr>
          <p:cNvPr id="97" name="Google Shape;97;p2">
            <a:extLst>
              <a:ext uri="{FF2B5EF4-FFF2-40B4-BE49-F238E27FC236}">
                <a16:creationId xmlns:a16="http://schemas.microsoft.com/office/drawing/2014/main" id="{6124EC39-3F86-B8F9-3949-2DB2CDC1B2E3}"/>
              </a:ext>
            </a:extLst>
          </p:cNvPr>
          <p:cNvSpPr txBox="1">
            <a:spLocks noGrp="1"/>
          </p:cNvSpPr>
          <p:nvPr>
            <p:ph type="body" idx="1"/>
          </p:nvPr>
        </p:nvSpPr>
        <p:spPr>
          <a:xfrm>
            <a:off x="170268" y="1125342"/>
            <a:ext cx="11855669" cy="5732658"/>
          </a:xfrm>
          <a:prstGeom prst="rect">
            <a:avLst/>
          </a:prstGeom>
          <a:noFill/>
          <a:ln>
            <a:noFill/>
          </a:ln>
        </p:spPr>
        <p:txBody>
          <a:bodyPr spcFirstLastPara="1" wrap="square" lIns="91425" tIns="45700" rIns="91425" bIns="45700" anchor="t" anchorCtr="0">
            <a:noAutofit/>
          </a:bodyPr>
          <a:lstStyle/>
          <a:p>
            <a:pPr>
              <a:buFont typeface="Arial" panose="020B0604020202020204" pitchFamily="34" charset="0"/>
              <a:buChar char="•"/>
            </a:pPr>
            <a:endParaRPr lang="pt-BR" sz="2200" dirty="0">
              <a:latin typeface="+mn-lt"/>
            </a:endParaRPr>
          </a:p>
          <a:p>
            <a:pPr>
              <a:buFont typeface="Arial" panose="020B0604020202020204" pitchFamily="34" charset="0"/>
              <a:buChar char="•"/>
            </a:pPr>
            <a:r>
              <a:rPr lang="pt-BR" sz="2200" dirty="0">
                <a:latin typeface="+mn-lt"/>
              </a:rPr>
              <a:t>Predição econômica: O PIB – Frisch (1929); </a:t>
            </a:r>
            <a:r>
              <a:rPr lang="it-IT" sz="2200" dirty="0">
                <a:latin typeface="+mn-lt"/>
              </a:rPr>
              <a:t>Laudon e Laudon (2022)  e</a:t>
            </a:r>
            <a:r>
              <a:rPr lang="pt-BR" sz="2200" dirty="0">
                <a:latin typeface="+mn-lt"/>
              </a:rPr>
              <a:t> IBGE (2026).</a:t>
            </a:r>
          </a:p>
          <a:p>
            <a:pPr>
              <a:buFont typeface="Arial" panose="020B0604020202020204" pitchFamily="34" charset="0"/>
              <a:buChar char="•"/>
            </a:pPr>
            <a:r>
              <a:rPr lang="pt-BR" sz="2200" dirty="0">
                <a:latin typeface="+mn-lt"/>
              </a:rPr>
              <a:t>Modelos tradicionais: Braga (2025); Rebelo (2022).</a:t>
            </a:r>
          </a:p>
          <a:p>
            <a:pPr>
              <a:buFont typeface="Arial" panose="020B0604020202020204" pitchFamily="34" charset="0"/>
              <a:buChar char="•"/>
            </a:pPr>
            <a:r>
              <a:rPr lang="pt-BR" sz="2200" dirty="0">
                <a:latin typeface="+mn-lt"/>
              </a:rPr>
              <a:t>ARIMA: Box e Jenkins (1970); Silva </a:t>
            </a:r>
            <a:r>
              <a:rPr lang="pt-BR" sz="2200" i="1" dirty="0">
                <a:latin typeface="+mn-lt"/>
              </a:rPr>
              <a:t>et al </a:t>
            </a:r>
            <a:r>
              <a:rPr lang="pt-BR" sz="2200" dirty="0">
                <a:latin typeface="+mn-lt"/>
              </a:rPr>
              <a:t>(2025); Li (2024).</a:t>
            </a:r>
          </a:p>
          <a:p>
            <a:pPr>
              <a:buFont typeface="Arial" panose="020B0604020202020204" pitchFamily="34" charset="0"/>
              <a:buChar char="•"/>
            </a:pPr>
            <a:r>
              <a:rPr lang="pt-BR" sz="2200" dirty="0">
                <a:latin typeface="+mn-lt"/>
              </a:rPr>
              <a:t>VAR: </a:t>
            </a:r>
            <a:r>
              <a:rPr lang="pt-BR" sz="2200" dirty="0" err="1">
                <a:latin typeface="+mn-lt"/>
              </a:rPr>
              <a:t>Sims</a:t>
            </a:r>
            <a:r>
              <a:rPr lang="pt-BR" sz="2200" dirty="0">
                <a:latin typeface="+mn-lt"/>
              </a:rPr>
              <a:t> (1980); Fialho </a:t>
            </a:r>
            <a:r>
              <a:rPr lang="pt-BR" sz="2200" i="1" dirty="0">
                <a:latin typeface="+mn-lt"/>
              </a:rPr>
              <a:t>et al</a:t>
            </a:r>
            <a:r>
              <a:rPr lang="pt-BR" sz="2200" dirty="0">
                <a:latin typeface="+mn-lt"/>
              </a:rPr>
              <a:t>. (2024); Oliveira e Junior (2024); </a:t>
            </a:r>
            <a:r>
              <a:rPr lang="pt-BR" sz="2200" dirty="0" err="1">
                <a:latin typeface="+mn-lt"/>
              </a:rPr>
              <a:t>Koop</a:t>
            </a:r>
            <a:r>
              <a:rPr lang="pt-BR" sz="2200" dirty="0">
                <a:latin typeface="+mn-lt"/>
              </a:rPr>
              <a:t> </a:t>
            </a:r>
            <a:r>
              <a:rPr lang="pt-BR" sz="2200" i="1" dirty="0">
                <a:latin typeface="+mn-lt"/>
              </a:rPr>
              <a:t>et al</a:t>
            </a:r>
            <a:r>
              <a:rPr lang="pt-BR" sz="2200" dirty="0">
                <a:latin typeface="+mn-lt"/>
              </a:rPr>
              <a:t>. (2025).</a:t>
            </a:r>
          </a:p>
          <a:p>
            <a:pPr>
              <a:buFont typeface="Arial" panose="020B0604020202020204" pitchFamily="34" charset="0"/>
              <a:buChar char="•"/>
            </a:pPr>
            <a:r>
              <a:rPr lang="pt-BR" sz="2200" dirty="0">
                <a:latin typeface="+mn-lt"/>
              </a:rPr>
              <a:t>MIDAS: Ghysels et al. (2004); Castelli (2022); Micheletti (2024).</a:t>
            </a:r>
          </a:p>
          <a:p>
            <a:pPr>
              <a:buFont typeface="Arial" panose="020B0604020202020204" pitchFamily="34" charset="0"/>
              <a:buChar char="•"/>
            </a:pPr>
            <a:r>
              <a:rPr lang="pt-BR" sz="2200" dirty="0">
                <a:latin typeface="+mn-lt"/>
              </a:rPr>
              <a:t>DFM: Geweke (1977); Doz e Fuleky (2019); Alves (2009); Moura et al. (2020).</a:t>
            </a:r>
          </a:p>
          <a:p>
            <a:pPr>
              <a:buFont typeface="Arial" panose="020B0604020202020204" pitchFamily="34" charset="0"/>
              <a:buChar char="•"/>
            </a:pPr>
            <a:r>
              <a:rPr lang="pt-BR" sz="2200" dirty="0">
                <a:latin typeface="+mn-lt"/>
              </a:rPr>
              <a:t>Modelos de IA: </a:t>
            </a:r>
            <a:r>
              <a:rPr lang="pt-BR" sz="2200" dirty="0">
                <a:solidFill>
                  <a:schemeClr val="tx1"/>
                </a:solidFill>
                <a:latin typeface="+mn-lt"/>
              </a:rPr>
              <a:t>Carmo e Lopacinski (2023); Vasconcelos (2017) </a:t>
            </a:r>
          </a:p>
          <a:p>
            <a:pPr>
              <a:buFont typeface="Arial" panose="020B0604020202020204" pitchFamily="34" charset="0"/>
              <a:buChar char="•"/>
            </a:pPr>
            <a:r>
              <a:rPr lang="pt-BR" sz="2200" dirty="0">
                <a:latin typeface="+mn-lt"/>
              </a:rPr>
              <a:t>Redes Neurais: Rosenblatt (1958); Rumelhart et al. (1986); Ghosh e Ranjan (2023); Kava (2022); Ekman (2021); Carmo e Lopacinski (2023); Amaral et al. (2023).</a:t>
            </a:r>
          </a:p>
          <a:p>
            <a:pPr>
              <a:buFont typeface="Arial" panose="020B0604020202020204" pitchFamily="34" charset="0"/>
              <a:buChar char="•"/>
            </a:pPr>
            <a:r>
              <a:rPr lang="pt-BR" sz="2200" b="1" dirty="0">
                <a:latin typeface="+mn-lt"/>
              </a:rPr>
              <a:t>Florestas Aleatórias: Breiman (2001); Landowska et al. (2025); Lemos e Souza (2025).</a:t>
            </a:r>
          </a:p>
        </p:txBody>
      </p:sp>
      <p:pic>
        <p:nvPicPr>
          <p:cNvPr id="98" name="Google Shape;98;p2" descr="Universidade Federal da Fronteira Sul – Wikipédia, a enciclopédia livre">
            <a:extLst>
              <a:ext uri="{FF2B5EF4-FFF2-40B4-BE49-F238E27FC236}">
                <a16:creationId xmlns:a16="http://schemas.microsoft.com/office/drawing/2014/main" id="{22BBDBEF-8DD4-ADEA-EFA2-E5E836AED39E}"/>
              </a:ext>
            </a:extLst>
          </p:cNvPr>
          <p:cNvPicPr preferRelativeResize="0"/>
          <p:nvPr/>
        </p:nvPicPr>
        <p:blipFill rotWithShape="1">
          <a:blip r:embed="rId3">
            <a:alphaModFix/>
          </a:blip>
          <a:srcRect/>
          <a:stretch/>
        </p:blipFill>
        <p:spPr>
          <a:xfrm>
            <a:off x="10978329" y="18255"/>
            <a:ext cx="975614" cy="1325563"/>
          </a:xfrm>
          <a:prstGeom prst="rect">
            <a:avLst/>
          </a:prstGeom>
          <a:noFill/>
          <a:ln>
            <a:noFill/>
          </a:ln>
        </p:spPr>
      </p:pic>
      <p:sp>
        <p:nvSpPr>
          <p:cNvPr id="99" name="Google Shape;99;p2">
            <a:extLst>
              <a:ext uri="{FF2B5EF4-FFF2-40B4-BE49-F238E27FC236}">
                <a16:creationId xmlns:a16="http://schemas.microsoft.com/office/drawing/2014/main" id="{FCDE39DB-2238-CD21-5D6B-F0F0BF74840A}"/>
              </a:ext>
            </a:extLst>
          </p:cNvPr>
          <p:cNvSpPr/>
          <p:nvPr/>
        </p:nvSpPr>
        <p:spPr>
          <a:xfrm>
            <a:off x="170268" y="958543"/>
            <a:ext cx="10515600" cy="63062"/>
          </a:xfrm>
          <a:prstGeom prst="rect">
            <a:avLst/>
          </a:prstGeom>
          <a:solidFill>
            <a:srgbClr val="548135"/>
          </a:solidFill>
          <a:ln w="12700" cap="flat" cmpd="sng">
            <a:solidFill>
              <a:srgbClr val="1C3052"/>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00" name="Google Shape;100;p2">
            <a:extLst>
              <a:ext uri="{FF2B5EF4-FFF2-40B4-BE49-F238E27FC236}">
                <a16:creationId xmlns:a16="http://schemas.microsoft.com/office/drawing/2014/main" id="{BF272574-76A1-6054-4412-95DF186C5612}"/>
              </a:ext>
            </a:extLst>
          </p:cNvPr>
          <p:cNvSpPr txBox="1">
            <a:spLocks noGrp="1"/>
          </p:cNvSpPr>
          <p:nvPr>
            <p:ph type="sldNum" idx="12"/>
          </p:nvPr>
        </p:nvSpPr>
        <p:spPr>
          <a:xfrm>
            <a:off x="9440152" y="6492875"/>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pt-BR" sz="1800"/>
              <a:t>17</a:t>
            </a:fld>
            <a:endParaRPr sz="1800" dirty="0"/>
          </a:p>
        </p:txBody>
      </p:sp>
    </p:spTree>
    <p:extLst>
      <p:ext uri="{BB962C8B-B14F-4D97-AF65-F5344CB8AC3E}">
        <p14:creationId xmlns:p14="http://schemas.microsoft.com/office/powerpoint/2010/main" val="197098736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95">
          <a:extLst>
            <a:ext uri="{FF2B5EF4-FFF2-40B4-BE49-F238E27FC236}">
              <a16:creationId xmlns:a16="http://schemas.microsoft.com/office/drawing/2014/main" id="{831B1A78-1ABC-F342-EDA6-AFE1EC65AD38}"/>
            </a:ext>
          </a:extLst>
        </p:cNvPr>
        <p:cNvGrpSpPr/>
        <p:nvPr/>
      </p:nvGrpSpPr>
      <p:grpSpPr>
        <a:xfrm>
          <a:off x="0" y="0"/>
          <a:ext cx="0" cy="0"/>
          <a:chOff x="0" y="0"/>
          <a:chExt cx="0" cy="0"/>
        </a:xfrm>
      </p:grpSpPr>
      <p:sp>
        <p:nvSpPr>
          <p:cNvPr id="96" name="Google Shape;96;p2">
            <a:extLst>
              <a:ext uri="{FF2B5EF4-FFF2-40B4-BE49-F238E27FC236}">
                <a16:creationId xmlns:a16="http://schemas.microsoft.com/office/drawing/2014/main" id="{B83C26C9-EA22-BCD5-E445-35737ED45C44}"/>
              </a:ext>
            </a:extLst>
          </p:cNvPr>
          <p:cNvSpPr txBox="1">
            <a:spLocks noGrp="1"/>
          </p:cNvSpPr>
          <p:nvPr>
            <p:ph type="title"/>
          </p:nvPr>
        </p:nvSpPr>
        <p:spPr>
          <a:xfrm>
            <a:off x="170268" y="190105"/>
            <a:ext cx="10329566" cy="768438"/>
          </a:xfrm>
          <a:prstGeom prst="rect">
            <a:avLst/>
          </a:prstGeom>
          <a:noFill/>
          <a:ln>
            <a:noFill/>
          </a:ln>
        </p:spPr>
        <p:txBody>
          <a:bodyPr spcFirstLastPara="1" wrap="square" lIns="91425" tIns="45700" rIns="91425" bIns="45700" anchor="ctr" anchorCtr="0">
            <a:noAutofit/>
          </a:bodyPr>
          <a:lstStyle/>
          <a:p>
            <a:pPr lvl="0">
              <a:buSzPts val="4400"/>
            </a:pPr>
            <a:r>
              <a:rPr lang="pt-BR" sz="3200" b="1" dirty="0">
                <a:latin typeface="+mj-lt"/>
              </a:rPr>
              <a:t>Metodologia</a:t>
            </a:r>
            <a:endParaRPr sz="3200" b="1" dirty="0">
              <a:latin typeface="+mj-lt"/>
            </a:endParaRPr>
          </a:p>
        </p:txBody>
      </p:sp>
      <p:pic>
        <p:nvPicPr>
          <p:cNvPr id="98" name="Google Shape;98;p2" descr="Universidade Federal da Fronteira Sul – Wikipédia, a enciclopédia livre">
            <a:extLst>
              <a:ext uri="{FF2B5EF4-FFF2-40B4-BE49-F238E27FC236}">
                <a16:creationId xmlns:a16="http://schemas.microsoft.com/office/drawing/2014/main" id="{DECB0394-41DE-FEB0-693A-900E53FBD800}"/>
              </a:ext>
            </a:extLst>
          </p:cNvPr>
          <p:cNvPicPr preferRelativeResize="0"/>
          <p:nvPr/>
        </p:nvPicPr>
        <p:blipFill rotWithShape="1">
          <a:blip r:embed="rId3">
            <a:alphaModFix/>
          </a:blip>
          <a:srcRect/>
          <a:stretch/>
        </p:blipFill>
        <p:spPr>
          <a:xfrm>
            <a:off x="10978329" y="18255"/>
            <a:ext cx="975614" cy="1325563"/>
          </a:xfrm>
          <a:prstGeom prst="rect">
            <a:avLst/>
          </a:prstGeom>
          <a:noFill/>
          <a:ln>
            <a:noFill/>
          </a:ln>
        </p:spPr>
      </p:pic>
      <p:sp>
        <p:nvSpPr>
          <p:cNvPr id="99" name="Google Shape;99;p2">
            <a:extLst>
              <a:ext uri="{FF2B5EF4-FFF2-40B4-BE49-F238E27FC236}">
                <a16:creationId xmlns:a16="http://schemas.microsoft.com/office/drawing/2014/main" id="{69B1ED4B-0635-F42A-A86E-C08A222F9900}"/>
              </a:ext>
            </a:extLst>
          </p:cNvPr>
          <p:cNvSpPr/>
          <p:nvPr/>
        </p:nvSpPr>
        <p:spPr>
          <a:xfrm>
            <a:off x="170268" y="958543"/>
            <a:ext cx="10515600" cy="63062"/>
          </a:xfrm>
          <a:prstGeom prst="rect">
            <a:avLst/>
          </a:prstGeom>
          <a:solidFill>
            <a:srgbClr val="548135"/>
          </a:solidFill>
          <a:ln w="12700" cap="flat" cmpd="sng">
            <a:solidFill>
              <a:srgbClr val="1C3052"/>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00" name="Google Shape;100;p2">
            <a:extLst>
              <a:ext uri="{FF2B5EF4-FFF2-40B4-BE49-F238E27FC236}">
                <a16:creationId xmlns:a16="http://schemas.microsoft.com/office/drawing/2014/main" id="{ECEBEDFF-90B6-71CC-164E-FF31B6A06AD5}"/>
              </a:ext>
            </a:extLst>
          </p:cNvPr>
          <p:cNvSpPr txBox="1">
            <a:spLocks noGrp="1"/>
          </p:cNvSpPr>
          <p:nvPr>
            <p:ph type="sldNum" idx="12"/>
          </p:nvPr>
        </p:nvSpPr>
        <p:spPr>
          <a:xfrm>
            <a:off x="9440152" y="6492875"/>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pt-BR" sz="1800"/>
              <a:t>18</a:t>
            </a:fld>
            <a:endParaRPr sz="1800" dirty="0"/>
          </a:p>
        </p:txBody>
      </p:sp>
      <p:sp>
        <p:nvSpPr>
          <p:cNvPr id="9" name="Google Shape;97;p2">
            <a:extLst>
              <a:ext uri="{FF2B5EF4-FFF2-40B4-BE49-F238E27FC236}">
                <a16:creationId xmlns:a16="http://schemas.microsoft.com/office/drawing/2014/main" id="{7B5CC5E3-01C0-451C-80DD-E8813F8132AD}"/>
              </a:ext>
            </a:extLst>
          </p:cNvPr>
          <p:cNvSpPr txBox="1">
            <a:spLocks noGrp="1"/>
          </p:cNvSpPr>
          <p:nvPr>
            <p:ph type="body" idx="1"/>
          </p:nvPr>
        </p:nvSpPr>
        <p:spPr>
          <a:xfrm>
            <a:off x="170268" y="1092372"/>
            <a:ext cx="11855669" cy="5732658"/>
          </a:xfrm>
          <a:prstGeom prst="rect">
            <a:avLst/>
          </a:prstGeom>
          <a:noFill/>
          <a:ln>
            <a:noFill/>
          </a:ln>
        </p:spPr>
        <p:txBody>
          <a:bodyPr spcFirstLastPara="1" wrap="square" lIns="91425" tIns="45700" rIns="91425" bIns="45700" anchor="t" anchorCtr="0">
            <a:noAutofit/>
          </a:bodyPr>
          <a:lstStyle/>
          <a:p>
            <a:pPr marL="0" indent="-457200">
              <a:buNone/>
            </a:pPr>
            <a:r>
              <a:rPr lang="pt-BR" sz="2300" dirty="0">
                <a:latin typeface="+mn-lt"/>
              </a:rPr>
              <a:t>Com base nos objetivos da presente pesquisa, a mesma se classifica como explicativa. Esse tipo de pesquisa "têm como preocupação central identificar os fatores que determinam ou que contribuem para a ocorrência dos fenômenos."(Gil, 2002, p. 87).</a:t>
            </a:r>
          </a:p>
          <a:p>
            <a:pPr marL="0" indent="-457200">
              <a:buNone/>
            </a:pPr>
            <a:r>
              <a:rPr lang="pt-BR" sz="2300" dirty="0">
                <a:latin typeface="+mn-lt"/>
              </a:rPr>
              <a:t>Sobre os procedimentos de coleta de dados, a presente pesquisa se enquadra como documental, por utilizar-se de dados que não receberam um tratamento e estão dispostos em repositórios digitais de dados. Segundo Gil (2002) a pesquisa documental apropria-se de diversas fontes, não somente material impresso em bibliotecas, onde os documentos utilizados podem ter um tratamento analítico ou não.</a:t>
            </a:r>
          </a:p>
          <a:p>
            <a:pPr marL="0" indent="-457200">
              <a:buNone/>
            </a:pPr>
            <a:r>
              <a:rPr lang="pt-BR" sz="2300" dirty="0">
                <a:latin typeface="+mn-lt"/>
              </a:rPr>
              <a:t>Por fim, ao se tratar de uma pesquisa que compara diferentes modelos econométricos, assim como avalia o desempenho dos mesmos, seguindo o rigor matemático e estatístico, ela se enquadra como uma pesquisa predominantemente quantitativa onde apropria-se do método comparativo e estatístico. Para Lakatos e Marconi (2003) o método estatístico trata-se da redução dos fenômenos a termos quantitativos e a manipulação estatística, onde possibilita a generalizações sobre sua natureza, ocorrência ou significado. Já "o método comparativo é usado tanto para comparações de grupos."(Lakatos e Marconi, 2003, p. 107, 108).</a:t>
            </a:r>
          </a:p>
          <a:p>
            <a:pPr marL="0" indent="-457200">
              <a:buNone/>
            </a:pPr>
            <a:endParaRPr lang="pt-BR" sz="2400" dirty="0">
              <a:latin typeface="+mn-lt"/>
            </a:endParaRPr>
          </a:p>
        </p:txBody>
      </p:sp>
    </p:spTree>
    <p:extLst>
      <p:ext uri="{BB962C8B-B14F-4D97-AF65-F5344CB8AC3E}">
        <p14:creationId xmlns:p14="http://schemas.microsoft.com/office/powerpoint/2010/main" val="401836533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95">
          <a:extLst>
            <a:ext uri="{FF2B5EF4-FFF2-40B4-BE49-F238E27FC236}">
              <a16:creationId xmlns:a16="http://schemas.microsoft.com/office/drawing/2014/main" id="{B699482D-9B8E-4937-A6FA-6CFAF7F643EF}"/>
            </a:ext>
          </a:extLst>
        </p:cNvPr>
        <p:cNvGrpSpPr/>
        <p:nvPr/>
      </p:nvGrpSpPr>
      <p:grpSpPr>
        <a:xfrm>
          <a:off x="0" y="0"/>
          <a:ext cx="0" cy="0"/>
          <a:chOff x="0" y="0"/>
          <a:chExt cx="0" cy="0"/>
        </a:xfrm>
      </p:grpSpPr>
      <p:sp>
        <p:nvSpPr>
          <p:cNvPr id="96" name="Google Shape;96;p2">
            <a:extLst>
              <a:ext uri="{FF2B5EF4-FFF2-40B4-BE49-F238E27FC236}">
                <a16:creationId xmlns:a16="http://schemas.microsoft.com/office/drawing/2014/main" id="{47E03D96-A70F-2E90-97B1-71CC203AC19D}"/>
              </a:ext>
            </a:extLst>
          </p:cNvPr>
          <p:cNvSpPr txBox="1">
            <a:spLocks noGrp="1"/>
          </p:cNvSpPr>
          <p:nvPr>
            <p:ph type="title"/>
          </p:nvPr>
        </p:nvSpPr>
        <p:spPr>
          <a:xfrm>
            <a:off x="170268" y="190105"/>
            <a:ext cx="10329566" cy="768438"/>
          </a:xfrm>
          <a:prstGeom prst="rect">
            <a:avLst/>
          </a:prstGeom>
          <a:noFill/>
          <a:ln>
            <a:noFill/>
          </a:ln>
        </p:spPr>
        <p:txBody>
          <a:bodyPr spcFirstLastPara="1" wrap="square" lIns="91425" tIns="45700" rIns="91425" bIns="45700" anchor="ctr" anchorCtr="0">
            <a:noAutofit/>
          </a:bodyPr>
          <a:lstStyle/>
          <a:p>
            <a:pPr lvl="0">
              <a:buSzPts val="4400"/>
            </a:pPr>
            <a:r>
              <a:rPr lang="pt-BR" sz="3200" b="1" dirty="0">
                <a:latin typeface="+mj-lt"/>
              </a:rPr>
              <a:t>Metodologia</a:t>
            </a:r>
            <a:endParaRPr sz="3200" b="1" dirty="0">
              <a:latin typeface="+mj-lt"/>
            </a:endParaRPr>
          </a:p>
        </p:txBody>
      </p:sp>
      <p:pic>
        <p:nvPicPr>
          <p:cNvPr id="98" name="Google Shape;98;p2" descr="Universidade Federal da Fronteira Sul – Wikipédia, a enciclopédia livre">
            <a:extLst>
              <a:ext uri="{FF2B5EF4-FFF2-40B4-BE49-F238E27FC236}">
                <a16:creationId xmlns:a16="http://schemas.microsoft.com/office/drawing/2014/main" id="{04485158-BE75-AA5C-7941-6EBD9F285FCB}"/>
              </a:ext>
            </a:extLst>
          </p:cNvPr>
          <p:cNvPicPr preferRelativeResize="0"/>
          <p:nvPr/>
        </p:nvPicPr>
        <p:blipFill rotWithShape="1">
          <a:blip r:embed="rId3">
            <a:alphaModFix/>
          </a:blip>
          <a:srcRect/>
          <a:stretch/>
        </p:blipFill>
        <p:spPr>
          <a:xfrm>
            <a:off x="10978329" y="18255"/>
            <a:ext cx="975614" cy="1325563"/>
          </a:xfrm>
          <a:prstGeom prst="rect">
            <a:avLst/>
          </a:prstGeom>
          <a:noFill/>
          <a:ln>
            <a:noFill/>
          </a:ln>
        </p:spPr>
      </p:pic>
      <p:sp>
        <p:nvSpPr>
          <p:cNvPr id="99" name="Google Shape;99;p2">
            <a:extLst>
              <a:ext uri="{FF2B5EF4-FFF2-40B4-BE49-F238E27FC236}">
                <a16:creationId xmlns:a16="http://schemas.microsoft.com/office/drawing/2014/main" id="{08B85A74-D8A7-969D-4EB2-5D4A3999C208}"/>
              </a:ext>
            </a:extLst>
          </p:cNvPr>
          <p:cNvSpPr/>
          <p:nvPr/>
        </p:nvSpPr>
        <p:spPr>
          <a:xfrm>
            <a:off x="170268" y="958543"/>
            <a:ext cx="10515600" cy="63062"/>
          </a:xfrm>
          <a:prstGeom prst="rect">
            <a:avLst/>
          </a:prstGeom>
          <a:solidFill>
            <a:srgbClr val="548135"/>
          </a:solidFill>
          <a:ln w="12700" cap="flat" cmpd="sng">
            <a:solidFill>
              <a:srgbClr val="1C3052"/>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00" name="Google Shape;100;p2">
            <a:extLst>
              <a:ext uri="{FF2B5EF4-FFF2-40B4-BE49-F238E27FC236}">
                <a16:creationId xmlns:a16="http://schemas.microsoft.com/office/drawing/2014/main" id="{04170A96-BFF3-6560-EA8E-BF89046AAB8D}"/>
              </a:ext>
            </a:extLst>
          </p:cNvPr>
          <p:cNvSpPr txBox="1">
            <a:spLocks noGrp="1"/>
          </p:cNvSpPr>
          <p:nvPr>
            <p:ph type="sldNum" idx="12"/>
          </p:nvPr>
        </p:nvSpPr>
        <p:spPr>
          <a:xfrm>
            <a:off x="9440152" y="6492875"/>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pt-BR" sz="1800"/>
              <a:t>19</a:t>
            </a:fld>
            <a:endParaRPr sz="1800" dirty="0"/>
          </a:p>
        </p:txBody>
      </p:sp>
      <p:sp>
        <p:nvSpPr>
          <p:cNvPr id="9" name="Google Shape;97;p2">
            <a:extLst>
              <a:ext uri="{FF2B5EF4-FFF2-40B4-BE49-F238E27FC236}">
                <a16:creationId xmlns:a16="http://schemas.microsoft.com/office/drawing/2014/main" id="{F0CBBA87-A94B-8ADE-E0ED-E3A412AB56EC}"/>
              </a:ext>
            </a:extLst>
          </p:cNvPr>
          <p:cNvSpPr txBox="1">
            <a:spLocks noGrp="1"/>
          </p:cNvSpPr>
          <p:nvPr>
            <p:ph type="body" idx="1"/>
          </p:nvPr>
        </p:nvSpPr>
        <p:spPr>
          <a:xfrm>
            <a:off x="170268" y="1092372"/>
            <a:ext cx="11855669" cy="5732658"/>
          </a:xfrm>
          <a:prstGeom prst="rect">
            <a:avLst/>
          </a:prstGeom>
          <a:noFill/>
          <a:ln>
            <a:noFill/>
          </a:ln>
        </p:spPr>
        <p:txBody>
          <a:bodyPr spcFirstLastPara="1" wrap="square" lIns="91425" tIns="45700" rIns="91425" bIns="45700" anchor="t" anchorCtr="0">
            <a:noAutofit/>
          </a:bodyPr>
          <a:lstStyle/>
          <a:p>
            <a:pPr marL="0" indent="-457200">
              <a:buNone/>
            </a:pPr>
            <a:r>
              <a:rPr lang="pt-BR" sz="2400" dirty="0">
                <a:latin typeface="+mn-lt"/>
              </a:rPr>
              <a:t>Treinamento/validação: 2001 à 2022;</a:t>
            </a:r>
          </a:p>
          <a:p>
            <a:pPr marL="0" indent="-457200">
              <a:buNone/>
            </a:pPr>
            <a:r>
              <a:rPr lang="pt-BR" sz="2400" dirty="0">
                <a:latin typeface="+mn-lt"/>
              </a:rPr>
              <a:t>Testes: 2023 à 2025</a:t>
            </a:r>
          </a:p>
          <a:p>
            <a:pPr marL="0" indent="-457200">
              <a:buNone/>
            </a:pPr>
            <a:r>
              <a:rPr lang="pt-BR" sz="2400" dirty="0">
                <a:latin typeface="+mn-lt"/>
              </a:rPr>
              <a:t>Varáveis escolhidas: </a:t>
            </a:r>
            <a:r>
              <a:rPr lang="pt-BR" dirty="0"/>
              <a:t>população (milhões), taxa de desemprego, IPCA, PIB Real, balança corrente (% PIB), investimento direto estrangeiro (% PIB), dívida pública (% PIB), índice de direitos de propriedade, índice de integridade governamental, índice de despesa governamental, índice de carga fiscal, índice de liberdade empresarial, índice de liberdade monetária, índice de liberdade comercial, índice de liberdade de investimento, índice de liberdade financeira.</a:t>
            </a:r>
          </a:p>
          <a:p>
            <a:pPr marL="0" indent="-457200">
              <a:buNone/>
            </a:pPr>
            <a:endParaRPr lang="pt-BR" sz="2400" dirty="0">
              <a:latin typeface="+mn-lt"/>
            </a:endParaRPr>
          </a:p>
        </p:txBody>
      </p:sp>
    </p:spTree>
    <p:extLst>
      <p:ext uri="{BB962C8B-B14F-4D97-AF65-F5344CB8AC3E}">
        <p14:creationId xmlns:p14="http://schemas.microsoft.com/office/powerpoint/2010/main" val="10289519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95">
          <a:extLst>
            <a:ext uri="{FF2B5EF4-FFF2-40B4-BE49-F238E27FC236}">
              <a16:creationId xmlns:a16="http://schemas.microsoft.com/office/drawing/2014/main" id="{00AF17BB-924B-59EB-D65C-B70092FEF0CA}"/>
            </a:ext>
          </a:extLst>
        </p:cNvPr>
        <p:cNvGrpSpPr/>
        <p:nvPr/>
      </p:nvGrpSpPr>
      <p:grpSpPr>
        <a:xfrm>
          <a:off x="0" y="0"/>
          <a:ext cx="0" cy="0"/>
          <a:chOff x="0" y="0"/>
          <a:chExt cx="0" cy="0"/>
        </a:xfrm>
      </p:grpSpPr>
      <p:sp>
        <p:nvSpPr>
          <p:cNvPr id="96" name="Google Shape;96;p2">
            <a:extLst>
              <a:ext uri="{FF2B5EF4-FFF2-40B4-BE49-F238E27FC236}">
                <a16:creationId xmlns:a16="http://schemas.microsoft.com/office/drawing/2014/main" id="{977E9623-39FD-18F2-1F36-03536C94FCE0}"/>
              </a:ext>
            </a:extLst>
          </p:cNvPr>
          <p:cNvSpPr txBox="1">
            <a:spLocks noGrp="1"/>
          </p:cNvSpPr>
          <p:nvPr>
            <p:ph type="title"/>
          </p:nvPr>
        </p:nvSpPr>
        <p:spPr>
          <a:xfrm>
            <a:off x="170268" y="190105"/>
            <a:ext cx="10329566" cy="768438"/>
          </a:xfrm>
          <a:prstGeom prst="rect">
            <a:avLst/>
          </a:prstGeom>
          <a:noFill/>
          <a:ln>
            <a:noFill/>
          </a:ln>
        </p:spPr>
        <p:txBody>
          <a:bodyPr spcFirstLastPara="1" wrap="square" lIns="91425" tIns="45700" rIns="91425" bIns="45700" anchor="ctr" anchorCtr="0">
            <a:noAutofit/>
          </a:bodyPr>
          <a:lstStyle/>
          <a:p>
            <a:pPr lvl="0">
              <a:buSzPts val="4400"/>
            </a:pPr>
            <a:r>
              <a:rPr lang="pt-BR" sz="2800" b="1" dirty="0">
                <a:latin typeface="+mj-lt"/>
              </a:rPr>
              <a:t>Resultados - ARIMA</a:t>
            </a:r>
            <a:endParaRPr sz="2800" b="1" dirty="0">
              <a:latin typeface="+mj-lt"/>
            </a:endParaRPr>
          </a:p>
        </p:txBody>
      </p:sp>
      <p:pic>
        <p:nvPicPr>
          <p:cNvPr id="98" name="Google Shape;98;p2" descr="Universidade Federal da Fronteira Sul – Wikipédia, a enciclopédia livre">
            <a:extLst>
              <a:ext uri="{FF2B5EF4-FFF2-40B4-BE49-F238E27FC236}">
                <a16:creationId xmlns:a16="http://schemas.microsoft.com/office/drawing/2014/main" id="{F088E84D-6D80-CFDB-685D-3A9E95ECF9BE}"/>
              </a:ext>
            </a:extLst>
          </p:cNvPr>
          <p:cNvPicPr preferRelativeResize="0"/>
          <p:nvPr/>
        </p:nvPicPr>
        <p:blipFill rotWithShape="1">
          <a:blip r:embed="rId3">
            <a:alphaModFix/>
          </a:blip>
          <a:srcRect/>
          <a:stretch/>
        </p:blipFill>
        <p:spPr>
          <a:xfrm>
            <a:off x="10978329" y="18255"/>
            <a:ext cx="975614" cy="1325563"/>
          </a:xfrm>
          <a:prstGeom prst="rect">
            <a:avLst/>
          </a:prstGeom>
          <a:noFill/>
          <a:ln>
            <a:noFill/>
          </a:ln>
        </p:spPr>
      </p:pic>
      <p:sp>
        <p:nvSpPr>
          <p:cNvPr id="99" name="Google Shape;99;p2">
            <a:extLst>
              <a:ext uri="{FF2B5EF4-FFF2-40B4-BE49-F238E27FC236}">
                <a16:creationId xmlns:a16="http://schemas.microsoft.com/office/drawing/2014/main" id="{9C8D1FCA-16F2-3B55-349E-3E47FDFBB651}"/>
              </a:ext>
            </a:extLst>
          </p:cNvPr>
          <p:cNvSpPr/>
          <p:nvPr/>
        </p:nvSpPr>
        <p:spPr>
          <a:xfrm>
            <a:off x="170268" y="958543"/>
            <a:ext cx="10515600" cy="63062"/>
          </a:xfrm>
          <a:prstGeom prst="rect">
            <a:avLst/>
          </a:prstGeom>
          <a:solidFill>
            <a:srgbClr val="548135"/>
          </a:solidFill>
          <a:ln w="12700" cap="flat" cmpd="sng">
            <a:solidFill>
              <a:srgbClr val="1C3052"/>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00" name="Google Shape;100;p2">
            <a:extLst>
              <a:ext uri="{FF2B5EF4-FFF2-40B4-BE49-F238E27FC236}">
                <a16:creationId xmlns:a16="http://schemas.microsoft.com/office/drawing/2014/main" id="{1CCA871B-4E03-3A85-D5C3-B741A6663C12}"/>
              </a:ext>
            </a:extLst>
          </p:cNvPr>
          <p:cNvSpPr txBox="1">
            <a:spLocks noGrp="1"/>
          </p:cNvSpPr>
          <p:nvPr>
            <p:ph type="sldNum" idx="12"/>
          </p:nvPr>
        </p:nvSpPr>
        <p:spPr>
          <a:xfrm>
            <a:off x="9440152" y="6492875"/>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pt-BR" sz="1800"/>
              <a:t>20</a:t>
            </a:fld>
            <a:endParaRPr sz="1800" dirty="0"/>
          </a:p>
        </p:txBody>
      </p:sp>
      <p:pic>
        <p:nvPicPr>
          <p:cNvPr id="5" name="Imagem 4">
            <a:extLst>
              <a:ext uri="{FF2B5EF4-FFF2-40B4-BE49-F238E27FC236}">
                <a16:creationId xmlns:a16="http://schemas.microsoft.com/office/drawing/2014/main" id="{4FA9250C-DBA9-8F90-2A01-119259934C7C}"/>
              </a:ext>
            </a:extLst>
          </p:cNvPr>
          <p:cNvPicPr>
            <a:picLocks noChangeAspect="1"/>
          </p:cNvPicPr>
          <p:nvPr/>
        </p:nvPicPr>
        <p:blipFill>
          <a:blip r:embed="rId4"/>
          <a:stretch>
            <a:fillRect/>
          </a:stretch>
        </p:blipFill>
        <p:spPr>
          <a:xfrm>
            <a:off x="1545327" y="2139693"/>
            <a:ext cx="9144018" cy="2679197"/>
          </a:xfrm>
          <a:prstGeom prst="rect">
            <a:avLst/>
          </a:prstGeom>
        </p:spPr>
      </p:pic>
    </p:spTree>
    <p:extLst>
      <p:ext uri="{BB962C8B-B14F-4D97-AF65-F5344CB8AC3E}">
        <p14:creationId xmlns:p14="http://schemas.microsoft.com/office/powerpoint/2010/main" val="176801152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95">
          <a:extLst>
            <a:ext uri="{FF2B5EF4-FFF2-40B4-BE49-F238E27FC236}">
              <a16:creationId xmlns:a16="http://schemas.microsoft.com/office/drawing/2014/main" id="{D07958DF-359A-82CE-4BFC-378F4E54060C}"/>
            </a:ext>
          </a:extLst>
        </p:cNvPr>
        <p:cNvGrpSpPr/>
        <p:nvPr/>
      </p:nvGrpSpPr>
      <p:grpSpPr>
        <a:xfrm>
          <a:off x="0" y="0"/>
          <a:ext cx="0" cy="0"/>
          <a:chOff x="0" y="0"/>
          <a:chExt cx="0" cy="0"/>
        </a:xfrm>
      </p:grpSpPr>
      <p:sp>
        <p:nvSpPr>
          <p:cNvPr id="96" name="Google Shape;96;p2">
            <a:extLst>
              <a:ext uri="{FF2B5EF4-FFF2-40B4-BE49-F238E27FC236}">
                <a16:creationId xmlns:a16="http://schemas.microsoft.com/office/drawing/2014/main" id="{617B8F59-D82E-C486-D7C7-7C913E720CDF}"/>
              </a:ext>
            </a:extLst>
          </p:cNvPr>
          <p:cNvSpPr txBox="1">
            <a:spLocks noGrp="1"/>
          </p:cNvSpPr>
          <p:nvPr>
            <p:ph type="title"/>
          </p:nvPr>
        </p:nvSpPr>
        <p:spPr>
          <a:xfrm>
            <a:off x="170268" y="190105"/>
            <a:ext cx="10329566" cy="768438"/>
          </a:xfrm>
          <a:prstGeom prst="rect">
            <a:avLst/>
          </a:prstGeom>
          <a:noFill/>
          <a:ln>
            <a:noFill/>
          </a:ln>
        </p:spPr>
        <p:txBody>
          <a:bodyPr spcFirstLastPara="1" wrap="square" lIns="91425" tIns="45700" rIns="91425" bIns="45700" anchor="ctr" anchorCtr="0">
            <a:noAutofit/>
          </a:bodyPr>
          <a:lstStyle/>
          <a:p>
            <a:pPr lvl="0">
              <a:buSzPts val="4400"/>
            </a:pPr>
            <a:r>
              <a:rPr lang="pt-BR" sz="2800" b="1" dirty="0">
                <a:latin typeface="+mj-lt"/>
              </a:rPr>
              <a:t>Resultados - ARIMA</a:t>
            </a:r>
            <a:endParaRPr sz="2800" b="1" dirty="0">
              <a:latin typeface="+mj-lt"/>
            </a:endParaRPr>
          </a:p>
        </p:txBody>
      </p:sp>
      <p:pic>
        <p:nvPicPr>
          <p:cNvPr id="98" name="Google Shape;98;p2" descr="Universidade Federal da Fronteira Sul – Wikipédia, a enciclopédia livre">
            <a:extLst>
              <a:ext uri="{FF2B5EF4-FFF2-40B4-BE49-F238E27FC236}">
                <a16:creationId xmlns:a16="http://schemas.microsoft.com/office/drawing/2014/main" id="{CC55317F-BD27-19F4-A413-7016874E1927}"/>
              </a:ext>
            </a:extLst>
          </p:cNvPr>
          <p:cNvPicPr preferRelativeResize="0"/>
          <p:nvPr/>
        </p:nvPicPr>
        <p:blipFill rotWithShape="1">
          <a:blip r:embed="rId3">
            <a:alphaModFix/>
          </a:blip>
          <a:srcRect/>
          <a:stretch/>
        </p:blipFill>
        <p:spPr>
          <a:xfrm>
            <a:off x="10978329" y="18255"/>
            <a:ext cx="975614" cy="1325563"/>
          </a:xfrm>
          <a:prstGeom prst="rect">
            <a:avLst/>
          </a:prstGeom>
          <a:noFill/>
          <a:ln>
            <a:noFill/>
          </a:ln>
        </p:spPr>
      </p:pic>
      <p:sp>
        <p:nvSpPr>
          <p:cNvPr id="99" name="Google Shape;99;p2">
            <a:extLst>
              <a:ext uri="{FF2B5EF4-FFF2-40B4-BE49-F238E27FC236}">
                <a16:creationId xmlns:a16="http://schemas.microsoft.com/office/drawing/2014/main" id="{930ADBB6-941F-0798-8E62-BACDEA616AED}"/>
              </a:ext>
            </a:extLst>
          </p:cNvPr>
          <p:cNvSpPr/>
          <p:nvPr/>
        </p:nvSpPr>
        <p:spPr>
          <a:xfrm>
            <a:off x="170268" y="958543"/>
            <a:ext cx="10515600" cy="63062"/>
          </a:xfrm>
          <a:prstGeom prst="rect">
            <a:avLst/>
          </a:prstGeom>
          <a:solidFill>
            <a:srgbClr val="548135"/>
          </a:solidFill>
          <a:ln w="12700" cap="flat" cmpd="sng">
            <a:solidFill>
              <a:srgbClr val="1C3052"/>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00" name="Google Shape;100;p2">
            <a:extLst>
              <a:ext uri="{FF2B5EF4-FFF2-40B4-BE49-F238E27FC236}">
                <a16:creationId xmlns:a16="http://schemas.microsoft.com/office/drawing/2014/main" id="{81184100-FD4A-1806-B041-1349D918C95F}"/>
              </a:ext>
            </a:extLst>
          </p:cNvPr>
          <p:cNvSpPr txBox="1">
            <a:spLocks noGrp="1"/>
          </p:cNvSpPr>
          <p:nvPr>
            <p:ph type="sldNum" idx="12"/>
          </p:nvPr>
        </p:nvSpPr>
        <p:spPr>
          <a:xfrm>
            <a:off x="9440152" y="6492875"/>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pt-BR" sz="1800"/>
              <a:t>21</a:t>
            </a:fld>
            <a:endParaRPr sz="1800" dirty="0"/>
          </a:p>
        </p:txBody>
      </p:sp>
      <p:pic>
        <p:nvPicPr>
          <p:cNvPr id="3" name="Imagem 2">
            <a:extLst>
              <a:ext uri="{FF2B5EF4-FFF2-40B4-BE49-F238E27FC236}">
                <a16:creationId xmlns:a16="http://schemas.microsoft.com/office/drawing/2014/main" id="{EF04F7CB-9A46-DF90-DC1B-D687B3570C4F}"/>
              </a:ext>
            </a:extLst>
          </p:cNvPr>
          <p:cNvPicPr>
            <a:picLocks noChangeAspect="1"/>
          </p:cNvPicPr>
          <p:nvPr/>
        </p:nvPicPr>
        <p:blipFill>
          <a:blip r:embed="rId4"/>
          <a:stretch>
            <a:fillRect/>
          </a:stretch>
        </p:blipFill>
        <p:spPr>
          <a:xfrm>
            <a:off x="256061" y="1683842"/>
            <a:ext cx="11679878" cy="4179039"/>
          </a:xfrm>
          <a:prstGeom prst="rect">
            <a:avLst/>
          </a:prstGeom>
        </p:spPr>
      </p:pic>
    </p:spTree>
    <p:extLst>
      <p:ext uri="{BB962C8B-B14F-4D97-AF65-F5344CB8AC3E}">
        <p14:creationId xmlns:p14="http://schemas.microsoft.com/office/powerpoint/2010/main" val="152771391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95">
          <a:extLst>
            <a:ext uri="{FF2B5EF4-FFF2-40B4-BE49-F238E27FC236}">
              <a16:creationId xmlns:a16="http://schemas.microsoft.com/office/drawing/2014/main" id="{699D0891-B964-E3A7-06CC-021813BA0D4C}"/>
            </a:ext>
          </a:extLst>
        </p:cNvPr>
        <p:cNvGrpSpPr/>
        <p:nvPr/>
      </p:nvGrpSpPr>
      <p:grpSpPr>
        <a:xfrm>
          <a:off x="0" y="0"/>
          <a:ext cx="0" cy="0"/>
          <a:chOff x="0" y="0"/>
          <a:chExt cx="0" cy="0"/>
        </a:xfrm>
      </p:grpSpPr>
      <p:sp>
        <p:nvSpPr>
          <p:cNvPr id="96" name="Google Shape;96;p2">
            <a:extLst>
              <a:ext uri="{FF2B5EF4-FFF2-40B4-BE49-F238E27FC236}">
                <a16:creationId xmlns:a16="http://schemas.microsoft.com/office/drawing/2014/main" id="{67DB0A72-AE39-9415-91AB-52A5531A606F}"/>
              </a:ext>
            </a:extLst>
          </p:cNvPr>
          <p:cNvSpPr txBox="1">
            <a:spLocks noGrp="1"/>
          </p:cNvSpPr>
          <p:nvPr>
            <p:ph type="title"/>
          </p:nvPr>
        </p:nvSpPr>
        <p:spPr>
          <a:xfrm>
            <a:off x="170268" y="190105"/>
            <a:ext cx="10329566" cy="768438"/>
          </a:xfrm>
          <a:prstGeom prst="rect">
            <a:avLst/>
          </a:prstGeom>
          <a:noFill/>
          <a:ln>
            <a:noFill/>
          </a:ln>
        </p:spPr>
        <p:txBody>
          <a:bodyPr spcFirstLastPara="1" wrap="square" lIns="91425" tIns="45700" rIns="91425" bIns="45700" anchor="ctr" anchorCtr="0">
            <a:noAutofit/>
          </a:bodyPr>
          <a:lstStyle/>
          <a:p>
            <a:pPr lvl="0">
              <a:buSzPts val="4400"/>
            </a:pPr>
            <a:r>
              <a:rPr lang="pt-BR" sz="2800" b="1" dirty="0">
                <a:latin typeface="+mj-lt"/>
              </a:rPr>
              <a:t>Resultados - ARIMA</a:t>
            </a:r>
            <a:endParaRPr sz="2800" b="1" dirty="0">
              <a:latin typeface="+mj-lt"/>
            </a:endParaRPr>
          </a:p>
        </p:txBody>
      </p:sp>
      <p:pic>
        <p:nvPicPr>
          <p:cNvPr id="98" name="Google Shape;98;p2" descr="Universidade Federal da Fronteira Sul – Wikipédia, a enciclopédia livre">
            <a:extLst>
              <a:ext uri="{FF2B5EF4-FFF2-40B4-BE49-F238E27FC236}">
                <a16:creationId xmlns:a16="http://schemas.microsoft.com/office/drawing/2014/main" id="{C4645B23-9BBB-A5BF-9C6E-DA2A55CD953C}"/>
              </a:ext>
            </a:extLst>
          </p:cNvPr>
          <p:cNvPicPr preferRelativeResize="0"/>
          <p:nvPr/>
        </p:nvPicPr>
        <p:blipFill rotWithShape="1">
          <a:blip r:embed="rId3">
            <a:alphaModFix/>
          </a:blip>
          <a:srcRect/>
          <a:stretch/>
        </p:blipFill>
        <p:spPr>
          <a:xfrm>
            <a:off x="10978329" y="18255"/>
            <a:ext cx="975614" cy="1325563"/>
          </a:xfrm>
          <a:prstGeom prst="rect">
            <a:avLst/>
          </a:prstGeom>
          <a:noFill/>
          <a:ln>
            <a:noFill/>
          </a:ln>
        </p:spPr>
      </p:pic>
      <p:sp>
        <p:nvSpPr>
          <p:cNvPr id="99" name="Google Shape;99;p2">
            <a:extLst>
              <a:ext uri="{FF2B5EF4-FFF2-40B4-BE49-F238E27FC236}">
                <a16:creationId xmlns:a16="http://schemas.microsoft.com/office/drawing/2014/main" id="{B1F4F7A5-C39E-622C-036A-36F29773848F}"/>
              </a:ext>
            </a:extLst>
          </p:cNvPr>
          <p:cNvSpPr/>
          <p:nvPr/>
        </p:nvSpPr>
        <p:spPr>
          <a:xfrm>
            <a:off x="170268" y="958543"/>
            <a:ext cx="10515600" cy="63062"/>
          </a:xfrm>
          <a:prstGeom prst="rect">
            <a:avLst/>
          </a:prstGeom>
          <a:solidFill>
            <a:srgbClr val="548135"/>
          </a:solidFill>
          <a:ln w="12700" cap="flat" cmpd="sng">
            <a:solidFill>
              <a:srgbClr val="1C3052"/>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00" name="Google Shape;100;p2">
            <a:extLst>
              <a:ext uri="{FF2B5EF4-FFF2-40B4-BE49-F238E27FC236}">
                <a16:creationId xmlns:a16="http://schemas.microsoft.com/office/drawing/2014/main" id="{BE74ABFC-08E3-F6A6-E465-DF37ACC8B669}"/>
              </a:ext>
            </a:extLst>
          </p:cNvPr>
          <p:cNvSpPr txBox="1">
            <a:spLocks noGrp="1"/>
          </p:cNvSpPr>
          <p:nvPr>
            <p:ph type="sldNum" idx="12"/>
          </p:nvPr>
        </p:nvSpPr>
        <p:spPr>
          <a:xfrm>
            <a:off x="9440152" y="6492875"/>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pt-BR" sz="1800"/>
              <a:t>22</a:t>
            </a:fld>
            <a:endParaRPr sz="1800" dirty="0"/>
          </a:p>
        </p:txBody>
      </p:sp>
      <p:pic>
        <p:nvPicPr>
          <p:cNvPr id="2" name="Imagem 1">
            <a:extLst>
              <a:ext uri="{FF2B5EF4-FFF2-40B4-BE49-F238E27FC236}">
                <a16:creationId xmlns:a16="http://schemas.microsoft.com/office/drawing/2014/main" id="{939B51E8-65EC-5A15-584B-A250ECC7F8D4}"/>
              </a:ext>
            </a:extLst>
          </p:cNvPr>
          <p:cNvPicPr>
            <a:picLocks noChangeAspect="1"/>
          </p:cNvPicPr>
          <p:nvPr/>
        </p:nvPicPr>
        <p:blipFill>
          <a:blip r:embed="rId4"/>
          <a:stretch>
            <a:fillRect/>
          </a:stretch>
        </p:blipFill>
        <p:spPr>
          <a:xfrm>
            <a:off x="1509864" y="1726981"/>
            <a:ext cx="9176004" cy="4124993"/>
          </a:xfrm>
          <a:prstGeom prst="rect">
            <a:avLst/>
          </a:prstGeom>
        </p:spPr>
      </p:pic>
    </p:spTree>
    <p:extLst>
      <p:ext uri="{BB962C8B-B14F-4D97-AF65-F5344CB8AC3E}">
        <p14:creationId xmlns:p14="http://schemas.microsoft.com/office/powerpoint/2010/main" val="2448319807"/>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95">
          <a:extLst>
            <a:ext uri="{FF2B5EF4-FFF2-40B4-BE49-F238E27FC236}">
              <a16:creationId xmlns:a16="http://schemas.microsoft.com/office/drawing/2014/main" id="{2C3FF6AA-9D8C-F408-A606-CFD4C3E61136}"/>
            </a:ext>
          </a:extLst>
        </p:cNvPr>
        <p:cNvGrpSpPr/>
        <p:nvPr/>
      </p:nvGrpSpPr>
      <p:grpSpPr>
        <a:xfrm>
          <a:off x="0" y="0"/>
          <a:ext cx="0" cy="0"/>
          <a:chOff x="0" y="0"/>
          <a:chExt cx="0" cy="0"/>
        </a:xfrm>
      </p:grpSpPr>
      <p:sp>
        <p:nvSpPr>
          <p:cNvPr id="96" name="Google Shape;96;p2">
            <a:extLst>
              <a:ext uri="{FF2B5EF4-FFF2-40B4-BE49-F238E27FC236}">
                <a16:creationId xmlns:a16="http://schemas.microsoft.com/office/drawing/2014/main" id="{D35A2ACC-C236-B0B4-AA00-042BA9127B24}"/>
              </a:ext>
            </a:extLst>
          </p:cNvPr>
          <p:cNvSpPr txBox="1">
            <a:spLocks noGrp="1"/>
          </p:cNvSpPr>
          <p:nvPr>
            <p:ph type="title"/>
          </p:nvPr>
        </p:nvSpPr>
        <p:spPr>
          <a:xfrm>
            <a:off x="170268" y="190105"/>
            <a:ext cx="10329566" cy="768438"/>
          </a:xfrm>
          <a:prstGeom prst="rect">
            <a:avLst/>
          </a:prstGeom>
          <a:noFill/>
          <a:ln>
            <a:noFill/>
          </a:ln>
        </p:spPr>
        <p:txBody>
          <a:bodyPr spcFirstLastPara="1" wrap="square" lIns="91425" tIns="45700" rIns="91425" bIns="45700" anchor="ctr" anchorCtr="0">
            <a:noAutofit/>
          </a:bodyPr>
          <a:lstStyle/>
          <a:p>
            <a:pPr lvl="0">
              <a:buSzPts val="4400"/>
            </a:pPr>
            <a:r>
              <a:rPr lang="pt-BR" sz="2800" b="1" dirty="0">
                <a:latin typeface="+mj-lt"/>
              </a:rPr>
              <a:t>Resultados – VAR</a:t>
            </a:r>
            <a:endParaRPr sz="2800" b="1" dirty="0">
              <a:latin typeface="+mj-lt"/>
            </a:endParaRPr>
          </a:p>
        </p:txBody>
      </p:sp>
      <p:pic>
        <p:nvPicPr>
          <p:cNvPr id="98" name="Google Shape;98;p2" descr="Universidade Federal da Fronteira Sul – Wikipédia, a enciclopédia livre">
            <a:extLst>
              <a:ext uri="{FF2B5EF4-FFF2-40B4-BE49-F238E27FC236}">
                <a16:creationId xmlns:a16="http://schemas.microsoft.com/office/drawing/2014/main" id="{BCE4D2C5-6E97-A473-EC06-9993EC09F676}"/>
              </a:ext>
            </a:extLst>
          </p:cNvPr>
          <p:cNvPicPr preferRelativeResize="0"/>
          <p:nvPr/>
        </p:nvPicPr>
        <p:blipFill rotWithShape="1">
          <a:blip r:embed="rId3">
            <a:alphaModFix/>
          </a:blip>
          <a:srcRect/>
          <a:stretch/>
        </p:blipFill>
        <p:spPr>
          <a:xfrm>
            <a:off x="10978329" y="18255"/>
            <a:ext cx="975614" cy="1325563"/>
          </a:xfrm>
          <a:prstGeom prst="rect">
            <a:avLst/>
          </a:prstGeom>
          <a:noFill/>
          <a:ln>
            <a:noFill/>
          </a:ln>
        </p:spPr>
      </p:pic>
      <p:sp>
        <p:nvSpPr>
          <p:cNvPr id="99" name="Google Shape;99;p2">
            <a:extLst>
              <a:ext uri="{FF2B5EF4-FFF2-40B4-BE49-F238E27FC236}">
                <a16:creationId xmlns:a16="http://schemas.microsoft.com/office/drawing/2014/main" id="{18C567FE-3B1E-6F58-7254-4C291B267664}"/>
              </a:ext>
            </a:extLst>
          </p:cNvPr>
          <p:cNvSpPr/>
          <p:nvPr/>
        </p:nvSpPr>
        <p:spPr>
          <a:xfrm>
            <a:off x="170268" y="958543"/>
            <a:ext cx="10515600" cy="63062"/>
          </a:xfrm>
          <a:prstGeom prst="rect">
            <a:avLst/>
          </a:prstGeom>
          <a:solidFill>
            <a:srgbClr val="548135"/>
          </a:solidFill>
          <a:ln w="12700" cap="flat" cmpd="sng">
            <a:solidFill>
              <a:srgbClr val="1C3052"/>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00" name="Google Shape;100;p2">
            <a:extLst>
              <a:ext uri="{FF2B5EF4-FFF2-40B4-BE49-F238E27FC236}">
                <a16:creationId xmlns:a16="http://schemas.microsoft.com/office/drawing/2014/main" id="{46AFD45E-770D-F1E0-9407-724AE9D91B98}"/>
              </a:ext>
            </a:extLst>
          </p:cNvPr>
          <p:cNvSpPr txBox="1">
            <a:spLocks noGrp="1"/>
          </p:cNvSpPr>
          <p:nvPr>
            <p:ph type="sldNum" idx="12"/>
          </p:nvPr>
        </p:nvSpPr>
        <p:spPr>
          <a:xfrm>
            <a:off x="9440152" y="6492875"/>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pt-BR" sz="1800"/>
              <a:t>23</a:t>
            </a:fld>
            <a:endParaRPr sz="1800" dirty="0"/>
          </a:p>
        </p:txBody>
      </p:sp>
      <p:pic>
        <p:nvPicPr>
          <p:cNvPr id="4" name="Imagem 3">
            <a:extLst>
              <a:ext uri="{FF2B5EF4-FFF2-40B4-BE49-F238E27FC236}">
                <a16:creationId xmlns:a16="http://schemas.microsoft.com/office/drawing/2014/main" id="{2F12151F-A00A-989C-E82D-F8FA5D36121A}"/>
              </a:ext>
            </a:extLst>
          </p:cNvPr>
          <p:cNvPicPr>
            <a:picLocks noChangeAspect="1"/>
          </p:cNvPicPr>
          <p:nvPr/>
        </p:nvPicPr>
        <p:blipFill>
          <a:blip r:embed="rId4"/>
          <a:stretch>
            <a:fillRect/>
          </a:stretch>
        </p:blipFill>
        <p:spPr>
          <a:xfrm>
            <a:off x="1529334" y="1189567"/>
            <a:ext cx="9176003" cy="4350849"/>
          </a:xfrm>
          <a:prstGeom prst="rect">
            <a:avLst/>
          </a:prstGeom>
        </p:spPr>
      </p:pic>
    </p:spTree>
    <p:extLst>
      <p:ext uri="{BB962C8B-B14F-4D97-AF65-F5344CB8AC3E}">
        <p14:creationId xmlns:p14="http://schemas.microsoft.com/office/powerpoint/2010/main" val="709336994"/>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95">
          <a:extLst>
            <a:ext uri="{FF2B5EF4-FFF2-40B4-BE49-F238E27FC236}">
              <a16:creationId xmlns:a16="http://schemas.microsoft.com/office/drawing/2014/main" id="{091F0152-DC78-0E2D-0644-F94CD873E406}"/>
            </a:ext>
          </a:extLst>
        </p:cNvPr>
        <p:cNvGrpSpPr/>
        <p:nvPr/>
      </p:nvGrpSpPr>
      <p:grpSpPr>
        <a:xfrm>
          <a:off x="0" y="0"/>
          <a:ext cx="0" cy="0"/>
          <a:chOff x="0" y="0"/>
          <a:chExt cx="0" cy="0"/>
        </a:xfrm>
      </p:grpSpPr>
      <p:sp>
        <p:nvSpPr>
          <p:cNvPr id="96" name="Google Shape;96;p2">
            <a:extLst>
              <a:ext uri="{FF2B5EF4-FFF2-40B4-BE49-F238E27FC236}">
                <a16:creationId xmlns:a16="http://schemas.microsoft.com/office/drawing/2014/main" id="{AA967082-6264-52D6-832A-710B602FC99B}"/>
              </a:ext>
            </a:extLst>
          </p:cNvPr>
          <p:cNvSpPr txBox="1">
            <a:spLocks noGrp="1"/>
          </p:cNvSpPr>
          <p:nvPr>
            <p:ph type="title"/>
          </p:nvPr>
        </p:nvSpPr>
        <p:spPr>
          <a:xfrm>
            <a:off x="170268" y="190105"/>
            <a:ext cx="10329566" cy="768438"/>
          </a:xfrm>
          <a:prstGeom prst="rect">
            <a:avLst/>
          </a:prstGeom>
          <a:noFill/>
          <a:ln>
            <a:noFill/>
          </a:ln>
        </p:spPr>
        <p:txBody>
          <a:bodyPr spcFirstLastPara="1" wrap="square" lIns="91425" tIns="45700" rIns="91425" bIns="45700" anchor="ctr" anchorCtr="0">
            <a:noAutofit/>
          </a:bodyPr>
          <a:lstStyle/>
          <a:p>
            <a:pPr lvl="0">
              <a:buSzPts val="4400"/>
            </a:pPr>
            <a:r>
              <a:rPr lang="pt-BR" sz="2800" b="1" dirty="0">
                <a:latin typeface="+mj-lt"/>
              </a:rPr>
              <a:t>Resultados - VAR</a:t>
            </a:r>
            <a:endParaRPr sz="2800" b="1" dirty="0">
              <a:latin typeface="+mj-lt"/>
            </a:endParaRPr>
          </a:p>
        </p:txBody>
      </p:sp>
      <p:pic>
        <p:nvPicPr>
          <p:cNvPr id="98" name="Google Shape;98;p2" descr="Universidade Federal da Fronteira Sul – Wikipédia, a enciclopédia livre">
            <a:extLst>
              <a:ext uri="{FF2B5EF4-FFF2-40B4-BE49-F238E27FC236}">
                <a16:creationId xmlns:a16="http://schemas.microsoft.com/office/drawing/2014/main" id="{12129068-062A-53B9-6BB0-5F798B7EB3F6}"/>
              </a:ext>
            </a:extLst>
          </p:cNvPr>
          <p:cNvPicPr preferRelativeResize="0"/>
          <p:nvPr/>
        </p:nvPicPr>
        <p:blipFill rotWithShape="1">
          <a:blip r:embed="rId3">
            <a:alphaModFix/>
          </a:blip>
          <a:srcRect/>
          <a:stretch/>
        </p:blipFill>
        <p:spPr>
          <a:xfrm>
            <a:off x="10978329" y="18255"/>
            <a:ext cx="975614" cy="1325563"/>
          </a:xfrm>
          <a:prstGeom prst="rect">
            <a:avLst/>
          </a:prstGeom>
          <a:noFill/>
          <a:ln>
            <a:noFill/>
          </a:ln>
        </p:spPr>
      </p:pic>
      <p:sp>
        <p:nvSpPr>
          <p:cNvPr id="99" name="Google Shape;99;p2">
            <a:extLst>
              <a:ext uri="{FF2B5EF4-FFF2-40B4-BE49-F238E27FC236}">
                <a16:creationId xmlns:a16="http://schemas.microsoft.com/office/drawing/2014/main" id="{582BAFD7-2237-1544-7675-8BC45CC9ECFE}"/>
              </a:ext>
            </a:extLst>
          </p:cNvPr>
          <p:cNvSpPr/>
          <p:nvPr/>
        </p:nvSpPr>
        <p:spPr>
          <a:xfrm>
            <a:off x="170268" y="958543"/>
            <a:ext cx="10515600" cy="63062"/>
          </a:xfrm>
          <a:prstGeom prst="rect">
            <a:avLst/>
          </a:prstGeom>
          <a:solidFill>
            <a:srgbClr val="548135"/>
          </a:solidFill>
          <a:ln w="12700" cap="flat" cmpd="sng">
            <a:solidFill>
              <a:srgbClr val="1C3052"/>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00" name="Google Shape;100;p2">
            <a:extLst>
              <a:ext uri="{FF2B5EF4-FFF2-40B4-BE49-F238E27FC236}">
                <a16:creationId xmlns:a16="http://schemas.microsoft.com/office/drawing/2014/main" id="{C978D2DD-DAF5-3680-938D-93ACE4BDFB90}"/>
              </a:ext>
            </a:extLst>
          </p:cNvPr>
          <p:cNvSpPr txBox="1">
            <a:spLocks noGrp="1"/>
          </p:cNvSpPr>
          <p:nvPr>
            <p:ph type="sldNum" idx="12"/>
          </p:nvPr>
        </p:nvSpPr>
        <p:spPr>
          <a:xfrm>
            <a:off x="9440152" y="6492875"/>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pt-BR" sz="1800"/>
              <a:t>24</a:t>
            </a:fld>
            <a:endParaRPr sz="1800" dirty="0"/>
          </a:p>
        </p:txBody>
      </p:sp>
      <p:pic>
        <p:nvPicPr>
          <p:cNvPr id="10" name="Imagem 9">
            <a:extLst>
              <a:ext uri="{FF2B5EF4-FFF2-40B4-BE49-F238E27FC236}">
                <a16:creationId xmlns:a16="http://schemas.microsoft.com/office/drawing/2014/main" id="{2A9CB2EA-43D5-1770-ED3F-4AD5532A70A3}"/>
              </a:ext>
            </a:extLst>
          </p:cNvPr>
          <p:cNvPicPr>
            <a:picLocks noChangeAspect="1"/>
          </p:cNvPicPr>
          <p:nvPr/>
        </p:nvPicPr>
        <p:blipFill>
          <a:blip r:embed="rId4"/>
          <a:stretch>
            <a:fillRect/>
          </a:stretch>
        </p:blipFill>
        <p:spPr>
          <a:xfrm>
            <a:off x="8166144" y="2475501"/>
            <a:ext cx="3469044" cy="1128651"/>
          </a:xfrm>
          <a:prstGeom prst="rect">
            <a:avLst/>
          </a:prstGeom>
        </p:spPr>
      </p:pic>
      <p:pic>
        <p:nvPicPr>
          <p:cNvPr id="11" name="Imagem 10">
            <a:extLst>
              <a:ext uri="{FF2B5EF4-FFF2-40B4-BE49-F238E27FC236}">
                <a16:creationId xmlns:a16="http://schemas.microsoft.com/office/drawing/2014/main" id="{44D1CFC2-9A4D-CDDB-E952-3C94B94B5349}"/>
              </a:ext>
            </a:extLst>
          </p:cNvPr>
          <p:cNvPicPr>
            <a:picLocks noChangeAspect="1"/>
          </p:cNvPicPr>
          <p:nvPr/>
        </p:nvPicPr>
        <p:blipFill>
          <a:blip r:embed="rId5"/>
          <a:stretch>
            <a:fillRect/>
          </a:stretch>
        </p:blipFill>
        <p:spPr>
          <a:xfrm>
            <a:off x="209340" y="1484604"/>
            <a:ext cx="7779258" cy="4031699"/>
          </a:xfrm>
          <a:prstGeom prst="rect">
            <a:avLst/>
          </a:prstGeom>
        </p:spPr>
      </p:pic>
    </p:spTree>
    <p:extLst>
      <p:ext uri="{BB962C8B-B14F-4D97-AF65-F5344CB8AC3E}">
        <p14:creationId xmlns:p14="http://schemas.microsoft.com/office/powerpoint/2010/main" val="4135992888"/>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95">
          <a:extLst>
            <a:ext uri="{FF2B5EF4-FFF2-40B4-BE49-F238E27FC236}">
              <a16:creationId xmlns:a16="http://schemas.microsoft.com/office/drawing/2014/main" id="{EBD26524-C69E-68CC-EC81-3A331300FE65}"/>
            </a:ext>
          </a:extLst>
        </p:cNvPr>
        <p:cNvGrpSpPr/>
        <p:nvPr/>
      </p:nvGrpSpPr>
      <p:grpSpPr>
        <a:xfrm>
          <a:off x="0" y="0"/>
          <a:ext cx="0" cy="0"/>
          <a:chOff x="0" y="0"/>
          <a:chExt cx="0" cy="0"/>
        </a:xfrm>
      </p:grpSpPr>
      <p:sp>
        <p:nvSpPr>
          <p:cNvPr id="96" name="Google Shape;96;p2">
            <a:extLst>
              <a:ext uri="{FF2B5EF4-FFF2-40B4-BE49-F238E27FC236}">
                <a16:creationId xmlns:a16="http://schemas.microsoft.com/office/drawing/2014/main" id="{6DE9D1EF-4035-8609-1126-32DC08FCAE35}"/>
              </a:ext>
            </a:extLst>
          </p:cNvPr>
          <p:cNvSpPr txBox="1">
            <a:spLocks noGrp="1"/>
          </p:cNvSpPr>
          <p:nvPr>
            <p:ph type="title"/>
          </p:nvPr>
        </p:nvSpPr>
        <p:spPr>
          <a:xfrm>
            <a:off x="170268" y="190105"/>
            <a:ext cx="10329566" cy="768438"/>
          </a:xfrm>
          <a:prstGeom prst="rect">
            <a:avLst/>
          </a:prstGeom>
          <a:noFill/>
          <a:ln>
            <a:noFill/>
          </a:ln>
        </p:spPr>
        <p:txBody>
          <a:bodyPr spcFirstLastPara="1" wrap="square" lIns="91425" tIns="45700" rIns="91425" bIns="45700" anchor="ctr" anchorCtr="0">
            <a:noAutofit/>
          </a:bodyPr>
          <a:lstStyle/>
          <a:p>
            <a:pPr lvl="0">
              <a:buSzPts val="4400"/>
            </a:pPr>
            <a:r>
              <a:rPr lang="pt-BR" sz="2800" b="1" dirty="0">
                <a:latin typeface="+mj-lt"/>
              </a:rPr>
              <a:t>Resultados - VAR</a:t>
            </a:r>
            <a:endParaRPr sz="2800" b="1" dirty="0">
              <a:latin typeface="+mj-lt"/>
            </a:endParaRPr>
          </a:p>
        </p:txBody>
      </p:sp>
      <p:pic>
        <p:nvPicPr>
          <p:cNvPr id="98" name="Google Shape;98;p2" descr="Universidade Federal da Fronteira Sul – Wikipédia, a enciclopédia livre">
            <a:extLst>
              <a:ext uri="{FF2B5EF4-FFF2-40B4-BE49-F238E27FC236}">
                <a16:creationId xmlns:a16="http://schemas.microsoft.com/office/drawing/2014/main" id="{913708B3-9413-1AA1-6E8D-FD56CF1F7970}"/>
              </a:ext>
            </a:extLst>
          </p:cNvPr>
          <p:cNvPicPr preferRelativeResize="0"/>
          <p:nvPr/>
        </p:nvPicPr>
        <p:blipFill rotWithShape="1">
          <a:blip r:embed="rId3">
            <a:alphaModFix/>
          </a:blip>
          <a:srcRect/>
          <a:stretch/>
        </p:blipFill>
        <p:spPr>
          <a:xfrm>
            <a:off x="10978329" y="18255"/>
            <a:ext cx="975614" cy="1325563"/>
          </a:xfrm>
          <a:prstGeom prst="rect">
            <a:avLst/>
          </a:prstGeom>
          <a:noFill/>
          <a:ln>
            <a:noFill/>
          </a:ln>
        </p:spPr>
      </p:pic>
      <p:sp>
        <p:nvSpPr>
          <p:cNvPr id="99" name="Google Shape;99;p2">
            <a:extLst>
              <a:ext uri="{FF2B5EF4-FFF2-40B4-BE49-F238E27FC236}">
                <a16:creationId xmlns:a16="http://schemas.microsoft.com/office/drawing/2014/main" id="{C994E5FD-1F3D-0CB7-27CE-7C7F45C7A22D}"/>
              </a:ext>
            </a:extLst>
          </p:cNvPr>
          <p:cNvSpPr/>
          <p:nvPr/>
        </p:nvSpPr>
        <p:spPr>
          <a:xfrm>
            <a:off x="170268" y="958543"/>
            <a:ext cx="10515600" cy="63062"/>
          </a:xfrm>
          <a:prstGeom prst="rect">
            <a:avLst/>
          </a:prstGeom>
          <a:solidFill>
            <a:srgbClr val="548135"/>
          </a:solidFill>
          <a:ln w="12700" cap="flat" cmpd="sng">
            <a:solidFill>
              <a:srgbClr val="1C3052"/>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00" name="Google Shape;100;p2">
            <a:extLst>
              <a:ext uri="{FF2B5EF4-FFF2-40B4-BE49-F238E27FC236}">
                <a16:creationId xmlns:a16="http://schemas.microsoft.com/office/drawing/2014/main" id="{0BD9A7A0-36F1-98F4-D01F-87482D435060}"/>
              </a:ext>
            </a:extLst>
          </p:cNvPr>
          <p:cNvSpPr txBox="1">
            <a:spLocks noGrp="1"/>
          </p:cNvSpPr>
          <p:nvPr>
            <p:ph type="sldNum" idx="12"/>
          </p:nvPr>
        </p:nvSpPr>
        <p:spPr>
          <a:xfrm>
            <a:off x="9440152" y="6492875"/>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pt-BR" sz="1800"/>
              <a:t>25</a:t>
            </a:fld>
            <a:endParaRPr sz="1800" dirty="0"/>
          </a:p>
        </p:txBody>
      </p:sp>
      <p:pic>
        <p:nvPicPr>
          <p:cNvPr id="3" name="Imagem 2">
            <a:extLst>
              <a:ext uri="{FF2B5EF4-FFF2-40B4-BE49-F238E27FC236}">
                <a16:creationId xmlns:a16="http://schemas.microsoft.com/office/drawing/2014/main" id="{6D573BE4-C5D9-6C1C-3D31-DD7FF5E99437}"/>
              </a:ext>
            </a:extLst>
          </p:cNvPr>
          <p:cNvPicPr>
            <a:picLocks noChangeAspect="1"/>
          </p:cNvPicPr>
          <p:nvPr/>
        </p:nvPicPr>
        <p:blipFill>
          <a:blip r:embed="rId4"/>
          <a:stretch>
            <a:fillRect/>
          </a:stretch>
        </p:blipFill>
        <p:spPr>
          <a:xfrm>
            <a:off x="1529334" y="1416795"/>
            <a:ext cx="9176004" cy="4124993"/>
          </a:xfrm>
          <a:prstGeom prst="rect">
            <a:avLst/>
          </a:prstGeom>
        </p:spPr>
      </p:pic>
    </p:spTree>
    <p:extLst>
      <p:ext uri="{BB962C8B-B14F-4D97-AF65-F5344CB8AC3E}">
        <p14:creationId xmlns:p14="http://schemas.microsoft.com/office/powerpoint/2010/main" val="2636335398"/>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95">
          <a:extLst>
            <a:ext uri="{FF2B5EF4-FFF2-40B4-BE49-F238E27FC236}">
              <a16:creationId xmlns:a16="http://schemas.microsoft.com/office/drawing/2014/main" id="{D4EAF957-D717-2CEA-6171-DFAC07641645}"/>
            </a:ext>
          </a:extLst>
        </p:cNvPr>
        <p:cNvGrpSpPr/>
        <p:nvPr/>
      </p:nvGrpSpPr>
      <p:grpSpPr>
        <a:xfrm>
          <a:off x="0" y="0"/>
          <a:ext cx="0" cy="0"/>
          <a:chOff x="0" y="0"/>
          <a:chExt cx="0" cy="0"/>
        </a:xfrm>
      </p:grpSpPr>
      <p:sp>
        <p:nvSpPr>
          <p:cNvPr id="96" name="Google Shape;96;p2">
            <a:extLst>
              <a:ext uri="{FF2B5EF4-FFF2-40B4-BE49-F238E27FC236}">
                <a16:creationId xmlns:a16="http://schemas.microsoft.com/office/drawing/2014/main" id="{60842171-A200-7C08-E5CA-A5F54557A277}"/>
              </a:ext>
            </a:extLst>
          </p:cNvPr>
          <p:cNvSpPr txBox="1">
            <a:spLocks noGrp="1"/>
          </p:cNvSpPr>
          <p:nvPr>
            <p:ph type="title"/>
          </p:nvPr>
        </p:nvSpPr>
        <p:spPr>
          <a:xfrm>
            <a:off x="170268" y="190105"/>
            <a:ext cx="10329566" cy="768438"/>
          </a:xfrm>
          <a:prstGeom prst="rect">
            <a:avLst/>
          </a:prstGeom>
          <a:noFill/>
          <a:ln>
            <a:noFill/>
          </a:ln>
        </p:spPr>
        <p:txBody>
          <a:bodyPr spcFirstLastPara="1" wrap="square" lIns="91425" tIns="45700" rIns="91425" bIns="45700" anchor="ctr" anchorCtr="0">
            <a:noAutofit/>
          </a:bodyPr>
          <a:lstStyle/>
          <a:p>
            <a:pPr lvl="0">
              <a:buSzPts val="4400"/>
            </a:pPr>
            <a:r>
              <a:rPr lang="pt-BR" sz="2800" b="1" dirty="0">
                <a:latin typeface="+mj-lt"/>
              </a:rPr>
              <a:t>Resultados - VAR</a:t>
            </a:r>
            <a:endParaRPr sz="2800" b="1" dirty="0">
              <a:latin typeface="+mj-lt"/>
            </a:endParaRPr>
          </a:p>
        </p:txBody>
      </p:sp>
      <p:pic>
        <p:nvPicPr>
          <p:cNvPr id="98" name="Google Shape;98;p2" descr="Universidade Federal da Fronteira Sul – Wikipédia, a enciclopédia livre">
            <a:extLst>
              <a:ext uri="{FF2B5EF4-FFF2-40B4-BE49-F238E27FC236}">
                <a16:creationId xmlns:a16="http://schemas.microsoft.com/office/drawing/2014/main" id="{E95D5F4D-BBCD-7FEA-B530-01CC138D4988}"/>
              </a:ext>
            </a:extLst>
          </p:cNvPr>
          <p:cNvPicPr preferRelativeResize="0"/>
          <p:nvPr/>
        </p:nvPicPr>
        <p:blipFill rotWithShape="1">
          <a:blip r:embed="rId3">
            <a:alphaModFix/>
          </a:blip>
          <a:srcRect/>
          <a:stretch/>
        </p:blipFill>
        <p:spPr>
          <a:xfrm>
            <a:off x="10978329" y="18255"/>
            <a:ext cx="975614" cy="1325563"/>
          </a:xfrm>
          <a:prstGeom prst="rect">
            <a:avLst/>
          </a:prstGeom>
          <a:noFill/>
          <a:ln>
            <a:noFill/>
          </a:ln>
        </p:spPr>
      </p:pic>
      <p:sp>
        <p:nvSpPr>
          <p:cNvPr id="99" name="Google Shape;99;p2">
            <a:extLst>
              <a:ext uri="{FF2B5EF4-FFF2-40B4-BE49-F238E27FC236}">
                <a16:creationId xmlns:a16="http://schemas.microsoft.com/office/drawing/2014/main" id="{6F5CBB88-5EF3-001D-A3E4-0ACA36A40EA8}"/>
              </a:ext>
            </a:extLst>
          </p:cNvPr>
          <p:cNvSpPr/>
          <p:nvPr/>
        </p:nvSpPr>
        <p:spPr>
          <a:xfrm>
            <a:off x="170268" y="958543"/>
            <a:ext cx="10515600" cy="63062"/>
          </a:xfrm>
          <a:prstGeom prst="rect">
            <a:avLst/>
          </a:prstGeom>
          <a:solidFill>
            <a:srgbClr val="548135"/>
          </a:solidFill>
          <a:ln w="12700" cap="flat" cmpd="sng">
            <a:solidFill>
              <a:srgbClr val="1C3052"/>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00" name="Google Shape;100;p2">
            <a:extLst>
              <a:ext uri="{FF2B5EF4-FFF2-40B4-BE49-F238E27FC236}">
                <a16:creationId xmlns:a16="http://schemas.microsoft.com/office/drawing/2014/main" id="{C1C4AA31-8589-6D23-2EEF-E79E7B55D2B9}"/>
              </a:ext>
            </a:extLst>
          </p:cNvPr>
          <p:cNvSpPr txBox="1">
            <a:spLocks noGrp="1"/>
          </p:cNvSpPr>
          <p:nvPr>
            <p:ph type="sldNum" idx="12"/>
          </p:nvPr>
        </p:nvSpPr>
        <p:spPr>
          <a:xfrm>
            <a:off x="9440152" y="6492875"/>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pt-BR" sz="1800"/>
              <a:t>26</a:t>
            </a:fld>
            <a:endParaRPr sz="1800" dirty="0"/>
          </a:p>
        </p:txBody>
      </p:sp>
      <p:pic>
        <p:nvPicPr>
          <p:cNvPr id="2" name="Imagem 1">
            <a:extLst>
              <a:ext uri="{FF2B5EF4-FFF2-40B4-BE49-F238E27FC236}">
                <a16:creationId xmlns:a16="http://schemas.microsoft.com/office/drawing/2014/main" id="{8728CF47-C379-5FF3-2E04-EDA16F4D08A6}"/>
              </a:ext>
            </a:extLst>
          </p:cNvPr>
          <p:cNvPicPr>
            <a:picLocks noChangeAspect="1"/>
          </p:cNvPicPr>
          <p:nvPr/>
        </p:nvPicPr>
        <p:blipFill>
          <a:blip r:embed="rId4"/>
          <a:stretch>
            <a:fillRect/>
          </a:stretch>
        </p:blipFill>
        <p:spPr>
          <a:xfrm>
            <a:off x="3747659" y="1593977"/>
            <a:ext cx="4696682" cy="4625520"/>
          </a:xfrm>
          <a:prstGeom prst="rect">
            <a:avLst/>
          </a:prstGeom>
        </p:spPr>
      </p:pic>
    </p:spTree>
    <p:extLst>
      <p:ext uri="{BB962C8B-B14F-4D97-AF65-F5344CB8AC3E}">
        <p14:creationId xmlns:p14="http://schemas.microsoft.com/office/powerpoint/2010/main" val="2986716996"/>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95">
          <a:extLst>
            <a:ext uri="{FF2B5EF4-FFF2-40B4-BE49-F238E27FC236}">
              <a16:creationId xmlns:a16="http://schemas.microsoft.com/office/drawing/2014/main" id="{9DCB7A41-68CC-B77C-5269-0155C6123E1C}"/>
            </a:ext>
          </a:extLst>
        </p:cNvPr>
        <p:cNvGrpSpPr/>
        <p:nvPr/>
      </p:nvGrpSpPr>
      <p:grpSpPr>
        <a:xfrm>
          <a:off x="0" y="0"/>
          <a:ext cx="0" cy="0"/>
          <a:chOff x="0" y="0"/>
          <a:chExt cx="0" cy="0"/>
        </a:xfrm>
      </p:grpSpPr>
      <p:sp>
        <p:nvSpPr>
          <p:cNvPr id="96" name="Google Shape;96;p2">
            <a:extLst>
              <a:ext uri="{FF2B5EF4-FFF2-40B4-BE49-F238E27FC236}">
                <a16:creationId xmlns:a16="http://schemas.microsoft.com/office/drawing/2014/main" id="{4F8300EE-EC08-3B3B-B787-084D1D75E2D8}"/>
              </a:ext>
            </a:extLst>
          </p:cNvPr>
          <p:cNvSpPr txBox="1">
            <a:spLocks noGrp="1"/>
          </p:cNvSpPr>
          <p:nvPr>
            <p:ph type="title"/>
          </p:nvPr>
        </p:nvSpPr>
        <p:spPr>
          <a:xfrm>
            <a:off x="170268" y="190105"/>
            <a:ext cx="10329566" cy="768438"/>
          </a:xfrm>
          <a:prstGeom prst="rect">
            <a:avLst/>
          </a:prstGeom>
          <a:noFill/>
          <a:ln>
            <a:noFill/>
          </a:ln>
        </p:spPr>
        <p:txBody>
          <a:bodyPr spcFirstLastPara="1" wrap="square" lIns="91425" tIns="45700" rIns="91425" bIns="45700" anchor="ctr" anchorCtr="0">
            <a:noAutofit/>
          </a:bodyPr>
          <a:lstStyle/>
          <a:p>
            <a:pPr lvl="0">
              <a:buSzPts val="4400"/>
            </a:pPr>
            <a:r>
              <a:rPr lang="pt-BR" sz="2800" b="1" dirty="0">
                <a:latin typeface="+mj-lt"/>
              </a:rPr>
              <a:t>Resultados - MIDAS</a:t>
            </a:r>
            <a:endParaRPr sz="2800" b="1" dirty="0">
              <a:latin typeface="+mj-lt"/>
            </a:endParaRPr>
          </a:p>
        </p:txBody>
      </p:sp>
      <p:pic>
        <p:nvPicPr>
          <p:cNvPr id="98" name="Google Shape;98;p2" descr="Universidade Federal da Fronteira Sul – Wikipédia, a enciclopédia livre">
            <a:extLst>
              <a:ext uri="{FF2B5EF4-FFF2-40B4-BE49-F238E27FC236}">
                <a16:creationId xmlns:a16="http://schemas.microsoft.com/office/drawing/2014/main" id="{75089E4C-35BA-30F6-B4F8-E2A5C0CB2562}"/>
              </a:ext>
            </a:extLst>
          </p:cNvPr>
          <p:cNvPicPr preferRelativeResize="0"/>
          <p:nvPr/>
        </p:nvPicPr>
        <p:blipFill rotWithShape="1">
          <a:blip r:embed="rId3">
            <a:alphaModFix/>
          </a:blip>
          <a:srcRect/>
          <a:stretch/>
        </p:blipFill>
        <p:spPr>
          <a:xfrm>
            <a:off x="10978329" y="18255"/>
            <a:ext cx="975614" cy="1325563"/>
          </a:xfrm>
          <a:prstGeom prst="rect">
            <a:avLst/>
          </a:prstGeom>
          <a:noFill/>
          <a:ln>
            <a:noFill/>
          </a:ln>
        </p:spPr>
      </p:pic>
      <p:sp>
        <p:nvSpPr>
          <p:cNvPr id="99" name="Google Shape;99;p2">
            <a:extLst>
              <a:ext uri="{FF2B5EF4-FFF2-40B4-BE49-F238E27FC236}">
                <a16:creationId xmlns:a16="http://schemas.microsoft.com/office/drawing/2014/main" id="{54F40983-7133-B7EC-5BA3-7971189F9C10}"/>
              </a:ext>
            </a:extLst>
          </p:cNvPr>
          <p:cNvSpPr/>
          <p:nvPr/>
        </p:nvSpPr>
        <p:spPr>
          <a:xfrm>
            <a:off x="170268" y="958543"/>
            <a:ext cx="10515600" cy="63062"/>
          </a:xfrm>
          <a:prstGeom prst="rect">
            <a:avLst/>
          </a:prstGeom>
          <a:solidFill>
            <a:srgbClr val="548135"/>
          </a:solidFill>
          <a:ln w="12700" cap="flat" cmpd="sng">
            <a:solidFill>
              <a:srgbClr val="1C3052"/>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00" name="Google Shape;100;p2">
            <a:extLst>
              <a:ext uri="{FF2B5EF4-FFF2-40B4-BE49-F238E27FC236}">
                <a16:creationId xmlns:a16="http://schemas.microsoft.com/office/drawing/2014/main" id="{AC83D2AD-1BAA-B44C-098F-44FE821D6CDF}"/>
              </a:ext>
            </a:extLst>
          </p:cNvPr>
          <p:cNvSpPr txBox="1">
            <a:spLocks noGrp="1"/>
          </p:cNvSpPr>
          <p:nvPr>
            <p:ph type="sldNum" idx="12"/>
          </p:nvPr>
        </p:nvSpPr>
        <p:spPr>
          <a:xfrm>
            <a:off x="9440152" y="6492875"/>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pt-BR" sz="1800"/>
              <a:t>27</a:t>
            </a:fld>
            <a:endParaRPr sz="1800" dirty="0"/>
          </a:p>
        </p:txBody>
      </p:sp>
      <p:pic>
        <p:nvPicPr>
          <p:cNvPr id="2" name="Imagem 1">
            <a:extLst>
              <a:ext uri="{FF2B5EF4-FFF2-40B4-BE49-F238E27FC236}">
                <a16:creationId xmlns:a16="http://schemas.microsoft.com/office/drawing/2014/main" id="{706F0A82-4744-5288-6ECC-B71A535D79F6}"/>
              </a:ext>
            </a:extLst>
          </p:cNvPr>
          <p:cNvPicPr>
            <a:picLocks noChangeAspect="1"/>
          </p:cNvPicPr>
          <p:nvPr/>
        </p:nvPicPr>
        <p:blipFill>
          <a:blip r:embed="rId4"/>
          <a:stretch>
            <a:fillRect/>
          </a:stretch>
        </p:blipFill>
        <p:spPr>
          <a:xfrm>
            <a:off x="1529334" y="995878"/>
            <a:ext cx="9176004" cy="4966828"/>
          </a:xfrm>
          <a:prstGeom prst="rect">
            <a:avLst/>
          </a:prstGeom>
        </p:spPr>
      </p:pic>
    </p:spTree>
    <p:extLst>
      <p:ext uri="{BB962C8B-B14F-4D97-AF65-F5344CB8AC3E}">
        <p14:creationId xmlns:p14="http://schemas.microsoft.com/office/powerpoint/2010/main" val="921093572"/>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Shape 95">
          <a:extLst>
            <a:ext uri="{FF2B5EF4-FFF2-40B4-BE49-F238E27FC236}">
              <a16:creationId xmlns:a16="http://schemas.microsoft.com/office/drawing/2014/main" id="{248C5730-0A50-DEEA-116F-6C8512E1D646}"/>
            </a:ext>
          </a:extLst>
        </p:cNvPr>
        <p:cNvGrpSpPr/>
        <p:nvPr/>
      </p:nvGrpSpPr>
      <p:grpSpPr>
        <a:xfrm>
          <a:off x="0" y="0"/>
          <a:ext cx="0" cy="0"/>
          <a:chOff x="0" y="0"/>
          <a:chExt cx="0" cy="0"/>
        </a:xfrm>
      </p:grpSpPr>
      <p:sp>
        <p:nvSpPr>
          <p:cNvPr id="96" name="Google Shape;96;p2">
            <a:extLst>
              <a:ext uri="{FF2B5EF4-FFF2-40B4-BE49-F238E27FC236}">
                <a16:creationId xmlns:a16="http://schemas.microsoft.com/office/drawing/2014/main" id="{F2A3EB16-C4F5-BA8A-145D-7EF45948DFA9}"/>
              </a:ext>
            </a:extLst>
          </p:cNvPr>
          <p:cNvSpPr txBox="1">
            <a:spLocks noGrp="1"/>
          </p:cNvSpPr>
          <p:nvPr>
            <p:ph type="title"/>
          </p:nvPr>
        </p:nvSpPr>
        <p:spPr>
          <a:xfrm>
            <a:off x="170268" y="190105"/>
            <a:ext cx="10329566" cy="768438"/>
          </a:xfrm>
          <a:prstGeom prst="rect">
            <a:avLst/>
          </a:prstGeom>
          <a:noFill/>
          <a:ln>
            <a:noFill/>
          </a:ln>
        </p:spPr>
        <p:txBody>
          <a:bodyPr spcFirstLastPara="1" wrap="square" lIns="91425" tIns="45700" rIns="91425" bIns="45700" anchor="ctr" anchorCtr="0">
            <a:noAutofit/>
          </a:bodyPr>
          <a:lstStyle/>
          <a:p>
            <a:pPr lvl="0">
              <a:buSzPts val="4400"/>
            </a:pPr>
            <a:r>
              <a:rPr lang="pt-BR" sz="2800" b="1" dirty="0">
                <a:latin typeface="+mj-lt"/>
              </a:rPr>
              <a:t>Resultados - MIDAS</a:t>
            </a:r>
            <a:endParaRPr sz="2800" b="1" dirty="0">
              <a:latin typeface="+mj-lt"/>
            </a:endParaRPr>
          </a:p>
        </p:txBody>
      </p:sp>
      <p:pic>
        <p:nvPicPr>
          <p:cNvPr id="98" name="Google Shape;98;p2" descr="Universidade Federal da Fronteira Sul – Wikipédia, a enciclopédia livre">
            <a:extLst>
              <a:ext uri="{FF2B5EF4-FFF2-40B4-BE49-F238E27FC236}">
                <a16:creationId xmlns:a16="http://schemas.microsoft.com/office/drawing/2014/main" id="{368A904A-F53A-B358-CC45-2927A64BB2EF}"/>
              </a:ext>
            </a:extLst>
          </p:cNvPr>
          <p:cNvPicPr preferRelativeResize="0"/>
          <p:nvPr/>
        </p:nvPicPr>
        <p:blipFill rotWithShape="1">
          <a:blip r:embed="rId3">
            <a:alphaModFix/>
          </a:blip>
          <a:srcRect/>
          <a:stretch/>
        </p:blipFill>
        <p:spPr>
          <a:xfrm>
            <a:off x="10978329" y="18255"/>
            <a:ext cx="975614" cy="1325563"/>
          </a:xfrm>
          <a:prstGeom prst="rect">
            <a:avLst/>
          </a:prstGeom>
          <a:noFill/>
          <a:ln>
            <a:noFill/>
          </a:ln>
        </p:spPr>
      </p:pic>
      <p:sp>
        <p:nvSpPr>
          <p:cNvPr id="99" name="Google Shape;99;p2">
            <a:extLst>
              <a:ext uri="{FF2B5EF4-FFF2-40B4-BE49-F238E27FC236}">
                <a16:creationId xmlns:a16="http://schemas.microsoft.com/office/drawing/2014/main" id="{6522C950-7F48-032E-9E0F-557E756695F5}"/>
              </a:ext>
            </a:extLst>
          </p:cNvPr>
          <p:cNvSpPr/>
          <p:nvPr/>
        </p:nvSpPr>
        <p:spPr>
          <a:xfrm>
            <a:off x="170268" y="958543"/>
            <a:ext cx="10515600" cy="63062"/>
          </a:xfrm>
          <a:prstGeom prst="rect">
            <a:avLst/>
          </a:prstGeom>
          <a:solidFill>
            <a:srgbClr val="548135"/>
          </a:solidFill>
          <a:ln w="12700" cap="flat" cmpd="sng">
            <a:solidFill>
              <a:srgbClr val="1C3052"/>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00" name="Google Shape;100;p2">
            <a:extLst>
              <a:ext uri="{FF2B5EF4-FFF2-40B4-BE49-F238E27FC236}">
                <a16:creationId xmlns:a16="http://schemas.microsoft.com/office/drawing/2014/main" id="{A19FD6C9-179D-8C83-2076-09FA33BAC7A2}"/>
              </a:ext>
            </a:extLst>
          </p:cNvPr>
          <p:cNvSpPr txBox="1">
            <a:spLocks noGrp="1"/>
          </p:cNvSpPr>
          <p:nvPr>
            <p:ph type="sldNum" idx="12"/>
          </p:nvPr>
        </p:nvSpPr>
        <p:spPr>
          <a:xfrm>
            <a:off x="9440152" y="6492875"/>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pt-BR" sz="1800"/>
              <a:t>28</a:t>
            </a:fld>
            <a:endParaRPr sz="1800" dirty="0"/>
          </a:p>
        </p:txBody>
      </p:sp>
      <p:pic>
        <p:nvPicPr>
          <p:cNvPr id="2" name="Imagem 1">
            <a:extLst>
              <a:ext uri="{FF2B5EF4-FFF2-40B4-BE49-F238E27FC236}">
                <a16:creationId xmlns:a16="http://schemas.microsoft.com/office/drawing/2014/main" id="{AD465421-1161-4CE7-B36D-59E0B88B8D2B}"/>
              </a:ext>
            </a:extLst>
          </p:cNvPr>
          <p:cNvPicPr>
            <a:picLocks noChangeAspect="1"/>
          </p:cNvPicPr>
          <p:nvPr/>
        </p:nvPicPr>
        <p:blipFill>
          <a:blip r:embed="rId4"/>
          <a:stretch>
            <a:fillRect/>
          </a:stretch>
        </p:blipFill>
        <p:spPr>
          <a:xfrm>
            <a:off x="1591047" y="1010407"/>
            <a:ext cx="9052578" cy="4937770"/>
          </a:xfrm>
          <a:prstGeom prst="rect">
            <a:avLst/>
          </a:prstGeom>
        </p:spPr>
      </p:pic>
    </p:spTree>
    <p:extLst>
      <p:ext uri="{BB962C8B-B14F-4D97-AF65-F5344CB8AC3E}">
        <p14:creationId xmlns:p14="http://schemas.microsoft.com/office/powerpoint/2010/main" val="2554128422"/>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Shape 95">
          <a:extLst>
            <a:ext uri="{FF2B5EF4-FFF2-40B4-BE49-F238E27FC236}">
              <a16:creationId xmlns:a16="http://schemas.microsoft.com/office/drawing/2014/main" id="{3185FD18-C36A-1663-E03E-BC5CB6AD33CE}"/>
            </a:ext>
          </a:extLst>
        </p:cNvPr>
        <p:cNvGrpSpPr/>
        <p:nvPr/>
      </p:nvGrpSpPr>
      <p:grpSpPr>
        <a:xfrm>
          <a:off x="0" y="0"/>
          <a:ext cx="0" cy="0"/>
          <a:chOff x="0" y="0"/>
          <a:chExt cx="0" cy="0"/>
        </a:xfrm>
      </p:grpSpPr>
      <p:sp>
        <p:nvSpPr>
          <p:cNvPr id="96" name="Google Shape;96;p2">
            <a:extLst>
              <a:ext uri="{FF2B5EF4-FFF2-40B4-BE49-F238E27FC236}">
                <a16:creationId xmlns:a16="http://schemas.microsoft.com/office/drawing/2014/main" id="{5F213843-D7DA-7EC0-ABE2-7C5F4C08F565}"/>
              </a:ext>
            </a:extLst>
          </p:cNvPr>
          <p:cNvSpPr txBox="1">
            <a:spLocks noGrp="1"/>
          </p:cNvSpPr>
          <p:nvPr>
            <p:ph type="title"/>
          </p:nvPr>
        </p:nvSpPr>
        <p:spPr>
          <a:xfrm>
            <a:off x="170268" y="190105"/>
            <a:ext cx="10329566" cy="768438"/>
          </a:xfrm>
          <a:prstGeom prst="rect">
            <a:avLst/>
          </a:prstGeom>
          <a:noFill/>
          <a:ln>
            <a:noFill/>
          </a:ln>
        </p:spPr>
        <p:txBody>
          <a:bodyPr spcFirstLastPara="1" wrap="square" lIns="91425" tIns="45700" rIns="91425" bIns="45700" anchor="ctr" anchorCtr="0">
            <a:noAutofit/>
          </a:bodyPr>
          <a:lstStyle/>
          <a:p>
            <a:pPr lvl="0">
              <a:buSzPts val="4400"/>
            </a:pPr>
            <a:r>
              <a:rPr lang="pt-BR" sz="2800" b="1" dirty="0">
                <a:latin typeface="+mj-lt"/>
              </a:rPr>
              <a:t>Resultados - MIDAS</a:t>
            </a:r>
            <a:endParaRPr sz="2800" b="1" dirty="0">
              <a:latin typeface="+mj-lt"/>
            </a:endParaRPr>
          </a:p>
        </p:txBody>
      </p:sp>
      <p:pic>
        <p:nvPicPr>
          <p:cNvPr id="98" name="Google Shape;98;p2" descr="Universidade Federal da Fronteira Sul – Wikipédia, a enciclopédia livre">
            <a:extLst>
              <a:ext uri="{FF2B5EF4-FFF2-40B4-BE49-F238E27FC236}">
                <a16:creationId xmlns:a16="http://schemas.microsoft.com/office/drawing/2014/main" id="{F20E402E-DC47-120A-B1FD-A4D2F3F90663}"/>
              </a:ext>
            </a:extLst>
          </p:cNvPr>
          <p:cNvPicPr preferRelativeResize="0"/>
          <p:nvPr/>
        </p:nvPicPr>
        <p:blipFill rotWithShape="1">
          <a:blip r:embed="rId3">
            <a:alphaModFix/>
          </a:blip>
          <a:srcRect/>
          <a:stretch/>
        </p:blipFill>
        <p:spPr>
          <a:xfrm>
            <a:off x="10978329" y="18255"/>
            <a:ext cx="975614" cy="1325563"/>
          </a:xfrm>
          <a:prstGeom prst="rect">
            <a:avLst/>
          </a:prstGeom>
          <a:noFill/>
          <a:ln>
            <a:noFill/>
          </a:ln>
        </p:spPr>
      </p:pic>
      <p:sp>
        <p:nvSpPr>
          <p:cNvPr id="99" name="Google Shape;99;p2">
            <a:extLst>
              <a:ext uri="{FF2B5EF4-FFF2-40B4-BE49-F238E27FC236}">
                <a16:creationId xmlns:a16="http://schemas.microsoft.com/office/drawing/2014/main" id="{C904E736-7A35-E57A-8270-C30CB6F336CB}"/>
              </a:ext>
            </a:extLst>
          </p:cNvPr>
          <p:cNvSpPr/>
          <p:nvPr/>
        </p:nvSpPr>
        <p:spPr>
          <a:xfrm>
            <a:off x="170268" y="958543"/>
            <a:ext cx="10515600" cy="63062"/>
          </a:xfrm>
          <a:prstGeom prst="rect">
            <a:avLst/>
          </a:prstGeom>
          <a:solidFill>
            <a:srgbClr val="548135"/>
          </a:solidFill>
          <a:ln w="12700" cap="flat" cmpd="sng">
            <a:solidFill>
              <a:srgbClr val="1C3052"/>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00" name="Google Shape;100;p2">
            <a:extLst>
              <a:ext uri="{FF2B5EF4-FFF2-40B4-BE49-F238E27FC236}">
                <a16:creationId xmlns:a16="http://schemas.microsoft.com/office/drawing/2014/main" id="{91ADC910-F5B3-7C49-E403-B39C777EF5BC}"/>
              </a:ext>
            </a:extLst>
          </p:cNvPr>
          <p:cNvSpPr txBox="1">
            <a:spLocks noGrp="1"/>
          </p:cNvSpPr>
          <p:nvPr>
            <p:ph type="sldNum" idx="12"/>
          </p:nvPr>
        </p:nvSpPr>
        <p:spPr>
          <a:xfrm>
            <a:off x="9440152" y="6492875"/>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pt-BR" sz="1800"/>
              <a:t>29</a:t>
            </a:fld>
            <a:endParaRPr sz="1800" dirty="0"/>
          </a:p>
        </p:txBody>
      </p:sp>
      <p:pic>
        <p:nvPicPr>
          <p:cNvPr id="2" name="Imagem 1">
            <a:extLst>
              <a:ext uri="{FF2B5EF4-FFF2-40B4-BE49-F238E27FC236}">
                <a16:creationId xmlns:a16="http://schemas.microsoft.com/office/drawing/2014/main" id="{BE7BC2BF-C8B7-24C6-3CB4-1AB28E490421}"/>
              </a:ext>
            </a:extLst>
          </p:cNvPr>
          <p:cNvPicPr>
            <a:picLocks noChangeAspect="1"/>
          </p:cNvPicPr>
          <p:nvPr/>
        </p:nvPicPr>
        <p:blipFill>
          <a:blip r:embed="rId4"/>
          <a:stretch>
            <a:fillRect/>
          </a:stretch>
        </p:blipFill>
        <p:spPr>
          <a:xfrm>
            <a:off x="1529334" y="995878"/>
            <a:ext cx="9176004" cy="4966828"/>
          </a:xfrm>
          <a:prstGeom prst="rect">
            <a:avLst/>
          </a:prstGeom>
        </p:spPr>
      </p:pic>
    </p:spTree>
    <p:extLst>
      <p:ext uri="{BB962C8B-B14F-4D97-AF65-F5344CB8AC3E}">
        <p14:creationId xmlns:p14="http://schemas.microsoft.com/office/powerpoint/2010/main" val="1026828921"/>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Shape 95">
          <a:extLst>
            <a:ext uri="{FF2B5EF4-FFF2-40B4-BE49-F238E27FC236}">
              <a16:creationId xmlns:a16="http://schemas.microsoft.com/office/drawing/2014/main" id="{8BA08A76-F931-74B6-1709-06C0AB12ABAB}"/>
            </a:ext>
          </a:extLst>
        </p:cNvPr>
        <p:cNvGrpSpPr/>
        <p:nvPr/>
      </p:nvGrpSpPr>
      <p:grpSpPr>
        <a:xfrm>
          <a:off x="0" y="0"/>
          <a:ext cx="0" cy="0"/>
          <a:chOff x="0" y="0"/>
          <a:chExt cx="0" cy="0"/>
        </a:xfrm>
      </p:grpSpPr>
      <p:sp>
        <p:nvSpPr>
          <p:cNvPr id="96" name="Google Shape;96;p2">
            <a:extLst>
              <a:ext uri="{FF2B5EF4-FFF2-40B4-BE49-F238E27FC236}">
                <a16:creationId xmlns:a16="http://schemas.microsoft.com/office/drawing/2014/main" id="{AEEC7BA4-10D5-F559-5D69-FF2631545029}"/>
              </a:ext>
            </a:extLst>
          </p:cNvPr>
          <p:cNvSpPr txBox="1">
            <a:spLocks noGrp="1"/>
          </p:cNvSpPr>
          <p:nvPr>
            <p:ph type="title"/>
          </p:nvPr>
        </p:nvSpPr>
        <p:spPr>
          <a:xfrm>
            <a:off x="170268" y="190105"/>
            <a:ext cx="10329566" cy="768438"/>
          </a:xfrm>
          <a:prstGeom prst="rect">
            <a:avLst/>
          </a:prstGeom>
          <a:noFill/>
          <a:ln>
            <a:noFill/>
          </a:ln>
        </p:spPr>
        <p:txBody>
          <a:bodyPr spcFirstLastPara="1" wrap="square" lIns="91425" tIns="45700" rIns="91425" bIns="45700" anchor="ctr" anchorCtr="0">
            <a:noAutofit/>
          </a:bodyPr>
          <a:lstStyle/>
          <a:p>
            <a:pPr lvl="0">
              <a:buSzPts val="4400"/>
            </a:pPr>
            <a:r>
              <a:rPr lang="pt-BR" sz="2800" b="1" dirty="0">
                <a:latin typeface="+mj-lt"/>
              </a:rPr>
              <a:t>Resultados - DFM</a:t>
            </a:r>
            <a:endParaRPr sz="2800" b="1" dirty="0">
              <a:latin typeface="+mj-lt"/>
            </a:endParaRPr>
          </a:p>
        </p:txBody>
      </p:sp>
      <p:pic>
        <p:nvPicPr>
          <p:cNvPr id="98" name="Google Shape;98;p2" descr="Universidade Federal da Fronteira Sul – Wikipédia, a enciclopédia livre">
            <a:extLst>
              <a:ext uri="{FF2B5EF4-FFF2-40B4-BE49-F238E27FC236}">
                <a16:creationId xmlns:a16="http://schemas.microsoft.com/office/drawing/2014/main" id="{172F203F-2E2F-8E04-320A-434DA6C4530F}"/>
              </a:ext>
            </a:extLst>
          </p:cNvPr>
          <p:cNvPicPr preferRelativeResize="0"/>
          <p:nvPr/>
        </p:nvPicPr>
        <p:blipFill rotWithShape="1">
          <a:blip r:embed="rId3">
            <a:alphaModFix/>
          </a:blip>
          <a:srcRect/>
          <a:stretch/>
        </p:blipFill>
        <p:spPr>
          <a:xfrm>
            <a:off x="10978329" y="18255"/>
            <a:ext cx="975614" cy="1325563"/>
          </a:xfrm>
          <a:prstGeom prst="rect">
            <a:avLst/>
          </a:prstGeom>
          <a:noFill/>
          <a:ln>
            <a:noFill/>
          </a:ln>
        </p:spPr>
      </p:pic>
      <p:sp>
        <p:nvSpPr>
          <p:cNvPr id="99" name="Google Shape;99;p2">
            <a:extLst>
              <a:ext uri="{FF2B5EF4-FFF2-40B4-BE49-F238E27FC236}">
                <a16:creationId xmlns:a16="http://schemas.microsoft.com/office/drawing/2014/main" id="{C69002EE-EE2F-236B-10AD-E1702127A65D}"/>
              </a:ext>
            </a:extLst>
          </p:cNvPr>
          <p:cNvSpPr/>
          <p:nvPr/>
        </p:nvSpPr>
        <p:spPr>
          <a:xfrm>
            <a:off x="170268" y="958543"/>
            <a:ext cx="10515600" cy="63062"/>
          </a:xfrm>
          <a:prstGeom prst="rect">
            <a:avLst/>
          </a:prstGeom>
          <a:solidFill>
            <a:srgbClr val="548135"/>
          </a:solidFill>
          <a:ln w="12700" cap="flat" cmpd="sng">
            <a:solidFill>
              <a:srgbClr val="1C3052"/>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00" name="Google Shape;100;p2">
            <a:extLst>
              <a:ext uri="{FF2B5EF4-FFF2-40B4-BE49-F238E27FC236}">
                <a16:creationId xmlns:a16="http://schemas.microsoft.com/office/drawing/2014/main" id="{A1CD76F5-F4DC-DF5F-D2F8-C52E04F23C7D}"/>
              </a:ext>
            </a:extLst>
          </p:cNvPr>
          <p:cNvSpPr txBox="1">
            <a:spLocks noGrp="1"/>
          </p:cNvSpPr>
          <p:nvPr>
            <p:ph type="sldNum" idx="12"/>
          </p:nvPr>
        </p:nvSpPr>
        <p:spPr>
          <a:xfrm>
            <a:off x="9440152" y="6492875"/>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pt-BR" sz="1800"/>
              <a:t>30</a:t>
            </a:fld>
            <a:endParaRPr sz="1800" dirty="0"/>
          </a:p>
        </p:txBody>
      </p:sp>
      <p:pic>
        <p:nvPicPr>
          <p:cNvPr id="2" name="Imagem 1">
            <a:extLst>
              <a:ext uri="{FF2B5EF4-FFF2-40B4-BE49-F238E27FC236}">
                <a16:creationId xmlns:a16="http://schemas.microsoft.com/office/drawing/2014/main" id="{D10F2F9A-1FE6-7DEC-13EE-B8D2A7C27DCB}"/>
              </a:ext>
            </a:extLst>
          </p:cNvPr>
          <p:cNvPicPr>
            <a:picLocks noChangeAspect="1"/>
          </p:cNvPicPr>
          <p:nvPr/>
        </p:nvPicPr>
        <p:blipFill>
          <a:blip r:embed="rId4"/>
          <a:stretch>
            <a:fillRect/>
          </a:stretch>
        </p:blipFill>
        <p:spPr>
          <a:xfrm>
            <a:off x="1529334" y="1837713"/>
            <a:ext cx="9176003" cy="3283157"/>
          </a:xfrm>
          <a:prstGeom prst="rect">
            <a:avLst/>
          </a:prstGeom>
        </p:spPr>
      </p:pic>
    </p:spTree>
    <p:extLst>
      <p:ext uri="{BB962C8B-B14F-4D97-AF65-F5344CB8AC3E}">
        <p14:creationId xmlns:p14="http://schemas.microsoft.com/office/powerpoint/2010/main" val="3640740209"/>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Shape 95">
          <a:extLst>
            <a:ext uri="{FF2B5EF4-FFF2-40B4-BE49-F238E27FC236}">
              <a16:creationId xmlns:a16="http://schemas.microsoft.com/office/drawing/2014/main" id="{EDD204C7-B3ED-8590-5913-CC2551DAD200}"/>
            </a:ext>
          </a:extLst>
        </p:cNvPr>
        <p:cNvGrpSpPr/>
        <p:nvPr/>
      </p:nvGrpSpPr>
      <p:grpSpPr>
        <a:xfrm>
          <a:off x="0" y="0"/>
          <a:ext cx="0" cy="0"/>
          <a:chOff x="0" y="0"/>
          <a:chExt cx="0" cy="0"/>
        </a:xfrm>
      </p:grpSpPr>
      <p:sp>
        <p:nvSpPr>
          <p:cNvPr id="96" name="Google Shape;96;p2">
            <a:extLst>
              <a:ext uri="{FF2B5EF4-FFF2-40B4-BE49-F238E27FC236}">
                <a16:creationId xmlns:a16="http://schemas.microsoft.com/office/drawing/2014/main" id="{F9FEE9A2-43EC-E90E-7BE1-2B1F46AAF100}"/>
              </a:ext>
            </a:extLst>
          </p:cNvPr>
          <p:cNvSpPr txBox="1">
            <a:spLocks noGrp="1"/>
          </p:cNvSpPr>
          <p:nvPr>
            <p:ph type="title"/>
          </p:nvPr>
        </p:nvSpPr>
        <p:spPr>
          <a:xfrm>
            <a:off x="170268" y="190105"/>
            <a:ext cx="10329566" cy="768438"/>
          </a:xfrm>
          <a:prstGeom prst="rect">
            <a:avLst/>
          </a:prstGeom>
          <a:noFill/>
          <a:ln>
            <a:noFill/>
          </a:ln>
        </p:spPr>
        <p:txBody>
          <a:bodyPr spcFirstLastPara="1" wrap="square" lIns="91425" tIns="45700" rIns="91425" bIns="45700" anchor="ctr" anchorCtr="0">
            <a:noAutofit/>
          </a:bodyPr>
          <a:lstStyle/>
          <a:p>
            <a:pPr lvl="0">
              <a:buSzPts val="4400"/>
            </a:pPr>
            <a:r>
              <a:rPr lang="pt-BR" sz="2800" b="1" dirty="0">
                <a:latin typeface="+mj-lt"/>
              </a:rPr>
              <a:t>Resultados - DFM</a:t>
            </a:r>
            <a:endParaRPr sz="2800" b="1" dirty="0">
              <a:latin typeface="+mj-lt"/>
            </a:endParaRPr>
          </a:p>
        </p:txBody>
      </p:sp>
      <p:pic>
        <p:nvPicPr>
          <p:cNvPr id="98" name="Google Shape;98;p2" descr="Universidade Federal da Fronteira Sul – Wikipédia, a enciclopédia livre">
            <a:extLst>
              <a:ext uri="{FF2B5EF4-FFF2-40B4-BE49-F238E27FC236}">
                <a16:creationId xmlns:a16="http://schemas.microsoft.com/office/drawing/2014/main" id="{903294EE-5199-3EDD-3C40-A84B184CD1A8}"/>
              </a:ext>
            </a:extLst>
          </p:cNvPr>
          <p:cNvPicPr preferRelativeResize="0"/>
          <p:nvPr/>
        </p:nvPicPr>
        <p:blipFill rotWithShape="1">
          <a:blip r:embed="rId3">
            <a:alphaModFix/>
          </a:blip>
          <a:srcRect/>
          <a:stretch/>
        </p:blipFill>
        <p:spPr>
          <a:xfrm>
            <a:off x="10978329" y="18255"/>
            <a:ext cx="975614" cy="1325563"/>
          </a:xfrm>
          <a:prstGeom prst="rect">
            <a:avLst/>
          </a:prstGeom>
          <a:noFill/>
          <a:ln>
            <a:noFill/>
          </a:ln>
        </p:spPr>
      </p:pic>
      <p:sp>
        <p:nvSpPr>
          <p:cNvPr id="99" name="Google Shape;99;p2">
            <a:extLst>
              <a:ext uri="{FF2B5EF4-FFF2-40B4-BE49-F238E27FC236}">
                <a16:creationId xmlns:a16="http://schemas.microsoft.com/office/drawing/2014/main" id="{67A5F0E7-A230-79FC-CADA-0F57F3602266}"/>
              </a:ext>
            </a:extLst>
          </p:cNvPr>
          <p:cNvSpPr/>
          <p:nvPr/>
        </p:nvSpPr>
        <p:spPr>
          <a:xfrm>
            <a:off x="170268" y="958543"/>
            <a:ext cx="10515600" cy="63062"/>
          </a:xfrm>
          <a:prstGeom prst="rect">
            <a:avLst/>
          </a:prstGeom>
          <a:solidFill>
            <a:srgbClr val="548135"/>
          </a:solidFill>
          <a:ln w="12700" cap="flat" cmpd="sng">
            <a:solidFill>
              <a:srgbClr val="1C3052"/>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00" name="Google Shape;100;p2">
            <a:extLst>
              <a:ext uri="{FF2B5EF4-FFF2-40B4-BE49-F238E27FC236}">
                <a16:creationId xmlns:a16="http://schemas.microsoft.com/office/drawing/2014/main" id="{010C3AA8-2CE5-20C4-8D9B-F840A84FFF5A}"/>
              </a:ext>
            </a:extLst>
          </p:cNvPr>
          <p:cNvSpPr txBox="1">
            <a:spLocks noGrp="1"/>
          </p:cNvSpPr>
          <p:nvPr>
            <p:ph type="sldNum" idx="12"/>
          </p:nvPr>
        </p:nvSpPr>
        <p:spPr>
          <a:xfrm>
            <a:off x="9440152" y="6492875"/>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pt-BR" sz="1800"/>
              <a:t>31</a:t>
            </a:fld>
            <a:endParaRPr sz="1800" dirty="0"/>
          </a:p>
        </p:txBody>
      </p:sp>
      <p:pic>
        <p:nvPicPr>
          <p:cNvPr id="2" name="Imagem 1">
            <a:extLst>
              <a:ext uri="{FF2B5EF4-FFF2-40B4-BE49-F238E27FC236}">
                <a16:creationId xmlns:a16="http://schemas.microsoft.com/office/drawing/2014/main" id="{A2EADC22-3AD4-8200-5CCC-0635C374DF9B}"/>
              </a:ext>
            </a:extLst>
          </p:cNvPr>
          <p:cNvPicPr>
            <a:picLocks noChangeAspect="1"/>
          </p:cNvPicPr>
          <p:nvPr/>
        </p:nvPicPr>
        <p:blipFill>
          <a:blip r:embed="rId4"/>
          <a:stretch>
            <a:fillRect/>
          </a:stretch>
        </p:blipFill>
        <p:spPr>
          <a:xfrm>
            <a:off x="1529334" y="1837713"/>
            <a:ext cx="9176003" cy="3283157"/>
          </a:xfrm>
          <a:prstGeom prst="rect">
            <a:avLst/>
          </a:prstGeom>
        </p:spPr>
      </p:pic>
    </p:spTree>
    <p:extLst>
      <p:ext uri="{BB962C8B-B14F-4D97-AF65-F5344CB8AC3E}">
        <p14:creationId xmlns:p14="http://schemas.microsoft.com/office/powerpoint/2010/main" val="2271927574"/>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Shape 95">
          <a:extLst>
            <a:ext uri="{FF2B5EF4-FFF2-40B4-BE49-F238E27FC236}">
              <a16:creationId xmlns:a16="http://schemas.microsoft.com/office/drawing/2014/main" id="{E9E8FA1A-F604-BC3A-FC32-4ECFBB69F275}"/>
            </a:ext>
          </a:extLst>
        </p:cNvPr>
        <p:cNvGrpSpPr/>
        <p:nvPr/>
      </p:nvGrpSpPr>
      <p:grpSpPr>
        <a:xfrm>
          <a:off x="0" y="0"/>
          <a:ext cx="0" cy="0"/>
          <a:chOff x="0" y="0"/>
          <a:chExt cx="0" cy="0"/>
        </a:xfrm>
      </p:grpSpPr>
      <p:sp>
        <p:nvSpPr>
          <p:cNvPr id="96" name="Google Shape;96;p2">
            <a:extLst>
              <a:ext uri="{FF2B5EF4-FFF2-40B4-BE49-F238E27FC236}">
                <a16:creationId xmlns:a16="http://schemas.microsoft.com/office/drawing/2014/main" id="{5A1915D5-B9F8-47D7-17F5-33758C5D60EB}"/>
              </a:ext>
            </a:extLst>
          </p:cNvPr>
          <p:cNvSpPr txBox="1">
            <a:spLocks noGrp="1"/>
          </p:cNvSpPr>
          <p:nvPr>
            <p:ph type="title"/>
          </p:nvPr>
        </p:nvSpPr>
        <p:spPr>
          <a:xfrm>
            <a:off x="170268" y="190105"/>
            <a:ext cx="10329566" cy="768438"/>
          </a:xfrm>
          <a:prstGeom prst="rect">
            <a:avLst/>
          </a:prstGeom>
          <a:noFill/>
          <a:ln>
            <a:noFill/>
          </a:ln>
        </p:spPr>
        <p:txBody>
          <a:bodyPr spcFirstLastPara="1" wrap="square" lIns="91425" tIns="45700" rIns="91425" bIns="45700" anchor="ctr" anchorCtr="0">
            <a:noAutofit/>
          </a:bodyPr>
          <a:lstStyle/>
          <a:p>
            <a:pPr lvl="0">
              <a:buSzPts val="4400"/>
            </a:pPr>
            <a:r>
              <a:rPr lang="pt-BR" sz="2800" b="1" dirty="0">
                <a:latin typeface="+mj-lt"/>
              </a:rPr>
              <a:t>Resultados - DFM</a:t>
            </a:r>
            <a:endParaRPr sz="2800" b="1" dirty="0">
              <a:latin typeface="+mj-lt"/>
            </a:endParaRPr>
          </a:p>
        </p:txBody>
      </p:sp>
      <p:pic>
        <p:nvPicPr>
          <p:cNvPr id="98" name="Google Shape;98;p2" descr="Universidade Federal da Fronteira Sul – Wikipédia, a enciclopédia livre">
            <a:extLst>
              <a:ext uri="{FF2B5EF4-FFF2-40B4-BE49-F238E27FC236}">
                <a16:creationId xmlns:a16="http://schemas.microsoft.com/office/drawing/2014/main" id="{620D1C0F-FF3C-C0FA-DD88-4B3726E30035}"/>
              </a:ext>
            </a:extLst>
          </p:cNvPr>
          <p:cNvPicPr preferRelativeResize="0"/>
          <p:nvPr/>
        </p:nvPicPr>
        <p:blipFill rotWithShape="1">
          <a:blip r:embed="rId3">
            <a:alphaModFix/>
          </a:blip>
          <a:srcRect/>
          <a:stretch/>
        </p:blipFill>
        <p:spPr>
          <a:xfrm>
            <a:off x="10978329" y="18255"/>
            <a:ext cx="975614" cy="1325563"/>
          </a:xfrm>
          <a:prstGeom prst="rect">
            <a:avLst/>
          </a:prstGeom>
          <a:noFill/>
          <a:ln>
            <a:noFill/>
          </a:ln>
        </p:spPr>
      </p:pic>
      <p:sp>
        <p:nvSpPr>
          <p:cNvPr id="99" name="Google Shape;99;p2">
            <a:extLst>
              <a:ext uri="{FF2B5EF4-FFF2-40B4-BE49-F238E27FC236}">
                <a16:creationId xmlns:a16="http://schemas.microsoft.com/office/drawing/2014/main" id="{7BA4C0E4-883E-0808-20DB-CA224DF33EF1}"/>
              </a:ext>
            </a:extLst>
          </p:cNvPr>
          <p:cNvSpPr/>
          <p:nvPr/>
        </p:nvSpPr>
        <p:spPr>
          <a:xfrm>
            <a:off x="170268" y="958543"/>
            <a:ext cx="10515600" cy="63062"/>
          </a:xfrm>
          <a:prstGeom prst="rect">
            <a:avLst/>
          </a:prstGeom>
          <a:solidFill>
            <a:srgbClr val="548135"/>
          </a:solidFill>
          <a:ln w="12700" cap="flat" cmpd="sng">
            <a:solidFill>
              <a:srgbClr val="1C3052"/>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00" name="Google Shape;100;p2">
            <a:extLst>
              <a:ext uri="{FF2B5EF4-FFF2-40B4-BE49-F238E27FC236}">
                <a16:creationId xmlns:a16="http://schemas.microsoft.com/office/drawing/2014/main" id="{703F7FC0-F6DE-75B7-FB33-E0A3110C4CD8}"/>
              </a:ext>
            </a:extLst>
          </p:cNvPr>
          <p:cNvSpPr txBox="1">
            <a:spLocks noGrp="1"/>
          </p:cNvSpPr>
          <p:nvPr>
            <p:ph type="sldNum" idx="12"/>
          </p:nvPr>
        </p:nvSpPr>
        <p:spPr>
          <a:xfrm>
            <a:off x="9440152" y="6492875"/>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pt-BR" sz="1800"/>
              <a:t>32</a:t>
            </a:fld>
            <a:endParaRPr sz="1800" dirty="0"/>
          </a:p>
        </p:txBody>
      </p:sp>
      <p:pic>
        <p:nvPicPr>
          <p:cNvPr id="2" name="Imagem 1">
            <a:extLst>
              <a:ext uri="{FF2B5EF4-FFF2-40B4-BE49-F238E27FC236}">
                <a16:creationId xmlns:a16="http://schemas.microsoft.com/office/drawing/2014/main" id="{B95EFC23-851E-79FB-C256-24C534C34498}"/>
              </a:ext>
            </a:extLst>
          </p:cNvPr>
          <p:cNvPicPr>
            <a:picLocks noChangeAspect="1"/>
          </p:cNvPicPr>
          <p:nvPr/>
        </p:nvPicPr>
        <p:blipFill>
          <a:blip r:embed="rId4"/>
          <a:stretch>
            <a:fillRect/>
          </a:stretch>
        </p:blipFill>
        <p:spPr>
          <a:xfrm>
            <a:off x="1529334" y="1831667"/>
            <a:ext cx="9176004" cy="3295250"/>
          </a:xfrm>
          <a:prstGeom prst="rect">
            <a:avLst/>
          </a:prstGeom>
        </p:spPr>
      </p:pic>
    </p:spTree>
    <p:extLst>
      <p:ext uri="{BB962C8B-B14F-4D97-AF65-F5344CB8AC3E}">
        <p14:creationId xmlns:p14="http://schemas.microsoft.com/office/powerpoint/2010/main" val="1817409477"/>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Shape 95">
          <a:extLst>
            <a:ext uri="{FF2B5EF4-FFF2-40B4-BE49-F238E27FC236}">
              <a16:creationId xmlns:a16="http://schemas.microsoft.com/office/drawing/2014/main" id="{6AF66168-F6B9-FD97-E287-CBF0FF249DC6}"/>
            </a:ext>
          </a:extLst>
        </p:cNvPr>
        <p:cNvGrpSpPr/>
        <p:nvPr/>
      </p:nvGrpSpPr>
      <p:grpSpPr>
        <a:xfrm>
          <a:off x="0" y="0"/>
          <a:ext cx="0" cy="0"/>
          <a:chOff x="0" y="0"/>
          <a:chExt cx="0" cy="0"/>
        </a:xfrm>
      </p:grpSpPr>
      <p:sp>
        <p:nvSpPr>
          <p:cNvPr id="96" name="Google Shape;96;p2">
            <a:extLst>
              <a:ext uri="{FF2B5EF4-FFF2-40B4-BE49-F238E27FC236}">
                <a16:creationId xmlns:a16="http://schemas.microsoft.com/office/drawing/2014/main" id="{4EB7DE11-C6FF-0E2D-F7DB-AFBCE11D22DF}"/>
              </a:ext>
            </a:extLst>
          </p:cNvPr>
          <p:cNvSpPr txBox="1">
            <a:spLocks noGrp="1"/>
          </p:cNvSpPr>
          <p:nvPr>
            <p:ph type="title"/>
          </p:nvPr>
        </p:nvSpPr>
        <p:spPr>
          <a:xfrm>
            <a:off x="170268" y="190105"/>
            <a:ext cx="10329566" cy="768438"/>
          </a:xfrm>
          <a:prstGeom prst="rect">
            <a:avLst/>
          </a:prstGeom>
          <a:noFill/>
          <a:ln>
            <a:noFill/>
          </a:ln>
        </p:spPr>
        <p:txBody>
          <a:bodyPr spcFirstLastPara="1" wrap="square" lIns="91425" tIns="45700" rIns="91425" bIns="45700" anchor="ctr" anchorCtr="0">
            <a:noAutofit/>
          </a:bodyPr>
          <a:lstStyle/>
          <a:p>
            <a:pPr lvl="0">
              <a:buSzPts val="4400"/>
            </a:pPr>
            <a:r>
              <a:rPr lang="pt-BR" sz="2800" b="1" dirty="0">
                <a:latin typeface="+mj-lt"/>
              </a:rPr>
              <a:t>Resultados - DFM</a:t>
            </a:r>
            <a:endParaRPr sz="2800" b="1" dirty="0">
              <a:latin typeface="+mj-lt"/>
            </a:endParaRPr>
          </a:p>
        </p:txBody>
      </p:sp>
      <p:pic>
        <p:nvPicPr>
          <p:cNvPr id="98" name="Google Shape;98;p2" descr="Universidade Federal da Fronteira Sul – Wikipédia, a enciclopédia livre">
            <a:extLst>
              <a:ext uri="{FF2B5EF4-FFF2-40B4-BE49-F238E27FC236}">
                <a16:creationId xmlns:a16="http://schemas.microsoft.com/office/drawing/2014/main" id="{37F64E5A-B8A8-4927-0E93-BCE5BE52D611}"/>
              </a:ext>
            </a:extLst>
          </p:cNvPr>
          <p:cNvPicPr preferRelativeResize="0"/>
          <p:nvPr/>
        </p:nvPicPr>
        <p:blipFill rotWithShape="1">
          <a:blip r:embed="rId3">
            <a:alphaModFix/>
          </a:blip>
          <a:srcRect/>
          <a:stretch/>
        </p:blipFill>
        <p:spPr>
          <a:xfrm>
            <a:off x="10978329" y="18255"/>
            <a:ext cx="975614" cy="1325563"/>
          </a:xfrm>
          <a:prstGeom prst="rect">
            <a:avLst/>
          </a:prstGeom>
          <a:noFill/>
          <a:ln>
            <a:noFill/>
          </a:ln>
        </p:spPr>
      </p:pic>
      <p:sp>
        <p:nvSpPr>
          <p:cNvPr id="99" name="Google Shape;99;p2">
            <a:extLst>
              <a:ext uri="{FF2B5EF4-FFF2-40B4-BE49-F238E27FC236}">
                <a16:creationId xmlns:a16="http://schemas.microsoft.com/office/drawing/2014/main" id="{776C6147-75FC-9DCA-ED63-F8EE5455371F}"/>
              </a:ext>
            </a:extLst>
          </p:cNvPr>
          <p:cNvSpPr/>
          <p:nvPr/>
        </p:nvSpPr>
        <p:spPr>
          <a:xfrm>
            <a:off x="170268" y="958543"/>
            <a:ext cx="10515600" cy="63062"/>
          </a:xfrm>
          <a:prstGeom prst="rect">
            <a:avLst/>
          </a:prstGeom>
          <a:solidFill>
            <a:srgbClr val="548135"/>
          </a:solidFill>
          <a:ln w="12700" cap="flat" cmpd="sng">
            <a:solidFill>
              <a:srgbClr val="1C3052"/>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00" name="Google Shape;100;p2">
            <a:extLst>
              <a:ext uri="{FF2B5EF4-FFF2-40B4-BE49-F238E27FC236}">
                <a16:creationId xmlns:a16="http://schemas.microsoft.com/office/drawing/2014/main" id="{5DA6AD3A-2AB3-D6FD-3576-DD3581EA9343}"/>
              </a:ext>
            </a:extLst>
          </p:cNvPr>
          <p:cNvSpPr txBox="1">
            <a:spLocks noGrp="1"/>
          </p:cNvSpPr>
          <p:nvPr>
            <p:ph type="sldNum" idx="12"/>
          </p:nvPr>
        </p:nvSpPr>
        <p:spPr>
          <a:xfrm>
            <a:off x="9440152" y="6492875"/>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pt-BR" sz="1800"/>
              <a:t>33</a:t>
            </a:fld>
            <a:endParaRPr sz="1800" dirty="0"/>
          </a:p>
        </p:txBody>
      </p:sp>
      <p:pic>
        <p:nvPicPr>
          <p:cNvPr id="3" name="Imagem 2">
            <a:extLst>
              <a:ext uri="{FF2B5EF4-FFF2-40B4-BE49-F238E27FC236}">
                <a16:creationId xmlns:a16="http://schemas.microsoft.com/office/drawing/2014/main" id="{13B06C73-6C47-1E42-8D72-36CF9A17153E}"/>
              </a:ext>
            </a:extLst>
          </p:cNvPr>
          <p:cNvPicPr>
            <a:picLocks noChangeAspect="1"/>
          </p:cNvPicPr>
          <p:nvPr/>
        </p:nvPicPr>
        <p:blipFill>
          <a:blip r:embed="rId4"/>
          <a:stretch>
            <a:fillRect/>
          </a:stretch>
        </p:blipFill>
        <p:spPr>
          <a:xfrm>
            <a:off x="1529334" y="1416795"/>
            <a:ext cx="9176004" cy="4124993"/>
          </a:xfrm>
          <a:prstGeom prst="rect">
            <a:avLst/>
          </a:prstGeom>
        </p:spPr>
      </p:pic>
    </p:spTree>
    <p:extLst>
      <p:ext uri="{BB962C8B-B14F-4D97-AF65-F5344CB8AC3E}">
        <p14:creationId xmlns:p14="http://schemas.microsoft.com/office/powerpoint/2010/main" val="3457873882"/>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Shape 95">
          <a:extLst>
            <a:ext uri="{FF2B5EF4-FFF2-40B4-BE49-F238E27FC236}">
              <a16:creationId xmlns:a16="http://schemas.microsoft.com/office/drawing/2014/main" id="{80106B31-8324-5598-B05A-60C82C7E1397}"/>
            </a:ext>
          </a:extLst>
        </p:cNvPr>
        <p:cNvGrpSpPr/>
        <p:nvPr/>
      </p:nvGrpSpPr>
      <p:grpSpPr>
        <a:xfrm>
          <a:off x="0" y="0"/>
          <a:ext cx="0" cy="0"/>
          <a:chOff x="0" y="0"/>
          <a:chExt cx="0" cy="0"/>
        </a:xfrm>
      </p:grpSpPr>
      <p:sp>
        <p:nvSpPr>
          <p:cNvPr id="96" name="Google Shape;96;p2">
            <a:extLst>
              <a:ext uri="{FF2B5EF4-FFF2-40B4-BE49-F238E27FC236}">
                <a16:creationId xmlns:a16="http://schemas.microsoft.com/office/drawing/2014/main" id="{79180EC5-6CE8-A85E-017C-7B412DD7E641}"/>
              </a:ext>
            </a:extLst>
          </p:cNvPr>
          <p:cNvSpPr txBox="1">
            <a:spLocks noGrp="1"/>
          </p:cNvSpPr>
          <p:nvPr>
            <p:ph type="title"/>
          </p:nvPr>
        </p:nvSpPr>
        <p:spPr>
          <a:xfrm>
            <a:off x="170268" y="190105"/>
            <a:ext cx="10329566" cy="768438"/>
          </a:xfrm>
          <a:prstGeom prst="rect">
            <a:avLst/>
          </a:prstGeom>
          <a:noFill/>
          <a:ln>
            <a:noFill/>
          </a:ln>
        </p:spPr>
        <p:txBody>
          <a:bodyPr spcFirstLastPara="1" wrap="square" lIns="91425" tIns="45700" rIns="91425" bIns="45700" anchor="ctr" anchorCtr="0">
            <a:noAutofit/>
          </a:bodyPr>
          <a:lstStyle/>
          <a:p>
            <a:pPr lvl="0">
              <a:buSzPts val="4400"/>
            </a:pPr>
            <a:r>
              <a:rPr lang="pt-BR" sz="2800" b="1" dirty="0">
                <a:latin typeface="+mj-lt"/>
              </a:rPr>
              <a:t>Resultados - DFM</a:t>
            </a:r>
            <a:endParaRPr sz="2800" b="1" dirty="0">
              <a:latin typeface="+mj-lt"/>
            </a:endParaRPr>
          </a:p>
        </p:txBody>
      </p:sp>
      <p:pic>
        <p:nvPicPr>
          <p:cNvPr id="98" name="Google Shape;98;p2" descr="Universidade Federal da Fronteira Sul – Wikipédia, a enciclopédia livre">
            <a:extLst>
              <a:ext uri="{FF2B5EF4-FFF2-40B4-BE49-F238E27FC236}">
                <a16:creationId xmlns:a16="http://schemas.microsoft.com/office/drawing/2014/main" id="{CE946180-951F-B440-C492-5244CB209D3E}"/>
              </a:ext>
            </a:extLst>
          </p:cNvPr>
          <p:cNvPicPr preferRelativeResize="0"/>
          <p:nvPr/>
        </p:nvPicPr>
        <p:blipFill rotWithShape="1">
          <a:blip r:embed="rId3">
            <a:alphaModFix/>
          </a:blip>
          <a:srcRect/>
          <a:stretch/>
        </p:blipFill>
        <p:spPr>
          <a:xfrm>
            <a:off x="10978329" y="18255"/>
            <a:ext cx="975614" cy="1325563"/>
          </a:xfrm>
          <a:prstGeom prst="rect">
            <a:avLst/>
          </a:prstGeom>
          <a:noFill/>
          <a:ln>
            <a:noFill/>
          </a:ln>
        </p:spPr>
      </p:pic>
      <p:sp>
        <p:nvSpPr>
          <p:cNvPr id="99" name="Google Shape;99;p2">
            <a:extLst>
              <a:ext uri="{FF2B5EF4-FFF2-40B4-BE49-F238E27FC236}">
                <a16:creationId xmlns:a16="http://schemas.microsoft.com/office/drawing/2014/main" id="{25143D8B-E4A6-AD0F-66E7-5C045AFF65A4}"/>
              </a:ext>
            </a:extLst>
          </p:cNvPr>
          <p:cNvSpPr/>
          <p:nvPr/>
        </p:nvSpPr>
        <p:spPr>
          <a:xfrm>
            <a:off x="170268" y="958543"/>
            <a:ext cx="10515600" cy="63062"/>
          </a:xfrm>
          <a:prstGeom prst="rect">
            <a:avLst/>
          </a:prstGeom>
          <a:solidFill>
            <a:srgbClr val="548135"/>
          </a:solidFill>
          <a:ln w="12700" cap="flat" cmpd="sng">
            <a:solidFill>
              <a:srgbClr val="1C3052"/>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00" name="Google Shape;100;p2">
            <a:extLst>
              <a:ext uri="{FF2B5EF4-FFF2-40B4-BE49-F238E27FC236}">
                <a16:creationId xmlns:a16="http://schemas.microsoft.com/office/drawing/2014/main" id="{AC87178E-1EE5-CD07-6655-669D459F0BDE}"/>
              </a:ext>
            </a:extLst>
          </p:cNvPr>
          <p:cNvSpPr txBox="1">
            <a:spLocks noGrp="1"/>
          </p:cNvSpPr>
          <p:nvPr>
            <p:ph type="sldNum" idx="12"/>
          </p:nvPr>
        </p:nvSpPr>
        <p:spPr>
          <a:xfrm>
            <a:off x="9440152" y="6492875"/>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pt-BR" sz="1800"/>
              <a:t>34</a:t>
            </a:fld>
            <a:endParaRPr sz="1800" dirty="0"/>
          </a:p>
        </p:txBody>
      </p:sp>
      <p:pic>
        <p:nvPicPr>
          <p:cNvPr id="2" name="Imagem 1">
            <a:extLst>
              <a:ext uri="{FF2B5EF4-FFF2-40B4-BE49-F238E27FC236}">
                <a16:creationId xmlns:a16="http://schemas.microsoft.com/office/drawing/2014/main" id="{57E34F11-302F-5C7E-15B7-B2DD936A14B9}"/>
              </a:ext>
            </a:extLst>
          </p:cNvPr>
          <p:cNvPicPr>
            <a:picLocks noChangeAspect="1"/>
          </p:cNvPicPr>
          <p:nvPr/>
        </p:nvPicPr>
        <p:blipFill>
          <a:blip r:embed="rId4"/>
          <a:stretch>
            <a:fillRect/>
          </a:stretch>
        </p:blipFill>
        <p:spPr>
          <a:xfrm>
            <a:off x="1529334" y="1416795"/>
            <a:ext cx="9176004" cy="4124993"/>
          </a:xfrm>
          <a:prstGeom prst="rect">
            <a:avLst/>
          </a:prstGeom>
        </p:spPr>
      </p:pic>
    </p:spTree>
    <p:extLst>
      <p:ext uri="{BB962C8B-B14F-4D97-AF65-F5344CB8AC3E}">
        <p14:creationId xmlns:p14="http://schemas.microsoft.com/office/powerpoint/2010/main" val="3260650939"/>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Shape 95">
          <a:extLst>
            <a:ext uri="{FF2B5EF4-FFF2-40B4-BE49-F238E27FC236}">
              <a16:creationId xmlns:a16="http://schemas.microsoft.com/office/drawing/2014/main" id="{2806B5EA-EA0E-192E-595D-8C99D72C79FE}"/>
            </a:ext>
          </a:extLst>
        </p:cNvPr>
        <p:cNvGrpSpPr/>
        <p:nvPr/>
      </p:nvGrpSpPr>
      <p:grpSpPr>
        <a:xfrm>
          <a:off x="0" y="0"/>
          <a:ext cx="0" cy="0"/>
          <a:chOff x="0" y="0"/>
          <a:chExt cx="0" cy="0"/>
        </a:xfrm>
      </p:grpSpPr>
      <p:sp>
        <p:nvSpPr>
          <p:cNvPr id="96" name="Google Shape;96;p2">
            <a:extLst>
              <a:ext uri="{FF2B5EF4-FFF2-40B4-BE49-F238E27FC236}">
                <a16:creationId xmlns:a16="http://schemas.microsoft.com/office/drawing/2014/main" id="{273C7A7D-A74E-96C0-D32A-E5C5E65ED07B}"/>
              </a:ext>
            </a:extLst>
          </p:cNvPr>
          <p:cNvSpPr txBox="1">
            <a:spLocks noGrp="1"/>
          </p:cNvSpPr>
          <p:nvPr>
            <p:ph type="title"/>
          </p:nvPr>
        </p:nvSpPr>
        <p:spPr>
          <a:xfrm>
            <a:off x="170268" y="190105"/>
            <a:ext cx="10329566" cy="768438"/>
          </a:xfrm>
          <a:prstGeom prst="rect">
            <a:avLst/>
          </a:prstGeom>
          <a:noFill/>
          <a:ln>
            <a:noFill/>
          </a:ln>
        </p:spPr>
        <p:txBody>
          <a:bodyPr spcFirstLastPara="1" wrap="square" lIns="91425" tIns="45700" rIns="91425" bIns="45700" anchor="ctr" anchorCtr="0">
            <a:noAutofit/>
          </a:bodyPr>
          <a:lstStyle/>
          <a:p>
            <a:pPr lvl="0">
              <a:buSzPts val="4400"/>
            </a:pPr>
            <a:r>
              <a:rPr lang="pt-BR" sz="2800" b="1" dirty="0">
                <a:latin typeface="+mj-lt"/>
              </a:rPr>
              <a:t>Resultados – Rede Neural</a:t>
            </a:r>
            <a:endParaRPr sz="2800" b="1" dirty="0">
              <a:latin typeface="+mj-lt"/>
            </a:endParaRPr>
          </a:p>
        </p:txBody>
      </p:sp>
      <p:pic>
        <p:nvPicPr>
          <p:cNvPr id="98" name="Google Shape;98;p2" descr="Universidade Federal da Fronteira Sul – Wikipédia, a enciclopédia livre">
            <a:extLst>
              <a:ext uri="{FF2B5EF4-FFF2-40B4-BE49-F238E27FC236}">
                <a16:creationId xmlns:a16="http://schemas.microsoft.com/office/drawing/2014/main" id="{1DF9871C-E0B5-2935-F5E5-1CFBB09C1215}"/>
              </a:ext>
            </a:extLst>
          </p:cNvPr>
          <p:cNvPicPr preferRelativeResize="0"/>
          <p:nvPr/>
        </p:nvPicPr>
        <p:blipFill rotWithShape="1">
          <a:blip r:embed="rId3">
            <a:alphaModFix/>
          </a:blip>
          <a:srcRect/>
          <a:stretch/>
        </p:blipFill>
        <p:spPr>
          <a:xfrm>
            <a:off x="10978329" y="18255"/>
            <a:ext cx="975614" cy="1325563"/>
          </a:xfrm>
          <a:prstGeom prst="rect">
            <a:avLst/>
          </a:prstGeom>
          <a:noFill/>
          <a:ln>
            <a:noFill/>
          </a:ln>
        </p:spPr>
      </p:pic>
      <p:sp>
        <p:nvSpPr>
          <p:cNvPr id="99" name="Google Shape;99;p2">
            <a:extLst>
              <a:ext uri="{FF2B5EF4-FFF2-40B4-BE49-F238E27FC236}">
                <a16:creationId xmlns:a16="http://schemas.microsoft.com/office/drawing/2014/main" id="{89166D29-DBA3-2ED5-FCD0-45D5386499E0}"/>
              </a:ext>
            </a:extLst>
          </p:cNvPr>
          <p:cNvSpPr/>
          <p:nvPr/>
        </p:nvSpPr>
        <p:spPr>
          <a:xfrm>
            <a:off x="170268" y="958543"/>
            <a:ext cx="10515600" cy="63062"/>
          </a:xfrm>
          <a:prstGeom prst="rect">
            <a:avLst/>
          </a:prstGeom>
          <a:solidFill>
            <a:srgbClr val="548135"/>
          </a:solidFill>
          <a:ln w="12700" cap="flat" cmpd="sng">
            <a:solidFill>
              <a:srgbClr val="1C3052"/>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00" name="Google Shape;100;p2">
            <a:extLst>
              <a:ext uri="{FF2B5EF4-FFF2-40B4-BE49-F238E27FC236}">
                <a16:creationId xmlns:a16="http://schemas.microsoft.com/office/drawing/2014/main" id="{D2CB00E3-0874-5014-8603-9D6DED3E9E6B}"/>
              </a:ext>
            </a:extLst>
          </p:cNvPr>
          <p:cNvSpPr txBox="1">
            <a:spLocks noGrp="1"/>
          </p:cNvSpPr>
          <p:nvPr>
            <p:ph type="sldNum" idx="12"/>
          </p:nvPr>
        </p:nvSpPr>
        <p:spPr>
          <a:xfrm>
            <a:off x="9440152" y="6492875"/>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pt-BR" sz="1800"/>
              <a:t>35</a:t>
            </a:fld>
            <a:endParaRPr sz="1800" dirty="0"/>
          </a:p>
        </p:txBody>
      </p:sp>
      <p:pic>
        <p:nvPicPr>
          <p:cNvPr id="3" name="Imagem 2">
            <a:extLst>
              <a:ext uri="{FF2B5EF4-FFF2-40B4-BE49-F238E27FC236}">
                <a16:creationId xmlns:a16="http://schemas.microsoft.com/office/drawing/2014/main" id="{47FFEFED-E9AA-C5C6-689F-4C0689BBA758}"/>
              </a:ext>
            </a:extLst>
          </p:cNvPr>
          <p:cNvPicPr>
            <a:picLocks noChangeAspect="1"/>
          </p:cNvPicPr>
          <p:nvPr/>
        </p:nvPicPr>
        <p:blipFill>
          <a:blip r:embed="rId4"/>
          <a:stretch>
            <a:fillRect/>
          </a:stretch>
        </p:blipFill>
        <p:spPr>
          <a:xfrm>
            <a:off x="1545327" y="868675"/>
            <a:ext cx="9144018" cy="4992634"/>
          </a:xfrm>
          <a:prstGeom prst="rect">
            <a:avLst/>
          </a:prstGeom>
        </p:spPr>
      </p:pic>
    </p:spTree>
    <p:extLst>
      <p:ext uri="{BB962C8B-B14F-4D97-AF65-F5344CB8AC3E}">
        <p14:creationId xmlns:p14="http://schemas.microsoft.com/office/powerpoint/2010/main" val="863412466"/>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Shape 95">
          <a:extLst>
            <a:ext uri="{FF2B5EF4-FFF2-40B4-BE49-F238E27FC236}">
              <a16:creationId xmlns:a16="http://schemas.microsoft.com/office/drawing/2014/main" id="{58DDBDB1-C068-8A0B-0B69-B6332573AE28}"/>
            </a:ext>
          </a:extLst>
        </p:cNvPr>
        <p:cNvGrpSpPr/>
        <p:nvPr/>
      </p:nvGrpSpPr>
      <p:grpSpPr>
        <a:xfrm>
          <a:off x="0" y="0"/>
          <a:ext cx="0" cy="0"/>
          <a:chOff x="0" y="0"/>
          <a:chExt cx="0" cy="0"/>
        </a:xfrm>
      </p:grpSpPr>
      <p:sp>
        <p:nvSpPr>
          <p:cNvPr id="96" name="Google Shape;96;p2">
            <a:extLst>
              <a:ext uri="{FF2B5EF4-FFF2-40B4-BE49-F238E27FC236}">
                <a16:creationId xmlns:a16="http://schemas.microsoft.com/office/drawing/2014/main" id="{73B0BE81-86B9-965F-983D-DB46150E3BB4}"/>
              </a:ext>
            </a:extLst>
          </p:cNvPr>
          <p:cNvSpPr txBox="1">
            <a:spLocks noGrp="1"/>
          </p:cNvSpPr>
          <p:nvPr>
            <p:ph type="title"/>
          </p:nvPr>
        </p:nvSpPr>
        <p:spPr>
          <a:xfrm>
            <a:off x="170268" y="190105"/>
            <a:ext cx="10329566" cy="768438"/>
          </a:xfrm>
          <a:prstGeom prst="rect">
            <a:avLst/>
          </a:prstGeom>
          <a:noFill/>
          <a:ln>
            <a:noFill/>
          </a:ln>
        </p:spPr>
        <p:txBody>
          <a:bodyPr spcFirstLastPara="1" wrap="square" lIns="91425" tIns="45700" rIns="91425" bIns="45700" anchor="ctr" anchorCtr="0">
            <a:noAutofit/>
          </a:bodyPr>
          <a:lstStyle/>
          <a:p>
            <a:pPr lvl="0">
              <a:buSzPts val="4400"/>
            </a:pPr>
            <a:r>
              <a:rPr lang="pt-BR" sz="2800" b="1" dirty="0">
                <a:latin typeface="+mj-lt"/>
              </a:rPr>
              <a:t>Resultados – Rede Neural</a:t>
            </a:r>
            <a:endParaRPr sz="2800" b="1" dirty="0">
              <a:latin typeface="+mj-lt"/>
            </a:endParaRPr>
          </a:p>
        </p:txBody>
      </p:sp>
      <p:pic>
        <p:nvPicPr>
          <p:cNvPr id="98" name="Google Shape;98;p2" descr="Universidade Federal da Fronteira Sul – Wikipédia, a enciclopédia livre">
            <a:extLst>
              <a:ext uri="{FF2B5EF4-FFF2-40B4-BE49-F238E27FC236}">
                <a16:creationId xmlns:a16="http://schemas.microsoft.com/office/drawing/2014/main" id="{02B5286D-8CF5-4E49-17ED-C22C2551EDB9}"/>
              </a:ext>
            </a:extLst>
          </p:cNvPr>
          <p:cNvPicPr preferRelativeResize="0"/>
          <p:nvPr/>
        </p:nvPicPr>
        <p:blipFill rotWithShape="1">
          <a:blip r:embed="rId3">
            <a:alphaModFix/>
          </a:blip>
          <a:srcRect/>
          <a:stretch/>
        </p:blipFill>
        <p:spPr>
          <a:xfrm>
            <a:off x="10978329" y="18255"/>
            <a:ext cx="975614" cy="1325563"/>
          </a:xfrm>
          <a:prstGeom prst="rect">
            <a:avLst/>
          </a:prstGeom>
          <a:noFill/>
          <a:ln>
            <a:noFill/>
          </a:ln>
        </p:spPr>
      </p:pic>
      <p:sp>
        <p:nvSpPr>
          <p:cNvPr id="99" name="Google Shape;99;p2">
            <a:extLst>
              <a:ext uri="{FF2B5EF4-FFF2-40B4-BE49-F238E27FC236}">
                <a16:creationId xmlns:a16="http://schemas.microsoft.com/office/drawing/2014/main" id="{89F8D0BF-25CB-335F-B0AE-5FC787FE646E}"/>
              </a:ext>
            </a:extLst>
          </p:cNvPr>
          <p:cNvSpPr/>
          <p:nvPr/>
        </p:nvSpPr>
        <p:spPr>
          <a:xfrm>
            <a:off x="170268" y="958543"/>
            <a:ext cx="10515600" cy="63062"/>
          </a:xfrm>
          <a:prstGeom prst="rect">
            <a:avLst/>
          </a:prstGeom>
          <a:solidFill>
            <a:srgbClr val="548135"/>
          </a:solidFill>
          <a:ln w="12700" cap="flat" cmpd="sng">
            <a:solidFill>
              <a:srgbClr val="1C3052"/>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00" name="Google Shape;100;p2">
            <a:extLst>
              <a:ext uri="{FF2B5EF4-FFF2-40B4-BE49-F238E27FC236}">
                <a16:creationId xmlns:a16="http://schemas.microsoft.com/office/drawing/2014/main" id="{981932E4-F6ED-5072-462E-3A656C311537}"/>
              </a:ext>
            </a:extLst>
          </p:cNvPr>
          <p:cNvSpPr txBox="1">
            <a:spLocks noGrp="1"/>
          </p:cNvSpPr>
          <p:nvPr>
            <p:ph type="sldNum" idx="12"/>
          </p:nvPr>
        </p:nvSpPr>
        <p:spPr>
          <a:xfrm>
            <a:off x="9440152" y="6492875"/>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pt-BR" sz="1800"/>
              <a:t>36</a:t>
            </a:fld>
            <a:endParaRPr sz="1800" dirty="0"/>
          </a:p>
        </p:txBody>
      </p:sp>
      <p:pic>
        <p:nvPicPr>
          <p:cNvPr id="2" name="Imagem 1">
            <a:extLst>
              <a:ext uri="{FF2B5EF4-FFF2-40B4-BE49-F238E27FC236}">
                <a16:creationId xmlns:a16="http://schemas.microsoft.com/office/drawing/2014/main" id="{3102923C-39F6-49BE-4053-E456D5451191}"/>
              </a:ext>
            </a:extLst>
          </p:cNvPr>
          <p:cNvPicPr>
            <a:picLocks noChangeAspect="1"/>
          </p:cNvPicPr>
          <p:nvPr/>
        </p:nvPicPr>
        <p:blipFill>
          <a:blip r:embed="rId4"/>
          <a:stretch>
            <a:fillRect/>
          </a:stretch>
        </p:blipFill>
        <p:spPr>
          <a:xfrm>
            <a:off x="1738735" y="869823"/>
            <a:ext cx="8757201" cy="5218938"/>
          </a:xfrm>
          <a:prstGeom prst="rect">
            <a:avLst/>
          </a:prstGeom>
        </p:spPr>
      </p:pic>
    </p:spTree>
    <p:extLst>
      <p:ext uri="{BB962C8B-B14F-4D97-AF65-F5344CB8AC3E}">
        <p14:creationId xmlns:p14="http://schemas.microsoft.com/office/powerpoint/2010/main" val="4133703893"/>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Shape 95">
          <a:extLst>
            <a:ext uri="{FF2B5EF4-FFF2-40B4-BE49-F238E27FC236}">
              <a16:creationId xmlns:a16="http://schemas.microsoft.com/office/drawing/2014/main" id="{7470FB50-CB36-4A15-7690-D67651FE6CC5}"/>
            </a:ext>
          </a:extLst>
        </p:cNvPr>
        <p:cNvGrpSpPr/>
        <p:nvPr/>
      </p:nvGrpSpPr>
      <p:grpSpPr>
        <a:xfrm>
          <a:off x="0" y="0"/>
          <a:ext cx="0" cy="0"/>
          <a:chOff x="0" y="0"/>
          <a:chExt cx="0" cy="0"/>
        </a:xfrm>
      </p:grpSpPr>
      <p:sp>
        <p:nvSpPr>
          <p:cNvPr id="96" name="Google Shape;96;p2">
            <a:extLst>
              <a:ext uri="{FF2B5EF4-FFF2-40B4-BE49-F238E27FC236}">
                <a16:creationId xmlns:a16="http://schemas.microsoft.com/office/drawing/2014/main" id="{A1042F09-94AA-6E4C-52F9-0735415ED3D2}"/>
              </a:ext>
            </a:extLst>
          </p:cNvPr>
          <p:cNvSpPr txBox="1">
            <a:spLocks noGrp="1"/>
          </p:cNvSpPr>
          <p:nvPr>
            <p:ph type="title"/>
          </p:nvPr>
        </p:nvSpPr>
        <p:spPr>
          <a:xfrm>
            <a:off x="170268" y="190105"/>
            <a:ext cx="10329566" cy="768438"/>
          </a:xfrm>
          <a:prstGeom prst="rect">
            <a:avLst/>
          </a:prstGeom>
          <a:noFill/>
          <a:ln>
            <a:noFill/>
          </a:ln>
        </p:spPr>
        <p:txBody>
          <a:bodyPr spcFirstLastPara="1" wrap="square" lIns="91425" tIns="45700" rIns="91425" bIns="45700" anchor="ctr" anchorCtr="0">
            <a:noAutofit/>
          </a:bodyPr>
          <a:lstStyle/>
          <a:p>
            <a:pPr lvl="0">
              <a:buSzPts val="4400"/>
            </a:pPr>
            <a:r>
              <a:rPr lang="pt-BR" sz="2800" b="1" dirty="0">
                <a:latin typeface="+mj-lt"/>
              </a:rPr>
              <a:t>Resultados – Rede Neural</a:t>
            </a:r>
            <a:endParaRPr sz="2800" b="1" dirty="0">
              <a:latin typeface="+mj-lt"/>
            </a:endParaRPr>
          </a:p>
        </p:txBody>
      </p:sp>
      <p:pic>
        <p:nvPicPr>
          <p:cNvPr id="98" name="Google Shape;98;p2" descr="Universidade Federal da Fronteira Sul – Wikipédia, a enciclopédia livre">
            <a:extLst>
              <a:ext uri="{FF2B5EF4-FFF2-40B4-BE49-F238E27FC236}">
                <a16:creationId xmlns:a16="http://schemas.microsoft.com/office/drawing/2014/main" id="{2CEF9DDC-1F83-C4F2-5BF1-DD0B097325FB}"/>
              </a:ext>
            </a:extLst>
          </p:cNvPr>
          <p:cNvPicPr preferRelativeResize="0"/>
          <p:nvPr/>
        </p:nvPicPr>
        <p:blipFill rotWithShape="1">
          <a:blip r:embed="rId3">
            <a:alphaModFix/>
          </a:blip>
          <a:srcRect/>
          <a:stretch/>
        </p:blipFill>
        <p:spPr>
          <a:xfrm>
            <a:off x="10978329" y="18255"/>
            <a:ext cx="975614" cy="1325563"/>
          </a:xfrm>
          <a:prstGeom prst="rect">
            <a:avLst/>
          </a:prstGeom>
          <a:noFill/>
          <a:ln>
            <a:noFill/>
          </a:ln>
        </p:spPr>
      </p:pic>
      <p:sp>
        <p:nvSpPr>
          <p:cNvPr id="99" name="Google Shape;99;p2">
            <a:extLst>
              <a:ext uri="{FF2B5EF4-FFF2-40B4-BE49-F238E27FC236}">
                <a16:creationId xmlns:a16="http://schemas.microsoft.com/office/drawing/2014/main" id="{E8E2C564-72FD-A34F-43BA-BF156544CEE1}"/>
              </a:ext>
            </a:extLst>
          </p:cNvPr>
          <p:cNvSpPr/>
          <p:nvPr/>
        </p:nvSpPr>
        <p:spPr>
          <a:xfrm>
            <a:off x="170268" y="958543"/>
            <a:ext cx="10515600" cy="63062"/>
          </a:xfrm>
          <a:prstGeom prst="rect">
            <a:avLst/>
          </a:prstGeom>
          <a:solidFill>
            <a:srgbClr val="548135"/>
          </a:solidFill>
          <a:ln w="12700" cap="flat" cmpd="sng">
            <a:solidFill>
              <a:srgbClr val="1C3052"/>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00" name="Google Shape;100;p2">
            <a:extLst>
              <a:ext uri="{FF2B5EF4-FFF2-40B4-BE49-F238E27FC236}">
                <a16:creationId xmlns:a16="http://schemas.microsoft.com/office/drawing/2014/main" id="{1B188EBB-354A-A5BD-E9CB-60D5DD0A44F5}"/>
              </a:ext>
            </a:extLst>
          </p:cNvPr>
          <p:cNvSpPr txBox="1">
            <a:spLocks noGrp="1"/>
          </p:cNvSpPr>
          <p:nvPr>
            <p:ph type="sldNum" idx="12"/>
          </p:nvPr>
        </p:nvSpPr>
        <p:spPr>
          <a:xfrm>
            <a:off x="9440152" y="6492875"/>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pt-BR" sz="1800"/>
              <a:t>37</a:t>
            </a:fld>
            <a:endParaRPr sz="1800" dirty="0"/>
          </a:p>
        </p:txBody>
      </p:sp>
      <p:pic>
        <p:nvPicPr>
          <p:cNvPr id="2" name="Imagem 1">
            <a:extLst>
              <a:ext uri="{FF2B5EF4-FFF2-40B4-BE49-F238E27FC236}">
                <a16:creationId xmlns:a16="http://schemas.microsoft.com/office/drawing/2014/main" id="{A6E9621B-4CE6-FC7E-6ABD-6935240DDE5B}"/>
              </a:ext>
            </a:extLst>
          </p:cNvPr>
          <p:cNvPicPr>
            <a:picLocks noChangeAspect="1"/>
          </p:cNvPicPr>
          <p:nvPr/>
        </p:nvPicPr>
        <p:blipFill>
          <a:blip r:embed="rId4"/>
          <a:stretch>
            <a:fillRect/>
          </a:stretch>
        </p:blipFill>
        <p:spPr>
          <a:xfrm>
            <a:off x="1529334" y="1380903"/>
            <a:ext cx="9176003" cy="4196777"/>
          </a:xfrm>
          <a:prstGeom prst="rect">
            <a:avLst/>
          </a:prstGeom>
        </p:spPr>
      </p:pic>
    </p:spTree>
    <p:extLst>
      <p:ext uri="{BB962C8B-B14F-4D97-AF65-F5344CB8AC3E}">
        <p14:creationId xmlns:p14="http://schemas.microsoft.com/office/powerpoint/2010/main" val="1528030514"/>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Shape 95">
          <a:extLst>
            <a:ext uri="{FF2B5EF4-FFF2-40B4-BE49-F238E27FC236}">
              <a16:creationId xmlns:a16="http://schemas.microsoft.com/office/drawing/2014/main" id="{327B232C-5512-D4CE-CCFF-03F1EB5F4398}"/>
            </a:ext>
          </a:extLst>
        </p:cNvPr>
        <p:cNvGrpSpPr/>
        <p:nvPr/>
      </p:nvGrpSpPr>
      <p:grpSpPr>
        <a:xfrm>
          <a:off x="0" y="0"/>
          <a:ext cx="0" cy="0"/>
          <a:chOff x="0" y="0"/>
          <a:chExt cx="0" cy="0"/>
        </a:xfrm>
      </p:grpSpPr>
      <p:sp>
        <p:nvSpPr>
          <p:cNvPr id="96" name="Google Shape;96;p2">
            <a:extLst>
              <a:ext uri="{FF2B5EF4-FFF2-40B4-BE49-F238E27FC236}">
                <a16:creationId xmlns:a16="http://schemas.microsoft.com/office/drawing/2014/main" id="{0953C9E7-3D7F-C700-1EFD-7449A739D7FA}"/>
              </a:ext>
            </a:extLst>
          </p:cNvPr>
          <p:cNvSpPr txBox="1">
            <a:spLocks noGrp="1"/>
          </p:cNvSpPr>
          <p:nvPr>
            <p:ph type="title"/>
          </p:nvPr>
        </p:nvSpPr>
        <p:spPr>
          <a:xfrm>
            <a:off x="170268" y="190105"/>
            <a:ext cx="10329566" cy="768438"/>
          </a:xfrm>
          <a:prstGeom prst="rect">
            <a:avLst/>
          </a:prstGeom>
          <a:noFill/>
          <a:ln>
            <a:noFill/>
          </a:ln>
        </p:spPr>
        <p:txBody>
          <a:bodyPr spcFirstLastPara="1" wrap="square" lIns="91425" tIns="45700" rIns="91425" bIns="45700" anchor="ctr" anchorCtr="0">
            <a:noAutofit/>
          </a:bodyPr>
          <a:lstStyle/>
          <a:p>
            <a:pPr lvl="0">
              <a:buSzPts val="4400"/>
            </a:pPr>
            <a:r>
              <a:rPr lang="pt-BR" sz="2800" b="1" dirty="0">
                <a:latin typeface="+mj-lt"/>
              </a:rPr>
              <a:t>Resultados – Random Forest</a:t>
            </a:r>
            <a:endParaRPr sz="2800" b="1" dirty="0">
              <a:latin typeface="+mj-lt"/>
            </a:endParaRPr>
          </a:p>
        </p:txBody>
      </p:sp>
      <p:pic>
        <p:nvPicPr>
          <p:cNvPr id="98" name="Google Shape;98;p2" descr="Universidade Federal da Fronteira Sul – Wikipédia, a enciclopédia livre">
            <a:extLst>
              <a:ext uri="{FF2B5EF4-FFF2-40B4-BE49-F238E27FC236}">
                <a16:creationId xmlns:a16="http://schemas.microsoft.com/office/drawing/2014/main" id="{AC841A5E-61EE-DFFE-6DC5-6EF1FEF25727}"/>
              </a:ext>
            </a:extLst>
          </p:cNvPr>
          <p:cNvPicPr preferRelativeResize="0"/>
          <p:nvPr/>
        </p:nvPicPr>
        <p:blipFill rotWithShape="1">
          <a:blip r:embed="rId3">
            <a:alphaModFix/>
          </a:blip>
          <a:srcRect/>
          <a:stretch/>
        </p:blipFill>
        <p:spPr>
          <a:xfrm>
            <a:off x="10978329" y="18255"/>
            <a:ext cx="975614" cy="1325563"/>
          </a:xfrm>
          <a:prstGeom prst="rect">
            <a:avLst/>
          </a:prstGeom>
          <a:noFill/>
          <a:ln>
            <a:noFill/>
          </a:ln>
        </p:spPr>
      </p:pic>
      <p:sp>
        <p:nvSpPr>
          <p:cNvPr id="99" name="Google Shape;99;p2">
            <a:extLst>
              <a:ext uri="{FF2B5EF4-FFF2-40B4-BE49-F238E27FC236}">
                <a16:creationId xmlns:a16="http://schemas.microsoft.com/office/drawing/2014/main" id="{FCC17543-AF43-CEC8-C0CC-E0ACD5FA83BD}"/>
              </a:ext>
            </a:extLst>
          </p:cNvPr>
          <p:cNvSpPr/>
          <p:nvPr/>
        </p:nvSpPr>
        <p:spPr>
          <a:xfrm>
            <a:off x="170268" y="958543"/>
            <a:ext cx="10515600" cy="63062"/>
          </a:xfrm>
          <a:prstGeom prst="rect">
            <a:avLst/>
          </a:prstGeom>
          <a:solidFill>
            <a:srgbClr val="548135"/>
          </a:solidFill>
          <a:ln w="12700" cap="flat" cmpd="sng">
            <a:solidFill>
              <a:srgbClr val="1C3052"/>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00" name="Google Shape;100;p2">
            <a:extLst>
              <a:ext uri="{FF2B5EF4-FFF2-40B4-BE49-F238E27FC236}">
                <a16:creationId xmlns:a16="http://schemas.microsoft.com/office/drawing/2014/main" id="{8005C662-F1FE-EB63-219A-58E276581347}"/>
              </a:ext>
            </a:extLst>
          </p:cNvPr>
          <p:cNvSpPr txBox="1">
            <a:spLocks noGrp="1"/>
          </p:cNvSpPr>
          <p:nvPr>
            <p:ph type="sldNum" idx="12"/>
          </p:nvPr>
        </p:nvSpPr>
        <p:spPr>
          <a:xfrm>
            <a:off x="9440152" y="6492875"/>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pt-BR" sz="1800"/>
              <a:t>38</a:t>
            </a:fld>
            <a:endParaRPr sz="1800" dirty="0"/>
          </a:p>
        </p:txBody>
      </p:sp>
      <p:pic>
        <p:nvPicPr>
          <p:cNvPr id="2" name="Imagem 1">
            <a:extLst>
              <a:ext uri="{FF2B5EF4-FFF2-40B4-BE49-F238E27FC236}">
                <a16:creationId xmlns:a16="http://schemas.microsoft.com/office/drawing/2014/main" id="{0928A095-22C2-9BA8-892F-00BE3E2E5D55}"/>
              </a:ext>
            </a:extLst>
          </p:cNvPr>
          <p:cNvPicPr>
            <a:picLocks noChangeAspect="1"/>
          </p:cNvPicPr>
          <p:nvPr/>
        </p:nvPicPr>
        <p:blipFill>
          <a:blip r:embed="rId4"/>
          <a:stretch>
            <a:fillRect/>
          </a:stretch>
        </p:blipFill>
        <p:spPr>
          <a:xfrm>
            <a:off x="1635748" y="1605715"/>
            <a:ext cx="9176004" cy="4564947"/>
          </a:xfrm>
          <a:prstGeom prst="rect">
            <a:avLst/>
          </a:prstGeom>
        </p:spPr>
      </p:pic>
    </p:spTree>
    <p:extLst>
      <p:ext uri="{BB962C8B-B14F-4D97-AF65-F5344CB8AC3E}">
        <p14:creationId xmlns:p14="http://schemas.microsoft.com/office/powerpoint/2010/main" val="3725603817"/>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Shape 95">
          <a:extLst>
            <a:ext uri="{FF2B5EF4-FFF2-40B4-BE49-F238E27FC236}">
              <a16:creationId xmlns:a16="http://schemas.microsoft.com/office/drawing/2014/main" id="{2D51D74D-3F8D-658E-65F9-B0CB43F0DF1D}"/>
            </a:ext>
          </a:extLst>
        </p:cNvPr>
        <p:cNvGrpSpPr/>
        <p:nvPr/>
      </p:nvGrpSpPr>
      <p:grpSpPr>
        <a:xfrm>
          <a:off x="0" y="0"/>
          <a:ext cx="0" cy="0"/>
          <a:chOff x="0" y="0"/>
          <a:chExt cx="0" cy="0"/>
        </a:xfrm>
      </p:grpSpPr>
      <p:sp>
        <p:nvSpPr>
          <p:cNvPr id="96" name="Google Shape;96;p2">
            <a:extLst>
              <a:ext uri="{FF2B5EF4-FFF2-40B4-BE49-F238E27FC236}">
                <a16:creationId xmlns:a16="http://schemas.microsoft.com/office/drawing/2014/main" id="{6D7D4217-436E-0A22-FB55-3A7E104FB9DC}"/>
              </a:ext>
            </a:extLst>
          </p:cNvPr>
          <p:cNvSpPr txBox="1">
            <a:spLocks noGrp="1"/>
          </p:cNvSpPr>
          <p:nvPr>
            <p:ph type="title"/>
          </p:nvPr>
        </p:nvSpPr>
        <p:spPr>
          <a:xfrm>
            <a:off x="170268" y="190105"/>
            <a:ext cx="10329566" cy="768438"/>
          </a:xfrm>
          <a:prstGeom prst="rect">
            <a:avLst/>
          </a:prstGeom>
          <a:noFill/>
          <a:ln>
            <a:noFill/>
          </a:ln>
        </p:spPr>
        <p:txBody>
          <a:bodyPr spcFirstLastPara="1" wrap="square" lIns="91425" tIns="45700" rIns="91425" bIns="45700" anchor="ctr" anchorCtr="0">
            <a:noAutofit/>
          </a:bodyPr>
          <a:lstStyle/>
          <a:p>
            <a:pPr lvl="0">
              <a:buSzPts val="4400"/>
            </a:pPr>
            <a:r>
              <a:rPr lang="pt-BR" sz="2800" b="1" dirty="0">
                <a:latin typeface="+mj-lt"/>
              </a:rPr>
              <a:t>Resultados – Random Forest</a:t>
            </a:r>
            <a:endParaRPr sz="2800" b="1" dirty="0">
              <a:latin typeface="+mj-lt"/>
            </a:endParaRPr>
          </a:p>
        </p:txBody>
      </p:sp>
      <p:pic>
        <p:nvPicPr>
          <p:cNvPr id="98" name="Google Shape;98;p2" descr="Universidade Federal da Fronteira Sul – Wikipédia, a enciclopédia livre">
            <a:extLst>
              <a:ext uri="{FF2B5EF4-FFF2-40B4-BE49-F238E27FC236}">
                <a16:creationId xmlns:a16="http://schemas.microsoft.com/office/drawing/2014/main" id="{299721D3-2287-A9FD-DB3D-CC7A5685F1F8}"/>
              </a:ext>
            </a:extLst>
          </p:cNvPr>
          <p:cNvPicPr preferRelativeResize="0"/>
          <p:nvPr/>
        </p:nvPicPr>
        <p:blipFill rotWithShape="1">
          <a:blip r:embed="rId3">
            <a:alphaModFix/>
          </a:blip>
          <a:srcRect/>
          <a:stretch/>
        </p:blipFill>
        <p:spPr>
          <a:xfrm>
            <a:off x="10978329" y="18255"/>
            <a:ext cx="975614" cy="1325563"/>
          </a:xfrm>
          <a:prstGeom prst="rect">
            <a:avLst/>
          </a:prstGeom>
          <a:noFill/>
          <a:ln>
            <a:noFill/>
          </a:ln>
        </p:spPr>
      </p:pic>
      <p:sp>
        <p:nvSpPr>
          <p:cNvPr id="99" name="Google Shape;99;p2">
            <a:extLst>
              <a:ext uri="{FF2B5EF4-FFF2-40B4-BE49-F238E27FC236}">
                <a16:creationId xmlns:a16="http://schemas.microsoft.com/office/drawing/2014/main" id="{E6C12191-2CDB-6F7D-BABB-2F1A3CA13A0A}"/>
              </a:ext>
            </a:extLst>
          </p:cNvPr>
          <p:cNvSpPr/>
          <p:nvPr/>
        </p:nvSpPr>
        <p:spPr>
          <a:xfrm>
            <a:off x="170268" y="958543"/>
            <a:ext cx="10515600" cy="63062"/>
          </a:xfrm>
          <a:prstGeom prst="rect">
            <a:avLst/>
          </a:prstGeom>
          <a:solidFill>
            <a:srgbClr val="548135"/>
          </a:solidFill>
          <a:ln w="12700" cap="flat" cmpd="sng">
            <a:solidFill>
              <a:srgbClr val="1C3052"/>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00" name="Google Shape;100;p2">
            <a:extLst>
              <a:ext uri="{FF2B5EF4-FFF2-40B4-BE49-F238E27FC236}">
                <a16:creationId xmlns:a16="http://schemas.microsoft.com/office/drawing/2014/main" id="{0B9CD4A7-164A-F1CA-C14B-ED2A0F823173}"/>
              </a:ext>
            </a:extLst>
          </p:cNvPr>
          <p:cNvSpPr txBox="1">
            <a:spLocks noGrp="1"/>
          </p:cNvSpPr>
          <p:nvPr>
            <p:ph type="sldNum" idx="12"/>
          </p:nvPr>
        </p:nvSpPr>
        <p:spPr>
          <a:xfrm>
            <a:off x="9440152" y="6492875"/>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pt-BR" sz="1800"/>
              <a:t>39</a:t>
            </a:fld>
            <a:endParaRPr sz="1800" dirty="0"/>
          </a:p>
        </p:txBody>
      </p:sp>
      <p:pic>
        <p:nvPicPr>
          <p:cNvPr id="3" name="Imagem 2">
            <a:extLst>
              <a:ext uri="{FF2B5EF4-FFF2-40B4-BE49-F238E27FC236}">
                <a16:creationId xmlns:a16="http://schemas.microsoft.com/office/drawing/2014/main" id="{D1B693E6-7767-D062-4CAF-8EB5F7091F61}"/>
              </a:ext>
            </a:extLst>
          </p:cNvPr>
          <p:cNvPicPr>
            <a:picLocks noChangeAspect="1"/>
          </p:cNvPicPr>
          <p:nvPr/>
        </p:nvPicPr>
        <p:blipFill>
          <a:blip r:embed="rId4"/>
          <a:stretch>
            <a:fillRect/>
          </a:stretch>
        </p:blipFill>
        <p:spPr>
          <a:xfrm>
            <a:off x="1563078" y="1343818"/>
            <a:ext cx="9176004" cy="4966828"/>
          </a:xfrm>
          <a:prstGeom prst="rect">
            <a:avLst/>
          </a:prstGeom>
        </p:spPr>
      </p:pic>
    </p:spTree>
    <p:extLst>
      <p:ext uri="{BB962C8B-B14F-4D97-AF65-F5344CB8AC3E}">
        <p14:creationId xmlns:p14="http://schemas.microsoft.com/office/powerpoint/2010/main" val="3951762010"/>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Shape 95">
          <a:extLst>
            <a:ext uri="{FF2B5EF4-FFF2-40B4-BE49-F238E27FC236}">
              <a16:creationId xmlns:a16="http://schemas.microsoft.com/office/drawing/2014/main" id="{3FC1042D-6392-627A-C6C2-E136064F0ABC}"/>
            </a:ext>
          </a:extLst>
        </p:cNvPr>
        <p:cNvGrpSpPr/>
        <p:nvPr/>
      </p:nvGrpSpPr>
      <p:grpSpPr>
        <a:xfrm>
          <a:off x="0" y="0"/>
          <a:ext cx="0" cy="0"/>
          <a:chOff x="0" y="0"/>
          <a:chExt cx="0" cy="0"/>
        </a:xfrm>
      </p:grpSpPr>
      <p:sp>
        <p:nvSpPr>
          <p:cNvPr id="96" name="Google Shape;96;p2">
            <a:extLst>
              <a:ext uri="{FF2B5EF4-FFF2-40B4-BE49-F238E27FC236}">
                <a16:creationId xmlns:a16="http://schemas.microsoft.com/office/drawing/2014/main" id="{D041096F-B40A-E505-49EB-C8AC1F3254E4}"/>
              </a:ext>
            </a:extLst>
          </p:cNvPr>
          <p:cNvSpPr txBox="1">
            <a:spLocks noGrp="1"/>
          </p:cNvSpPr>
          <p:nvPr>
            <p:ph type="title"/>
          </p:nvPr>
        </p:nvSpPr>
        <p:spPr>
          <a:xfrm>
            <a:off x="170268" y="190105"/>
            <a:ext cx="10329566" cy="768438"/>
          </a:xfrm>
          <a:prstGeom prst="rect">
            <a:avLst/>
          </a:prstGeom>
          <a:noFill/>
          <a:ln>
            <a:noFill/>
          </a:ln>
        </p:spPr>
        <p:txBody>
          <a:bodyPr spcFirstLastPara="1" wrap="square" lIns="91425" tIns="45700" rIns="91425" bIns="45700" anchor="ctr" anchorCtr="0">
            <a:noAutofit/>
          </a:bodyPr>
          <a:lstStyle/>
          <a:p>
            <a:pPr lvl="0">
              <a:buSzPts val="4400"/>
            </a:pPr>
            <a:r>
              <a:rPr lang="pt-BR" sz="2800" b="1" dirty="0">
                <a:latin typeface="+mj-lt"/>
              </a:rPr>
              <a:t>Resultados – Random Forest</a:t>
            </a:r>
            <a:endParaRPr sz="2800" b="1" dirty="0">
              <a:latin typeface="+mj-lt"/>
            </a:endParaRPr>
          </a:p>
        </p:txBody>
      </p:sp>
      <p:pic>
        <p:nvPicPr>
          <p:cNvPr id="98" name="Google Shape;98;p2" descr="Universidade Federal da Fronteira Sul – Wikipédia, a enciclopédia livre">
            <a:extLst>
              <a:ext uri="{FF2B5EF4-FFF2-40B4-BE49-F238E27FC236}">
                <a16:creationId xmlns:a16="http://schemas.microsoft.com/office/drawing/2014/main" id="{5B4B4C7A-98DC-7601-345D-607F33037F9F}"/>
              </a:ext>
            </a:extLst>
          </p:cNvPr>
          <p:cNvPicPr preferRelativeResize="0"/>
          <p:nvPr/>
        </p:nvPicPr>
        <p:blipFill rotWithShape="1">
          <a:blip r:embed="rId3">
            <a:alphaModFix/>
          </a:blip>
          <a:srcRect/>
          <a:stretch/>
        </p:blipFill>
        <p:spPr>
          <a:xfrm>
            <a:off x="10978329" y="18255"/>
            <a:ext cx="975614" cy="1325563"/>
          </a:xfrm>
          <a:prstGeom prst="rect">
            <a:avLst/>
          </a:prstGeom>
          <a:noFill/>
          <a:ln>
            <a:noFill/>
          </a:ln>
        </p:spPr>
      </p:pic>
      <p:sp>
        <p:nvSpPr>
          <p:cNvPr id="99" name="Google Shape;99;p2">
            <a:extLst>
              <a:ext uri="{FF2B5EF4-FFF2-40B4-BE49-F238E27FC236}">
                <a16:creationId xmlns:a16="http://schemas.microsoft.com/office/drawing/2014/main" id="{49AC92DB-704D-F2B8-9B4A-83A83078809C}"/>
              </a:ext>
            </a:extLst>
          </p:cNvPr>
          <p:cNvSpPr/>
          <p:nvPr/>
        </p:nvSpPr>
        <p:spPr>
          <a:xfrm>
            <a:off x="170268" y="958543"/>
            <a:ext cx="10515600" cy="63062"/>
          </a:xfrm>
          <a:prstGeom prst="rect">
            <a:avLst/>
          </a:prstGeom>
          <a:solidFill>
            <a:srgbClr val="548135"/>
          </a:solidFill>
          <a:ln w="12700" cap="flat" cmpd="sng">
            <a:solidFill>
              <a:srgbClr val="1C3052"/>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00" name="Google Shape;100;p2">
            <a:extLst>
              <a:ext uri="{FF2B5EF4-FFF2-40B4-BE49-F238E27FC236}">
                <a16:creationId xmlns:a16="http://schemas.microsoft.com/office/drawing/2014/main" id="{5F34B5A1-4079-025A-B0D7-CE14F3AC2617}"/>
              </a:ext>
            </a:extLst>
          </p:cNvPr>
          <p:cNvSpPr txBox="1">
            <a:spLocks noGrp="1"/>
          </p:cNvSpPr>
          <p:nvPr>
            <p:ph type="sldNum" idx="12"/>
          </p:nvPr>
        </p:nvSpPr>
        <p:spPr>
          <a:xfrm>
            <a:off x="9440152" y="6492875"/>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pt-BR" sz="1800"/>
              <a:t>40</a:t>
            </a:fld>
            <a:endParaRPr sz="1800" dirty="0"/>
          </a:p>
        </p:txBody>
      </p:sp>
      <p:pic>
        <p:nvPicPr>
          <p:cNvPr id="2" name="Imagem 1">
            <a:extLst>
              <a:ext uri="{FF2B5EF4-FFF2-40B4-BE49-F238E27FC236}">
                <a16:creationId xmlns:a16="http://schemas.microsoft.com/office/drawing/2014/main" id="{53CFAB6D-BABD-F44A-8E45-FAA245CB5CB9}"/>
              </a:ext>
            </a:extLst>
          </p:cNvPr>
          <p:cNvPicPr>
            <a:picLocks noChangeAspect="1"/>
          </p:cNvPicPr>
          <p:nvPr/>
        </p:nvPicPr>
        <p:blipFill>
          <a:blip r:embed="rId4"/>
          <a:stretch>
            <a:fillRect/>
          </a:stretch>
        </p:blipFill>
        <p:spPr>
          <a:xfrm>
            <a:off x="1529334" y="1831667"/>
            <a:ext cx="9176004" cy="3295250"/>
          </a:xfrm>
          <a:prstGeom prst="rect">
            <a:avLst/>
          </a:prstGeom>
        </p:spPr>
      </p:pic>
    </p:spTree>
    <p:extLst>
      <p:ext uri="{BB962C8B-B14F-4D97-AF65-F5344CB8AC3E}">
        <p14:creationId xmlns:p14="http://schemas.microsoft.com/office/powerpoint/2010/main" val="2040654680"/>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Shape 95">
          <a:extLst>
            <a:ext uri="{FF2B5EF4-FFF2-40B4-BE49-F238E27FC236}">
              <a16:creationId xmlns:a16="http://schemas.microsoft.com/office/drawing/2014/main" id="{2C62F8B0-A758-881C-6136-7D4083051B4F}"/>
            </a:ext>
          </a:extLst>
        </p:cNvPr>
        <p:cNvGrpSpPr/>
        <p:nvPr/>
      </p:nvGrpSpPr>
      <p:grpSpPr>
        <a:xfrm>
          <a:off x="0" y="0"/>
          <a:ext cx="0" cy="0"/>
          <a:chOff x="0" y="0"/>
          <a:chExt cx="0" cy="0"/>
        </a:xfrm>
      </p:grpSpPr>
      <p:sp>
        <p:nvSpPr>
          <p:cNvPr id="96" name="Google Shape;96;p2">
            <a:extLst>
              <a:ext uri="{FF2B5EF4-FFF2-40B4-BE49-F238E27FC236}">
                <a16:creationId xmlns:a16="http://schemas.microsoft.com/office/drawing/2014/main" id="{D9CAC7ED-F1EB-43E3-8898-2E0AF48BEEEB}"/>
              </a:ext>
            </a:extLst>
          </p:cNvPr>
          <p:cNvSpPr txBox="1">
            <a:spLocks noGrp="1"/>
          </p:cNvSpPr>
          <p:nvPr>
            <p:ph type="title"/>
          </p:nvPr>
        </p:nvSpPr>
        <p:spPr>
          <a:xfrm>
            <a:off x="170268" y="190105"/>
            <a:ext cx="10329566" cy="768438"/>
          </a:xfrm>
          <a:prstGeom prst="rect">
            <a:avLst/>
          </a:prstGeom>
          <a:noFill/>
          <a:ln>
            <a:noFill/>
          </a:ln>
        </p:spPr>
        <p:txBody>
          <a:bodyPr spcFirstLastPara="1" wrap="square" lIns="91425" tIns="45700" rIns="91425" bIns="45700" anchor="ctr" anchorCtr="0">
            <a:noAutofit/>
          </a:bodyPr>
          <a:lstStyle/>
          <a:p>
            <a:pPr lvl="0">
              <a:buSzPts val="4400"/>
            </a:pPr>
            <a:r>
              <a:rPr lang="pt-BR" sz="2800" b="1" dirty="0">
                <a:latin typeface="+mj-lt"/>
              </a:rPr>
              <a:t>Resultados – Random Forest</a:t>
            </a:r>
            <a:endParaRPr sz="2800" b="1" dirty="0">
              <a:latin typeface="+mj-lt"/>
            </a:endParaRPr>
          </a:p>
        </p:txBody>
      </p:sp>
      <p:pic>
        <p:nvPicPr>
          <p:cNvPr id="98" name="Google Shape;98;p2" descr="Universidade Federal da Fronteira Sul – Wikipédia, a enciclopédia livre">
            <a:extLst>
              <a:ext uri="{FF2B5EF4-FFF2-40B4-BE49-F238E27FC236}">
                <a16:creationId xmlns:a16="http://schemas.microsoft.com/office/drawing/2014/main" id="{2E445A17-9279-135E-A06A-DC85BC62E974}"/>
              </a:ext>
            </a:extLst>
          </p:cNvPr>
          <p:cNvPicPr preferRelativeResize="0"/>
          <p:nvPr/>
        </p:nvPicPr>
        <p:blipFill rotWithShape="1">
          <a:blip r:embed="rId3">
            <a:alphaModFix/>
          </a:blip>
          <a:srcRect/>
          <a:stretch/>
        </p:blipFill>
        <p:spPr>
          <a:xfrm>
            <a:off x="10978329" y="18255"/>
            <a:ext cx="975614" cy="1325563"/>
          </a:xfrm>
          <a:prstGeom prst="rect">
            <a:avLst/>
          </a:prstGeom>
          <a:noFill/>
          <a:ln>
            <a:noFill/>
          </a:ln>
        </p:spPr>
      </p:pic>
      <p:sp>
        <p:nvSpPr>
          <p:cNvPr id="99" name="Google Shape;99;p2">
            <a:extLst>
              <a:ext uri="{FF2B5EF4-FFF2-40B4-BE49-F238E27FC236}">
                <a16:creationId xmlns:a16="http://schemas.microsoft.com/office/drawing/2014/main" id="{93B55E88-A7C7-1704-A8D2-1E3DBE9A5501}"/>
              </a:ext>
            </a:extLst>
          </p:cNvPr>
          <p:cNvSpPr/>
          <p:nvPr/>
        </p:nvSpPr>
        <p:spPr>
          <a:xfrm>
            <a:off x="170268" y="958543"/>
            <a:ext cx="10515600" cy="63062"/>
          </a:xfrm>
          <a:prstGeom prst="rect">
            <a:avLst/>
          </a:prstGeom>
          <a:solidFill>
            <a:srgbClr val="548135"/>
          </a:solidFill>
          <a:ln w="12700" cap="flat" cmpd="sng">
            <a:solidFill>
              <a:srgbClr val="1C3052"/>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00" name="Google Shape;100;p2">
            <a:extLst>
              <a:ext uri="{FF2B5EF4-FFF2-40B4-BE49-F238E27FC236}">
                <a16:creationId xmlns:a16="http://schemas.microsoft.com/office/drawing/2014/main" id="{DD22E17F-18E1-CEB0-A63E-8948D263B981}"/>
              </a:ext>
            </a:extLst>
          </p:cNvPr>
          <p:cNvSpPr txBox="1">
            <a:spLocks noGrp="1"/>
          </p:cNvSpPr>
          <p:nvPr>
            <p:ph type="sldNum" idx="12"/>
          </p:nvPr>
        </p:nvSpPr>
        <p:spPr>
          <a:xfrm>
            <a:off x="9440152" y="6492875"/>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pt-BR" sz="1800"/>
              <a:t>41</a:t>
            </a:fld>
            <a:endParaRPr sz="1800" dirty="0"/>
          </a:p>
        </p:txBody>
      </p:sp>
      <p:pic>
        <p:nvPicPr>
          <p:cNvPr id="2" name="Imagem 1">
            <a:extLst>
              <a:ext uri="{FF2B5EF4-FFF2-40B4-BE49-F238E27FC236}">
                <a16:creationId xmlns:a16="http://schemas.microsoft.com/office/drawing/2014/main" id="{396EF619-8994-EFB6-FE64-E1340F8A5038}"/>
              </a:ext>
            </a:extLst>
          </p:cNvPr>
          <p:cNvPicPr>
            <a:picLocks noChangeAspect="1"/>
          </p:cNvPicPr>
          <p:nvPr/>
        </p:nvPicPr>
        <p:blipFill>
          <a:blip r:embed="rId4"/>
          <a:stretch>
            <a:fillRect/>
          </a:stretch>
        </p:blipFill>
        <p:spPr>
          <a:xfrm>
            <a:off x="1529334" y="1416795"/>
            <a:ext cx="9176004" cy="4124993"/>
          </a:xfrm>
          <a:prstGeom prst="rect">
            <a:avLst/>
          </a:prstGeom>
        </p:spPr>
      </p:pic>
    </p:spTree>
    <p:extLst>
      <p:ext uri="{BB962C8B-B14F-4D97-AF65-F5344CB8AC3E}">
        <p14:creationId xmlns:p14="http://schemas.microsoft.com/office/powerpoint/2010/main" val="2836719212"/>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Shape 95">
          <a:extLst>
            <a:ext uri="{FF2B5EF4-FFF2-40B4-BE49-F238E27FC236}">
              <a16:creationId xmlns:a16="http://schemas.microsoft.com/office/drawing/2014/main" id="{FA20B3DE-9FF1-6E61-73B3-8D9C0A6B5CB9}"/>
            </a:ext>
          </a:extLst>
        </p:cNvPr>
        <p:cNvGrpSpPr/>
        <p:nvPr/>
      </p:nvGrpSpPr>
      <p:grpSpPr>
        <a:xfrm>
          <a:off x="0" y="0"/>
          <a:ext cx="0" cy="0"/>
          <a:chOff x="0" y="0"/>
          <a:chExt cx="0" cy="0"/>
        </a:xfrm>
      </p:grpSpPr>
      <p:sp>
        <p:nvSpPr>
          <p:cNvPr id="96" name="Google Shape;96;p2">
            <a:extLst>
              <a:ext uri="{FF2B5EF4-FFF2-40B4-BE49-F238E27FC236}">
                <a16:creationId xmlns:a16="http://schemas.microsoft.com/office/drawing/2014/main" id="{E50DA13E-0578-B716-C4ED-53626FFA11BC}"/>
              </a:ext>
            </a:extLst>
          </p:cNvPr>
          <p:cNvSpPr txBox="1">
            <a:spLocks noGrp="1"/>
          </p:cNvSpPr>
          <p:nvPr>
            <p:ph type="title"/>
          </p:nvPr>
        </p:nvSpPr>
        <p:spPr>
          <a:xfrm>
            <a:off x="170268" y="190105"/>
            <a:ext cx="10329566" cy="768438"/>
          </a:xfrm>
          <a:prstGeom prst="rect">
            <a:avLst/>
          </a:prstGeom>
          <a:noFill/>
          <a:ln>
            <a:noFill/>
          </a:ln>
        </p:spPr>
        <p:txBody>
          <a:bodyPr spcFirstLastPara="1" wrap="square" lIns="91425" tIns="45700" rIns="91425" bIns="45700" anchor="ctr" anchorCtr="0">
            <a:noAutofit/>
          </a:bodyPr>
          <a:lstStyle/>
          <a:p>
            <a:pPr lvl="0">
              <a:buSzPts val="4400"/>
            </a:pPr>
            <a:r>
              <a:rPr lang="pt-BR" sz="2800" b="1" dirty="0">
                <a:latin typeface="+mj-lt"/>
              </a:rPr>
              <a:t>Conclusão e trabalhos futuros – Em progresso</a:t>
            </a:r>
            <a:endParaRPr sz="2800" b="1" dirty="0">
              <a:latin typeface="+mj-lt"/>
            </a:endParaRPr>
          </a:p>
        </p:txBody>
      </p:sp>
      <p:pic>
        <p:nvPicPr>
          <p:cNvPr id="98" name="Google Shape;98;p2" descr="Universidade Federal da Fronteira Sul – Wikipédia, a enciclopédia livre">
            <a:extLst>
              <a:ext uri="{FF2B5EF4-FFF2-40B4-BE49-F238E27FC236}">
                <a16:creationId xmlns:a16="http://schemas.microsoft.com/office/drawing/2014/main" id="{3F2C9E54-E1AC-AFB0-2003-B6158CA31BB6}"/>
              </a:ext>
            </a:extLst>
          </p:cNvPr>
          <p:cNvPicPr preferRelativeResize="0"/>
          <p:nvPr/>
        </p:nvPicPr>
        <p:blipFill rotWithShape="1">
          <a:blip r:embed="rId3">
            <a:alphaModFix/>
          </a:blip>
          <a:srcRect/>
          <a:stretch/>
        </p:blipFill>
        <p:spPr>
          <a:xfrm>
            <a:off x="10978329" y="18255"/>
            <a:ext cx="975614" cy="1325563"/>
          </a:xfrm>
          <a:prstGeom prst="rect">
            <a:avLst/>
          </a:prstGeom>
          <a:noFill/>
          <a:ln>
            <a:noFill/>
          </a:ln>
        </p:spPr>
      </p:pic>
      <p:sp>
        <p:nvSpPr>
          <p:cNvPr id="99" name="Google Shape;99;p2">
            <a:extLst>
              <a:ext uri="{FF2B5EF4-FFF2-40B4-BE49-F238E27FC236}">
                <a16:creationId xmlns:a16="http://schemas.microsoft.com/office/drawing/2014/main" id="{23F3A075-CA57-7637-61E9-16F06350103C}"/>
              </a:ext>
            </a:extLst>
          </p:cNvPr>
          <p:cNvSpPr/>
          <p:nvPr/>
        </p:nvSpPr>
        <p:spPr>
          <a:xfrm>
            <a:off x="170268" y="958543"/>
            <a:ext cx="10515600" cy="63062"/>
          </a:xfrm>
          <a:prstGeom prst="rect">
            <a:avLst/>
          </a:prstGeom>
          <a:solidFill>
            <a:srgbClr val="548135"/>
          </a:solidFill>
          <a:ln w="12700" cap="flat" cmpd="sng">
            <a:solidFill>
              <a:srgbClr val="1C3052"/>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00" name="Google Shape;100;p2">
            <a:extLst>
              <a:ext uri="{FF2B5EF4-FFF2-40B4-BE49-F238E27FC236}">
                <a16:creationId xmlns:a16="http://schemas.microsoft.com/office/drawing/2014/main" id="{B4F04C3E-DB89-6580-17D5-DC979F1C23EB}"/>
              </a:ext>
            </a:extLst>
          </p:cNvPr>
          <p:cNvSpPr txBox="1">
            <a:spLocks noGrp="1"/>
          </p:cNvSpPr>
          <p:nvPr>
            <p:ph type="sldNum" idx="12"/>
          </p:nvPr>
        </p:nvSpPr>
        <p:spPr>
          <a:xfrm>
            <a:off x="9440152" y="6492875"/>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pt-BR" sz="1800"/>
              <a:t>42</a:t>
            </a:fld>
            <a:endParaRPr sz="1800" dirty="0"/>
          </a:p>
        </p:txBody>
      </p:sp>
    </p:spTree>
    <p:extLst>
      <p:ext uri="{BB962C8B-B14F-4D97-AF65-F5344CB8AC3E}">
        <p14:creationId xmlns:p14="http://schemas.microsoft.com/office/powerpoint/2010/main" val="941396760"/>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Shape 95">
          <a:extLst>
            <a:ext uri="{FF2B5EF4-FFF2-40B4-BE49-F238E27FC236}">
              <a16:creationId xmlns:a16="http://schemas.microsoft.com/office/drawing/2014/main" id="{86C25675-4193-B45D-E0D3-1CC99B6F27E7}"/>
            </a:ext>
          </a:extLst>
        </p:cNvPr>
        <p:cNvGrpSpPr/>
        <p:nvPr/>
      </p:nvGrpSpPr>
      <p:grpSpPr>
        <a:xfrm>
          <a:off x="0" y="0"/>
          <a:ext cx="0" cy="0"/>
          <a:chOff x="0" y="0"/>
          <a:chExt cx="0" cy="0"/>
        </a:xfrm>
      </p:grpSpPr>
      <p:sp>
        <p:nvSpPr>
          <p:cNvPr id="96" name="Google Shape;96;p2">
            <a:extLst>
              <a:ext uri="{FF2B5EF4-FFF2-40B4-BE49-F238E27FC236}">
                <a16:creationId xmlns:a16="http://schemas.microsoft.com/office/drawing/2014/main" id="{01735158-BF3F-4E1D-229F-F3E5CAC686D4}"/>
              </a:ext>
            </a:extLst>
          </p:cNvPr>
          <p:cNvSpPr txBox="1">
            <a:spLocks noGrp="1"/>
          </p:cNvSpPr>
          <p:nvPr>
            <p:ph type="title"/>
          </p:nvPr>
        </p:nvSpPr>
        <p:spPr>
          <a:xfrm>
            <a:off x="170268" y="190105"/>
            <a:ext cx="10329566" cy="768438"/>
          </a:xfrm>
          <a:prstGeom prst="rect">
            <a:avLst/>
          </a:prstGeom>
          <a:noFill/>
          <a:ln>
            <a:noFill/>
          </a:ln>
        </p:spPr>
        <p:txBody>
          <a:bodyPr spcFirstLastPara="1" wrap="square" lIns="91425" tIns="45700" rIns="91425" bIns="45700" anchor="ctr" anchorCtr="0">
            <a:noAutofit/>
          </a:bodyPr>
          <a:lstStyle/>
          <a:p>
            <a:pPr lvl="0">
              <a:buSzPts val="4400"/>
            </a:pPr>
            <a:r>
              <a:rPr lang="pt-BR" sz="2800" b="1" dirty="0">
                <a:latin typeface="+mj-lt"/>
              </a:rPr>
              <a:t>Referências</a:t>
            </a:r>
            <a:endParaRPr sz="2800" b="1" dirty="0">
              <a:latin typeface="+mj-lt"/>
            </a:endParaRPr>
          </a:p>
        </p:txBody>
      </p:sp>
      <p:pic>
        <p:nvPicPr>
          <p:cNvPr id="98" name="Google Shape;98;p2" descr="Universidade Federal da Fronteira Sul – Wikipédia, a enciclopédia livre">
            <a:extLst>
              <a:ext uri="{FF2B5EF4-FFF2-40B4-BE49-F238E27FC236}">
                <a16:creationId xmlns:a16="http://schemas.microsoft.com/office/drawing/2014/main" id="{07E1D863-ACFC-D41C-B779-A356A284E7A8}"/>
              </a:ext>
            </a:extLst>
          </p:cNvPr>
          <p:cNvPicPr preferRelativeResize="0"/>
          <p:nvPr/>
        </p:nvPicPr>
        <p:blipFill rotWithShape="1">
          <a:blip r:embed="rId3">
            <a:alphaModFix/>
          </a:blip>
          <a:srcRect/>
          <a:stretch/>
        </p:blipFill>
        <p:spPr>
          <a:xfrm>
            <a:off x="10978329" y="18255"/>
            <a:ext cx="975614" cy="1325563"/>
          </a:xfrm>
          <a:prstGeom prst="rect">
            <a:avLst/>
          </a:prstGeom>
          <a:noFill/>
          <a:ln>
            <a:noFill/>
          </a:ln>
        </p:spPr>
      </p:pic>
      <p:sp>
        <p:nvSpPr>
          <p:cNvPr id="99" name="Google Shape;99;p2">
            <a:extLst>
              <a:ext uri="{FF2B5EF4-FFF2-40B4-BE49-F238E27FC236}">
                <a16:creationId xmlns:a16="http://schemas.microsoft.com/office/drawing/2014/main" id="{C1B3A47C-E37A-86B1-B6D2-8E58B992DFAA}"/>
              </a:ext>
            </a:extLst>
          </p:cNvPr>
          <p:cNvSpPr/>
          <p:nvPr/>
        </p:nvSpPr>
        <p:spPr>
          <a:xfrm>
            <a:off x="170268" y="958543"/>
            <a:ext cx="10515600" cy="63062"/>
          </a:xfrm>
          <a:prstGeom prst="rect">
            <a:avLst/>
          </a:prstGeom>
          <a:solidFill>
            <a:srgbClr val="548135"/>
          </a:solidFill>
          <a:ln w="12700" cap="flat" cmpd="sng">
            <a:solidFill>
              <a:srgbClr val="1C3052"/>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00" name="Google Shape;100;p2">
            <a:extLst>
              <a:ext uri="{FF2B5EF4-FFF2-40B4-BE49-F238E27FC236}">
                <a16:creationId xmlns:a16="http://schemas.microsoft.com/office/drawing/2014/main" id="{CF7DF50C-ADAB-5B8C-608E-245E5D51BFC0}"/>
              </a:ext>
            </a:extLst>
          </p:cNvPr>
          <p:cNvSpPr txBox="1">
            <a:spLocks noGrp="1"/>
          </p:cNvSpPr>
          <p:nvPr>
            <p:ph type="sldNum" idx="12"/>
          </p:nvPr>
        </p:nvSpPr>
        <p:spPr>
          <a:xfrm>
            <a:off x="9440152" y="6492875"/>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pt-BR" sz="1800"/>
              <a:t>43</a:t>
            </a:fld>
            <a:endParaRPr sz="1800" dirty="0"/>
          </a:p>
        </p:txBody>
      </p:sp>
      <p:sp>
        <p:nvSpPr>
          <p:cNvPr id="3" name="Rectangle 1">
            <a:extLst>
              <a:ext uri="{FF2B5EF4-FFF2-40B4-BE49-F238E27FC236}">
                <a16:creationId xmlns:a16="http://schemas.microsoft.com/office/drawing/2014/main" id="{3D81B61D-6056-2716-6767-3AD134FCA338}"/>
              </a:ext>
            </a:extLst>
          </p:cNvPr>
          <p:cNvSpPr>
            <a:spLocks noChangeArrowheads="1"/>
          </p:cNvSpPr>
          <p:nvPr/>
        </p:nvSpPr>
        <p:spPr bwMode="auto">
          <a:xfrm>
            <a:off x="238057" y="1066365"/>
            <a:ext cx="11530271" cy="569386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lvl="0" eaLnBrk="0" fontAlgn="base" hangingPunct="0">
              <a:spcBef>
                <a:spcPct val="0"/>
              </a:spcBef>
              <a:spcAft>
                <a:spcPct val="0"/>
              </a:spcAft>
              <a:buClrTx/>
            </a:pPr>
            <a:r>
              <a:rPr lang="pt-BR" dirty="0"/>
              <a:t>ALMEIDA, P. R. d. A economia internacional no século XX: um ensaio de síntese. Revista Brasileira de Política Internacional, Centro de Estudos Globais da Universidade de Brasília, v. 44, n. 1, p. 112–136, jan. 2001. ISSN 0034-7329. Disponível em: https://doi.org/10.1590/S0034-73292001000100008.</a:t>
            </a:r>
          </a:p>
          <a:p>
            <a:pPr lvl="0" eaLnBrk="0" fontAlgn="base" hangingPunct="0">
              <a:spcBef>
                <a:spcPct val="0"/>
              </a:spcBef>
              <a:spcAft>
                <a:spcPct val="0"/>
              </a:spcAft>
              <a:buClrTx/>
            </a:pPr>
            <a:r>
              <a:rPr lang="pt-BR" dirty="0"/>
              <a:t>ALVES, A. P. d. A. Núcleo da inflação como fator comum do IPCA: uma abordagem do modelo de fator dinâmico generalizado. Dissertação (Mestrado) – Universidade de São Paulo, 2009.</a:t>
            </a:r>
          </a:p>
          <a:p>
            <a:pPr lvl="0" eaLnBrk="0" fontAlgn="base" hangingPunct="0">
              <a:spcBef>
                <a:spcPct val="0"/>
              </a:spcBef>
              <a:spcAft>
                <a:spcPct val="0"/>
              </a:spcAft>
              <a:buClrTx/>
            </a:pPr>
            <a:r>
              <a:rPr lang="pt-BR" dirty="0"/>
              <a:t>AMARAL, C. P.; SANTOS, D. R. dos; LIMA, E. R.; BARCELLOS, T. Previsão de variáveis econômicas com aprendizado de máquina: previsão com redes neurais. Observatório de la Economía Latinoamericana, v. 21, n. 9, p. 11279–11299, 2023.</a:t>
            </a:r>
          </a:p>
          <a:p>
            <a:pPr lvl="0" eaLnBrk="0" fontAlgn="base" hangingPunct="0">
              <a:spcBef>
                <a:spcPct val="0"/>
              </a:spcBef>
              <a:spcAft>
                <a:spcPct val="0"/>
              </a:spcAft>
              <a:buClrTx/>
            </a:pPr>
            <a:r>
              <a:rPr lang="pt-BR" dirty="0"/>
              <a:t>ASSUNÇÃO, F. Estratégias para tratamento de variáveis com dados faltantes durante o desenvolvimento de modelos preditivos. 2012.</a:t>
            </a:r>
          </a:p>
          <a:p>
            <a:pPr lvl="0" eaLnBrk="0" fontAlgn="base" hangingPunct="0">
              <a:spcBef>
                <a:spcPct val="0"/>
              </a:spcBef>
              <a:spcAft>
                <a:spcPct val="0"/>
              </a:spcAft>
              <a:buClrTx/>
            </a:pPr>
            <a:r>
              <a:rPr lang="pt-BR" dirty="0"/>
              <a:t>AZEVEDO, S. H. A. de. Modelagem de séries temporais macroeconômicas com vetores autorregressivos aumentados com fator e transição suave sob um enfoque bayesiano. Dissertação (Mestrado) – [s.n.], 2020.</a:t>
            </a:r>
          </a:p>
          <a:p>
            <a:pPr lvl="0" eaLnBrk="0" fontAlgn="base" hangingPunct="0">
              <a:spcBef>
                <a:spcPct val="0"/>
              </a:spcBef>
              <a:spcAft>
                <a:spcPct val="0"/>
              </a:spcAft>
              <a:buClrTx/>
            </a:pPr>
            <a:r>
              <a:rPr lang="pt-BR" dirty="0"/>
              <a:t>BACEN, B. C. do B. Portal de Dados Abertos do Banco Central do Brasil. 2025. https://dadosabertos.bcb.gov.br. Acesso em: 16 out. 2025.</a:t>
            </a:r>
          </a:p>
          <a:p>
            <a:pPr lvl="0" eaLnBrk="0" fontAlgn="base" hangingPunct="0">
              <a:spcBef>
                <a:spcPct val="0"/>
              </a:spcBef>
              <a:spcAft>
                <a:spcPct val="0"/>
              </a:spcAft>
              <a:buClrTx/>
            </a:pPr>
            <a:r>
              <a:rPr lang="pt-BR" dirty="0"/>
              <a:t>Banco Central do Brasil. SGS 1207 – Sistema Gerenciador de Séries Temporais. Banco Central do Brasil, 2026. Disponível em: https://dadosabertos.bcb.gov.br/dataset/1207-sgs.</a:t>
            </a:r>
          </a:p>
          <a:p>
            <a:pPr lvl="0" eaLnBrk="0" fontAlgn="base" hangingPunct="0">
              <a:spcBef>
                <a:spcPct val="0"/>
              </a:spcBef>
              <a:spcAft>
                <a:spcPct val="0"/>
              </a:spcAft>
              <a:buClrTx/>
            </a:pPr>
            <a:r>
              <a:rPr lang="pt-BR" dirty="0"/>
              <a:t>BORGES, B. K. Ensaios sobre previsão de séries macroeconômicas para o Brasil utilizando modelos VAR bayesianos. 2018.</a:t>
            </a:r>
          </a:p>
          <a:p>
            <a:pPr lvl="0" eaLnBrk="0" fontAlgn="base" hangingPunct="0">
              <a:spcBef>
                <a:spcPct val="0"/>
              </a:spcBef>
              <a:spcAft>
                <a:spcPct val="0"/>
              </a:spcAft>
              <a:buClrTx/>
            </a:pPr>
            <a:r>
              <a:rPr lang="pt-BR" dirty="0"/>
              <a:t>BOX, G. E.; JENKINS, G. Time Series Analysis: Forecasting and Control. [S. l.]: Holden-Day, 1970.</a:t>
            </a:r>
          </a:p>
          <a:p>
            <a:pPr lvl="0" eaLnBrk="0" fontAlgn="base" hangingPunct="0">
              <a:spcBef>
                <a:spcPct val="0"/>
              </a:spcBef>
              <a:spcAft>
                <a:spcPct val="0"/>
              </a:spcAft>
              <a:buClrTx/>
            </a:pPr>
            <a:r>
              <a:rPr lang="pt-BR" dirty="0"/>
              <a:t>BRAGA, I. A. D. Forecasting do PIB e da Inflação do Brasil: usando técnicas de machine learning. 2025.</a:t>
            </a:r>
          </a:p>
          <a:p>
            <a:pPr lvl="0" eaLnBrk="0" fontAlgn="base" hangingPunct="0">
              <a:spcBef>
                <a:spcPct val="0"/>
              </a:spcBef>
              <a:spcAft>
                <a:spcPct val="0"/>
              </a:spcAft>
              <a:buClrTx/>
            </a:pPr>
            <a:r>
              <a:rPr lang="pt-BR" dirty="0"/>
              <a:t>BREIMAN, L. Random Forests. Machine Learning, Springer, v. 45, n. 1, p. 5–32, 2001.</a:t>
            </a:r>
          </a:p>
          <a:p>
            <a:pPr lvl="0" eaLnBrk="0" fontAlgn="base" hangingPunct="0">
              <a:spcBef>
                <a:spcPct val="0"/>
              </a:spcBef>
              <a:spcAft>
                <a:spcPct val="0"/>
              </a:spcAft>
              <a:buClrTx/>
            </a:pPr>
            <a:r>
              <a:rPr lang="pt-BR" dirty="0"/>
              <a:t>CARMO, C. R. S.; LOPACINSKI, G. P. Modelagem e previsão de fenômenos socioeconômicos: uma análise comparativa entre métodos clássicos e contemporâneos. Revista GeTeC, v. 13, 2023.</a:t>
            </a:r>
          </a:p>
          <a:p>
            <a:pPr lvl="0" eaLnBrk="0" fontAlgn="base" hangingPunct="0">
              <a:spcBef>
                <a:spcPct val="0"/>
              </a:spcBef>
              <a:spcAft>
                <a:spcPct val="0"/>
              </a:spcAft>
              <a:buClrTx/>
            </a:pPr>
            <a:r>
              <a:rPr lang="pt-BR" dirty="0"/>
              <a:t>CASTELLI, A. d. C. Modelo MIDAS de projeção do PIB brasileiro utilizando a Pesquisa Industrial Mensal. 2022.</a:t>
            </a:r>
          </a:p>
          <a:p>
            <a:pPr lvl="0" eaLnBrk="0" fontAlgn="base" hangingPunct="0">
              <a:spcBef>
                <a:spcPct val="0"/>
              </a:spcBef>
              <a:spcAft>
                <a:spcPct val="0"/>
              </a:spcAft>
              <a:buClrTx/>
            </a:pPr>
            <a:r>
              <a:rPr lang="pt-BR" dirty="0"/>
              <a:t>CIQUINI, O.; BORBA, A. A. de; GODEGUEZ, P. A. Modelo ARIMA para decisões econômicas. Proceeding Series of the Brazilian Society of Computational and Applied Mathematics, v. 10, n. 1, 2023.</a:t>
            </a:r>
          </a:p>
          <a:p>
            <a:pPr lvl="0" eaLnBrk="0" fontAlgn="base" hangingPunct="0">
              <a:spcBef>
                <a:spcPct val="0"/>
              </a:spcBef>
              <a:spcAft>
                <a:spcPct val="0"/>
              </a:spcAft>
              <a:buClrTx/>
            </a:pPr>
            <a:r>
              <a:rPr lang="pt-BR" dirty="0"/>
              <a:t>COSTA, H. C. Vector Autoregression (VAR) Tutorial. s.d. Acesso em: 21 abr. 2026. Disponível em: https://rstudio-pubs-static.s3.amazonaws.com/520691_9092a79ca10245b7bd0d5741d51aa6f8.html.</a:t>
            </a:r>
          </a:p>
          <a:p>
            <a:pPr lvl="0" eaLnBrk="0" fontAlgn="base" hangingPunct="0">
              <a:spcBef>
                <a:spcPct val="0"/>
              </a:spcBef>
              <a:spcAft>
                <a:spcPct val="0"/>
              </a:spcAft>
              <a:buClrTx/>
            </a:pPr>
            <a:r>
              <a:rPr lang="pt-BR" dirty="0"/>
              <a:t>DOZ, C.; FULEKY, P. Dynamic Factor Models. In: Macroeconomic Forecasting in the Era of Big Data: Theory and Practice. Springer, p. 27–64, 2019.</a:t>
            </a:r>
          </a:p>
        </p:txBody>
      </p:sp>
    </p:spTree>
    <p:extLst>
      <p:ext uri="{BB962C8B-B14F-4D97-AF65-F5344CB8AC3E}">
        <p14:creationId xmlns:p14="http://schemas.microsoft.com/office/powerpoint/2010/main" val="138188616"/>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Shape 95">
          <a:extLst>
            <a:ext uri="{FF2B5EF4-FFF2-40B4-BE49-F238E27FC236}">
              <a16:creationId xmlns:a16="http://schemas.microsoft.com/office/drawing/2014/main" id="{A247BE5A-81C1-AB80-4E85-ACDE5C379EA2}"/>
            </a:ext>
          </a:extLst>
        </p:cNvPr>
        <p:cNvGrpSpPr/>
        <p:nvPr/>
      </p:nvGrpSpPr>
      <p:grpSpPr>
        <a:xfrm>
          <a:off x="0" y="0"/>
          <a:ext cx="0" cy="0"/>
          <a:chOff x="0" y="0"/>
          <a:chExt cx="0" cy="0"/>
        </a:xfrm>
      </p:grpSpPr>
      <p:sp>
        <p:nvSpPr>
          <p:cNvPr id="96" name="Google Shape;96;p2">
            <a:extLst>
              <a:ext uri="{FF2B5EF4-FFF2-40B4-BE49-F238E27FC236}">
                <a16:creationId xmlns:a16="http://schemas.microsoft.com/office/drawing/2014/main" id="{53EF144D-864B-9F5D-10C7-F4D12E644E84}"/>
              </a:ext>
            </a:extLst>
          </p:cNvPr>
          <p:cNvSpPr txBox="1">
            <a:spLocks noGrp="1"/>
          </p:cNvSpPr>
          <p:nvPr>
            <p:ph type="title"/>
          </p:nvPr>
        </p:nvSpPr>
        <p:spPr>
          <a:xfrm>
            <a:off x="170268" y="190105"/>
            <a:ext cx="10329566" cy="768438"/>
          </a:xfrm>
          <a:prstGeom prst="rect">
            <a:avLst/>
          </a:prstGeom>
          <a:noFill/>
          <a:ln>
            <a:noFill/>
          </a:ln>
        </p:spPr>
        <p:txBody>
          <a:bodyPr spcFirstLastPara="1" wrap="square" lIns="91425" tIns="45700" rIns="91425" bIns="45700" anchor="ctr" anchorCtr="0">
            <a:noAutofit/>
          </a:bodyPr>
          <a:lstStyle/>
          <a:p>
            <a:pPr lvl="0">
              <a:buSzPts val="4400"/>
            </a:pPr>
            <a:r>
              <a:rPr lang="pt-BR" sz="2800" b="1" dirty="0">
                <a:latin typeface="+mj-lt"/>
              </a:rPr>
              <a:t>Referências</a:t>
            </a:r>
            <a:endParaRPr sz="2800" b="1" dirty="0">
              <a:latin typeface="+mj-lt"/>
            </a:endParaRPr>
          </a:p>
        </p:txBody>
      </p:sp>
      <p:pic>
        <p:nvPicPr>
          <p:cNvPr id="98" name="Google Shape;98;p2" descr="Universidade Federal da Fronteira Sul – Wikipédia, a enciclopédia livre">
            <a:extLst>
              <a:ext uri="{FF2B5EF4-FFF2-40B4-BE49-F238E27FC236}">
                <a16:creationId xmlns:a16="http://schemas.microsoft.com/office/drawing/2014/main" id="{D56AC2D8-1D1F-4AC2-7EF8-ABA92E0350ED}"/>
              </a:ext>
            </a:extLst>
          </p:cNvPr>
          <p:cNvPicPr preferRelativeResize="0"/>
          <p:nvPr/>
        </p:nvPicPr>
        <p:blipFill rotWithShape="1">
          <a:blip r:embed="rId3">
            <a:alphaModFix/>
          </a:blip>
          <a:srcRect/>
          <a:stretch/>
        </p:blipFill>
        <p:spPr>
          <a:xfrm>
            <a:off x="10978329" y="18255"/>
            <a:ext cx="975614" cy="1325563"/>
          </a:xfrm>
          <a:prstGeom prst="rect">
            <a:avLst/>
          </a:prstGeom>
          <a:noFill/>
          <a:ln>
            <a:noFill/>
          </a:ln>
        </p:spPr>
      </p:pic>
      <p:sp>
        <p:nvSpPr>
          <p:cNvPr id="99" name="Google Shape;99;p2">
            <a:extLst>
              <a:ext uri="{FF2B5EF4-FFF2-40B4-BE49-F238E27FC236}">
                <a16:creationId xmlns:a16="http://schemas.microsoft.com/office/drawing/2014/main" id="{27FDA2F2-C4F2-859B-66DF-27F74B69C960}"/>
              </a:ext>
            </a:extLst>
          </p:cNvPr>
          <p:cNvSpPr/>
          <p:nvPr/>
        </p:nvSpPr>
        <p:spPr>
          <a:xfrm>
            <a:off x="170268" y="958543"/>
            <a:ext cx="10515600" cy="63062"/>
          </a:xfrm>
          <a:prstGeom prst="rect">
            <a:avLst/>
          </a:prstGeom>
          <a:solidFill>
            <a:srgbClr val="548135"/>
          </a:solidFill>
          <a:ln w="12700" cap="flat" cmpd="sng">
            <a:solidFill>
              <a:srgbClr val="1C3052"/>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00" name="Google Shape;100;p2">
            <a:extLst>
              <a:ext uri="{FF2B5EF4-FFF2-40B4-BE49-F238E27FC236}">
                <a16:creationId xmlns:a16="http://schemas.microsoft.com/office/drawing/2014/main" id="{2F1742F2-EF34-6CB0-839A-C952898DA507}"/>
              </a:ext>
            </a:extLst>
          </p:cNvPr>
          <p:cNvSpPr txBox="1">
            <a:spLocks noGrp="1"/>
          </p:cNvSpPr>
          <p:nvPr>
            <p:ph type="sldNum" idx="12"/>
          </p:nvPr>
        </p:nvSpPr>
        <p:spPr>
          <a:xfrm>
            <a:off x="9440152" y="6492875"/>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pt-BR" sz="1800"/>
              <a:t>44</a:t>
            </a:fld>
            <a:endParaRPr sz="1800" dirty="0"/>
          </a:p>
        </p:txBody>
      </p:sp>
      <p:sp>
        <p:nvSpPr>
          <p:cNvPr id="3" name="Rectangle 1">
            <a:extLst>
              <a:ext uri="{FF2B5EF4-FFF2-40B4-BE49-F238E27FC236}">
                <a16:creationId xmlns:a16="http://schemas.microsoft.com/office/drawing/2014/main" id="{BB4579FC-6E51-9D6F-E763-E0114D5017D4}"/>
              </a:ext>
            </a:extLst>
          </p:cNvPr>
          <p:cNvSpPr>
            <a:spLocks noChangeArrowheads="1"/>
          </p:cNvSpPr>
          <p:nvPr/>
        </p:nvSpPr>
        <p:spPr bwMode="auto">
          <a:xfrm>
            <a:off x="238057" y="1281809"/>
            <a:ext cx="11715886" cy="526297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lvl="0" eaLnBrk="0" fontAlgn="base" hangingPunct="0">
              <a:spcBef>
                <a:spcPct val="0"/>
              </a:spcBef>
              <a:spcAft>
                <a:spcPct val="0"/>
              </a:spcAft>
              <a:buClrTx/>
            </a:pPr>
            <a:r>
              <a:rPr lang="pt-BR" dirty="0"/>
              <a:t>EKMAN, M. Learning Deep Learning: Theory and Practice of Neural Networks, Computer Vision, Natural Language Processing, and Transformers Using TensorFlow. [S. l.]: Addison-Wesley Professional, 2021.</a:t>
            </a:r>
          </a:p>
          <a:p>
            <a:pPr lvl="0" eaLnBrk="0" fontAlgn="base" hangingPunct="0">
              <a:spcBef>
                <a:spcPct val="0"/>
              </a:spcBef>
              <a:spcAft>
                <a:spcPct val="0"/>
              </a:spcAft>
              <a:buClrTx/>
            </a:pPr>
            <a:r>
              <a:rPr lang="pt-BR" dirty="0"/>
              <a:t>FIALHO, T. M. M.; CORDEIRO, L. M. C.; TIMOTIO, J. G. M.; REZENDE, L. P. F. de; BOITRAGO, P. R. P. Incerteza, consumo das famílias no Brasil e spread bancário: uma análise com o vetor autorregressivo (VAR). Universidade Federal de Minas Gerais, 2024.</a:t>
            </a:r>
          </a:p>
          <a:p>
            <a:pPr lvl="0" eaLnBrk="0" fontAlgn="base" hangingPunct="0">
              <a:spcBef>
                <a:spcPct val="0"/>
              </a:spcBef>
              <a:spcAft>
                <a:spcPct val="0"/>
              </a:spcAft>
              <a:buClrTx/>
            </a:pPr>
            <a:r>
              <a:rPr lang="pt-BR" dirty="0"/>
              <a:t>FRISCH, R. Statikk og dynamikk i den økonomiske teori. Nationaløkonomisk Tidsskrift, v. 37, 1929. Disponível em: https://tidsskrift.dk/nationaloekonomisktidsskrift/article/download/57252/77814.</a:t>
            </a:r>
          </a:p>
          <a:p>
            <a:pPr lvl="0" eaLnBrk="0" fontAlgn="base" hangingPunct="0">
              <a:spcBef>
                <a:spcPct val="0"/>
              </a:spcBef>
              <a:spcAft>
                <a:spcPct val="0"/>
              </a:spcAft>
              <a:buClrTx/>
            </a:pPr>
            <a:r>
              <a:rPr lang="pt-BR" dirty="0"/>
              <a:t>GEWEKE, J. The Dynamic Factor Analysis of Economic Time Series. In: Latent Variables in Socio-Economic Models. North-Holland, 1977.</a:t>
            </a:r>
          </a:p>
          <a:p>
            <a:pPr lvl="0" eaLnBrk="0" fontAlgn="base" hangingPunct="0">
              <a:spcBef>
                <a:spcPct val="0"/>
              </a:spcBef>
              <a:spcAft>
                <a:spcPct val="0"/>
              </a:spcAft>
              <a:buClrTx/>
            </a:pPr>
            <a:r>
              <a:rPr lang="pt-BR" dirty="0"/>
              <a:t>GHOSH, S.; RANJAN, A. A Machine Learning Approach to GDP Nowcasting: An Emerging Market Experience. Bulletin of Monetary Economics and Banking, v. 26, p. 33–54, 2023.</a:t>
            </a:r>
          </a:p>
          <a:p>
            <a:pPr lvl="0" eaLnBrk="0" fontAlgn="base" hangingPunct="0">
              <a:spcBef>
                <a:spcPct val="0"/>
              </a:spcBef>
              <a:spcAft>
                <a:spcPct val="0"/>
              </a:spcAft>
              <a:buClrTx/>
            </a:pPr>
            <a:r>
              <a:rPr lang="pt-BR" dirty="0"/>
              <a:t>GHYSELS, E.; SANTA-CLARA, P.; VALKANOV, R. The MIDAS Touch: Mixed Data Sampling Regression Models. [S. l.], 2004.</a:t>
            </a:r>
          </a:p>
          <a:p>
            <a:pPr lvl="0" eaLnBrk="0" fontAlgn="base" hangingPunct="0">
              <a:spcBef>
                <a:spcPct val="0"/>
              </a:spcBef>
              <a:spcAft>
                <a:spcPct val="0"/>
              </a:spcAft>
              <a:buClrTx/>
            </a:pPr>
            <a:r>
              <a:rPr lang="pt-BR" dirty="0"/>
              <a:t>GIL, A. C. Como Elaborar Projetos de Pesquisa. 4. ed. São Paulo: Atlas, 2002.</a:t>
            </a:r>
          </a:p>
          <a:p>
            <a:pPr lvl="0" eaLnBrk="0" fontAlgn="base" hangingPunct="0">
              <a:spcBef>
                <a:spcPct val="0"/>
              </a:spcBef>
              <a:spcAft>
                <a:spcPct val="0"/>
              </a:spcAft>
              <a:buClrTx/>
            </a:pPr>
            <a:r>
              <a:rPr lang="pt-BR" dirty="0"/>
              <a:t>IBGE. API de Dados Agregados do IBGE. 2025. https://servicodados.ibge.gov.br/api/v3/agregados. Acesso em: 16 out. 2025.</a:t>
            </a:r>
          </a:p>
          <a:p>
            <a:pPr lvl="0" eaLnBrk="0" fontAlgn="base" hangingPunct="0">
              <a:spcBef>
                <a:spcPct val="0"/>
              </a:spcBef>
              <a:spcAft>
                <a:spcPct val="0"/>
              </a:spcAft>
              <a:buClrTx/>
            </a:pPr>
            <a:r>
              <a:rPr lang="pt-BR" dirty="0"/>
              <a:t>IBGE. Deflator do Produto Interno Bruto – Séries Históricas. 2025. https://seriesestatisticas.ibge.gov.br/series.aspx?t=pib&amp;vcodigo=scn54. Acesso em: 16 out. 2025.</a:t>
            </a:r>
          </a:p>
          <a:p>
            <a:pPr lvl="0" eaLnBrk="0" fontAlgn="base" hangingPunct="0">
              <a:spcBef>
                <a:spcPct val="0"/>
              </a:spcBef>
              <a:spcAft>
                <a:spcPct val="0"/>
              </a:spcAft>
              <a:buClrTx/>
            </a:pPr>
            <a:r>
              <a:rPr lang="pt-BR" dirty="0"/>
              <a:t>IBGE. O que é o PIB? 2026. Disponível em: https://www.ibge.gov.br/explica/pib.php. Acesso em: 11 abr. 2026.</a:t>
            </a:r>
          </a:p>
          <a:p>
            <a:pPr lvl="0" eaLnBrk="0" fontAlgn="base" hangingPunct="0">
              <a:spcBef>
                <a:spcPct val="0"/>
              </a:spcBef>
              <a:spcAft>
                <a:spcPct val="0"/>
              </a:spcAft>
              <a:buClrTx/>
            </a:pPr>
            <a:r>
              <a:rPr lang="pt-BR" dirty="0"/>
              <a:t>JÚNIOR, M. F. F. A terceira revolução industrial e o novo paradigma produtivo: algumas considerações sobre o desenvolvimento industrial brasileiro nos anos 90. Revista da FAE, v. 3, n. 2, fev. 2017. Disponível em: https://revistafae.fae.edu/revistafae/article/view/501.</a:t>
            </a:r>
          </a:p>
          <a:p>
            <a:pPr lvl="0" eaLnBrk="0" fontAlgn="base" hangingPunct="0">
              <a:spcBef>
                <a:spcPct val="0"/>
              </a:spcBef>
              <a:spcAft>
                <a:spcPct val="0"/>
              </a:spcAft>
              <a:buClrTx/>
            </a:pPr>
            <a:r>
              <a:rPr lang="pt-BR" dirty="0"/>
              <a:t>KAGERMANN, H.; WAHLSTER, W.; HELBIG, J. et al. Recommendations for Implementing the Strategic Initiative Industrie 4.0: Final Report of the Industrie 4.0 Working Group. Forschungsunion, Berlin, p. 12–25, 2013.</a:t>
            </a:r>
          </a:p>
          <a:p>
            <a:pPr lvl="0" eaLnBrk="0" fontAlgn="base" hangingPunct="0">
              <a:spcBef>
                <a:spcPct val="0"/>
              </a:spcBef>
              <a:spcAft>
                <a:spcPct val="0"/>
              </a:spcAft>
              <a:buClrTx/>
            </a:pPr>
            <a:r>
              <a:rPr lang="pt-BR" dirty="0"/>
              <a:t>KAVA, L. E. Além da Caixa Preta: aprendizagem de máquina interpretável para previsão de séries temporais macroeconômicas brasileiras. Dissertação (Mestrado) – Universidade Federal de Santa Catarina, 2022.</a:t>
            </a:r>
          </a:p>
          <a:p>
            <a:pPr lvl="0" eaLnBrk="0" fontAlgn="base" hangingPunct="0">
              <a:spcBef>
                <a:spcPct val="0"/>
              </a:spcBef>
              <a:spcAft>
                <a:spcPct val="0"/>
              </a:spcAft>
              <a:buClrTx/>
            </a:pPr>
            <a:r>
              <a:rPr lang="pt-BR" dirty="0"/>
              <a:t>KEYNES, J. M. A Teoria Geral do Emprego, do Juro e da Moeda. [S. l.]: Atlas, 1936.</a:t>
            </a:r>
          </a:p>
          <a:p>
            <a:pPr lvl="0" eaLnBrk="0" fontAlgn="base" hangingPunct="0">
              <a:spcBef>
                <a:spcPct val="0"/>
              </a:spcBef>
              <a:spcAft>
                <a:spcPct val="0"/>
              </a:spcAft>
              <a:buClrTx/>
            </a:pPr>
            <a:r>
              <a:rPr lang="pt-BR" dirty="0"/>
              <a:t>KILKENNY, M. F.; ROBINSON, K. M. Data Quality: "Garbage In – Garbage Out". Health Information Management Journal, v. 47, n. 3, p. 103–105, 2018.</a:t>
            </a:r>
          </a:p>
        </p:txBody>
      </p:sp>
    </p:spTree>
    <p:extLst>
      <p:ext uri="{BB962C8B-B14F-4D97-AF65-F5344CB8AC3E}">
        <p14:creationId xmlns:p14="http://schemas.microsoft.com/office/powerpoint/2010/main" val="1880418909"/>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Shape 95">
          <a:extLst>
            <a:ext uri="{FF2B5EF4-FFF2-40B4-BE49-F238E27FC236}">
              <a16:creationId xmlns:a16="http://schemas.microsoft.com/office/drawing/2014/main" id="{E9F28CDD-231C-B24F-1F0E-56BA953A0380}"/>
            </a:ext>
          </a:extLst>
        </p:cNvPr>
        <p:cNvGrpSpPr/>
        <p:nvPr/>
      </p:nvGrpSpPr>
      <p:grpSpPr>
        <a:xfrm>
          <a:off x="0" y="0"/>
          <a:ext cx="0" cy="0"/>
          <a:chOff x="0" y="0"/>
          <a:chExt cx="0" cy="0"/>
        </a:xfrm>
      </p:grpSpPr>
      <p:sp>
        <p:nvSpPr>
          <p:cNvPr id="96" name="Google Shape;96;p2">
            <a:extLst>
              <a:ext uri="{FF2B5EF4-FFF2-40B4-BE49-F238E27FC236}">
                <a16:creationId xmlns:a16="http://schemas.microsoft.com/office/drawing/2014/main" id="{A45C4F6D-85DE-B9EB-38A4-21F87667C933}"/>
              </a:ext>
            </a:extLst>
          </p:cNvPr>
          <p:cNvSpPr txBox="1">
            <a:spLocks noGrp="1"/>
          </p:cNvSpPr>
          <p:nvPr>
            <p:ph type="title"/>
          </p:nvPr>
        </p:nvSpPr>
        <p:spPr>
          <a:xfrm>
            <a:off x="170268" y="190105"/>
            <a:ext cx="10329566" cy="768438"/>
          </a:xfrm>
          <a:prstGeom prst="rect">
            <a:avLst/>
          </a:prstGeom>
          <a:noFill/>
          <a:ln>
            <a:noFill/>
          </a:ln>
        </p:spPr>
        <p:txBody>
          <a:bodyPr spcFirstLastPara="1" wrap="square" lIns="91425" tIns="45700" rIns="91425" bIns="45700" anchor="ctr" anchorCtr="0">
            <a:noAutofit/>
          </a:bodyPr>
          <a:lstStyle/>
          <a:p>
            <a:pPr lvl="0">
              <a:buSzPts val="4400"/>
            </a:pPr>
            <a:r>
              <a:rPr lang="pt-BR" sz="2800" b="1" dirty="0">
                <a:latin typeface="+mj-lt"/>
              </a:rPr>
              <a:t>Referências</a:t>
            </a:r>
            <a:endParaRPr sz="2800" b="1" dirty="0">
              <a:latin typeface="+mj-lt"/>
            </a:endParaRPr>
          </a:p>
        </p:txBody>
      </p:sp>
      <p:pic>
        <p:nvPicPr>
          <p:cNvPr id="98" name="Google Shape;98;p2" descr="Universidade Federal da Fronteira Sul – Wikipédia, a enciclopédia livre">
            <a:extLst>
              <a:ext uri="{FF2B5EF4-FFF2-40B4-BE49-F238E27FC236}">
                <a16:creationId xmlns:a16="http://schemas.microsoft.com/office/drawing/2014/main" id="{87AD36FC-C23B-7273-B520-D1FC03579954}"/>
              </a:ext>
            </a:extLst>
          </p:cNvPr>
          <p:cNvPicPr preferRelativeResize="0"/>
          <p:nvPr/>
        </p:nvPicPr>
        <p:blipFill rotWithShape="1">
          <a:blip r:embed="rId3">
            <a:alphaModFix/>
          </a:blip>
          <a:srcRect/>
          <a:stretch/>
        </p:blipFill>
        <p:spPr>
          <a:xfrm>
            <a:off x="10978329" y="18255"/>
            <a:ext cx="975614" cy="1325563"/>
          </a:xfrm>
          <a:prstGeom prst="rect">
            <a:avLst/>
          </a:prstGeom>
          <a:noFill/>
          <a:ln>
            <a:noFill/>
          </a:ln>
        </p:spPr>
      </p:pic>
      <p:sp>
        <p:nvSpPr>
          <p:cNvPr id="99" name="Google Shape;99;p2">
            <a:extLst>
              <a:ext uri="{FF2B5EF4-FFF2-40B4-BE49-F238E27FC236}">
                <a16:creationId xmlns:a16="http://schemas.microsoft.com/office/drawing/2014/main" id="{8D22C317-FD30-E65C-4C5A-BFC293E8C187}"/>
              </a:ext>
            </a:extLst>
          </p:cNvPr>
          <p:cNvSpPr/>
          <p:nvPr/>
        </p:nvSpPr>
        <p:spPr>
          <a:xfrm>
            <a:off x="170268" y="958543"/>
            <a:ext cx="10515600" cy="63062"/>
          </a:xfrm>
          <a:prstGeom prst="rect">
            <a:avLst/>
          </a:prstGeom>
          <a:solidFill>
            <a:srgbClr val="548135"/>
          </a:solidFill>
          <a:ln w="12700" cap="flat" cmpd="sng">
            <a:solidFill>
              <a:srgbClr val="1C3052"/>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00" name="Google Shape;100;p2">
            <a:extLst>
              <a:ext uri="{FF2B5EF4-FFF2-40B4-BE49-F238E27FC236}">
                <a16:creationId xmlns:a16="http://schemas.microsoft.com/office/drawing/2014/main" id="{4E8743BA-F846-7028-6C8C-ECE36F1168AF}"/>
              </a:ext>
            </a:extLst>
          </p:cNvPr>
          <p:cNvSpPr txBox="1">
            <a:spLocks noGrp="1"/>
          </p:cNvSpPr>
          <p:nvPr>
            <p:ph type="sldNum" idx="12"/>
          </p:nvPr>
        </p:nvSpPr>
        <p:spPr>
          <a:xfrm>
            <a:off x="9440152" y="6492875"/>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pt-BR" sz="1800"/>
              <a:t>45</a:t>
            </a:fld>
            <a:endParaRPr sz="1800" dirty="0"/>
          </a:p>
        </p:txBody>
      </p:sp>
      <p:sp>
        <p:nvSpPr>
          <p:cNvPr id="3" name="Rectangle 1">
            <a:extLst>
              <a:ext uri="{FF2B5EF4-FFF2-40B4-BE49-F238E27FC236}">
                <a16:creationId xmlns:a16="http://schemas.microsoft.com/office/drawing/2014/main" id="{D9E77CFB-89BF-1791-3320-C1E37FD35F1E}"/>
              </a:ext>
            </a:extLst>
          </p:cNvPr>
          <p:cNvSpPr>
            <a:spLocks noChangeArrowheads="1"/>
          </p:cNvSpPr>
          <p:nvPr/>
        </p:nvSpPr>
        <p:spPr bwMode="auto">
          <a:xfrm>
            <a:off x="238057" y="1174087"/>
            <a:ext cx="11715886" cy="547842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lvl="0" eaLnBrk="0" fontAlgn="base" hangingPunct="0">
              <a:spcBef>
                <a:spcPct val="0"/>
              </a:spcBef>
              <a:spcAft>
                <a:spcPct val="0"/>
              </a:spcAft>
              <a:buClrTx/>
            </a:pPr>
            <a:r>
              <a:rPr lang="pt-BR" dirty="0"/>
              <a:t>KOOP, G.; MCINTYRE, S.; MITCHELL, J.; RAFTAPOSTOLOS, A. Monthly GDP Growth Estimates for the U.S. States. 2025. Disponível em: https://arxiv.org/abs/2501.04607.</a:t>
            </a:r>
          </a:p>
          <a:p>
            <a:pPr lvl="0" eaLnBrk="0" fontAlgn="base" hangingPunct="0">
              <a:spcBef>
                <a:spcPct val="0"/>
              </a:spcBef>
              <a:spcAft>
                <a:spcPct val="0"/>
              </a:spcAft>
              <a:buClrTx/>
            </a:pPr>
            <a:r>
              <a:rPr lang="pt-BR" dirty="0"/>
              <a:t>LAKATOS, E. M.; MARCONI, M. de A. Fundamentos de Metodologia Científica. 5. ed. São Paulo: Atlas, 2003.</a:t>
            </a:r>
          </a:p>
          <a:p>
            <a:pPr lvl="0" eaLnBrk="0" fontAlgn="base" hangingPunct="0">
              <a:spcBef>
                <a:spcPct val="0"/>
              </a:spcBef>
              <a:spcAft>
                <a:spcPct val="0"/>
              </a:spcAft>
              <a:buClrTx/>
            </a:pPr>
            <a:r>
              <a:rPr lang="pt-BR" dirty="0"/>
              <a:t>LANDOWSKA, A.; KŁOPOTEK, R. A.; FILIP, D.; RACZKOWSKI, K. GDP-GFCF Dynamics Across Global Economies: A Comparative Study of Panel Regressions and Random Forest. 2025. Disponível em: https://arxiv.org/abs/2504.20993.</a:t>
            </a:r>
          </a:p>
          <a:p>
            <a:pPr lvl="0" eaLnBrk="0" fontAlgn="base" hangingPunct="0">
              <a:spcBef>
                <a:spcPct val="0"/>
              </a:spcBef>
              <a:spcAft>
                <a:spcPct val="0"/>
              </a:spcAft>
              <a:buClrTx/>
            </a:pPr>
            <a:r>
              <a:rPr lang="pt-BR" dirty="0"/>
              <a:t>LAUDON, K.; LAUDON, J. Sistemas de Informação Gerenciais: Administrando a Empresa Digital. Bookman, 2022.</a:t>
            </a:r>
          </a:p>
          <a:p>
            <a:pPr lvl="0" eaLnBrk="0" fontAlgn="base" hangingPunct="0">
              <a:spcBef>
                <a:spcPct val="0"/>
              </a:spcBef>
              <a:spcAft>
                <a:spcPct val="0"/>
              </a:spcAft>
              <a:buClrTx/>
            </a:pPr>
            <a:r>
              <a:rPr lang="pt-BR" dirty="0"/>
              <a:t>LEMOS, D. C. d. A.; SOUZA, S. A. d. Atas do COPOM como fonte de previsão do PIB: uma aplicação de processamento de linguagem natural. In: Nome do Evento. Cidade: [S. n.], 2025.</a:t>
            </a:r>
          </a:p>
          <a:p>
            <a:pPr lvl="0" eaLnBrk="0" fontAlgn="base" hangingPunct="0">
              <a:spcBef>
                <a:spcPct val="0"/>
              </a:spcBef>
              <a:spcAft>
                <a:spcPct val="0"/>
              </a:spcAft>
              <a:buClrTx/>
            </a:pPr>
            <a:r>
              <a:rPr lang="pt-BR" dirty="0"/>
              <a:t>LI, K. Forecasting US GDP from 1960 to 2023 Using PCA. 2024. Disponível em: http://dissertations.umi.com/ucla:23601.</a:t>
            </a:r>
          </a:p>
          <a:p>
            <a:pPr lvl="0" eaLnBrk="0" fontAlgn="base" hangingPunct="0">
              <a:spcBef>
                <a:spcPct val="0"/>
              </a:spcBef>
              <a:spcAft>
                <a:spcPct val="0"/>
              </a:spcAft>
              <a:buClrTx/>
            </a:pPr>
            <a:r>
              <a:rPr lang="pt-BR" dirty="0"/>
              <a:t>MANKIW, N. G. Introdução à Economia. [S. l.]: Bookman, 2025.</a:t>
            </a:r>
          </a:p>
          <a:p>
            <a:pPr lvl="0" eaLnBrk="0" fontAlgn="base" hangingPunct="0">
              <a:spcBef>
                <a:spcPct val="0"/>
              </a:spcBef>
              <a:spcAft>
                <a:spcPct val="0"/>
              </a:spcAft>
              <a:buClrTx/>
            </a:pPr>
            <a:r>
              <a:rPr lang="pt-BR" dirty="0"/>
              <a:t>MARTINS, G. S. Indústria 4.0: contribuições tecnológicas para a quarta revolução industrial. [S. l.], 2021.</a:t>
            </a:r>
          </a:p>
          <a:p>
            <a:pPr lvl="0" eaLnBrk="0" fontAlgn="base" hangingPunct="0">
              <a:spcBef>
                <a:spcPct val="0"/>
              </a:spcBef>
              <a:spcAft>
                <a:spcPct val="0"/>
              </a:spcAft>
              <a:buClrTx/>
            </a:pPr>
            <a:r>
              <a:rPr lang="pt-BR" dirty="0"/>
              <a:t>MCKINNEY, W. Data Structures for Statistical Computing in Python. Proceedings of the 9th Python in Science Conference, p. 51–56, 2010. Disponível em: https://doi.org/10.25080/Majora-92bf1922-00a.</a:t>
            </a:r>
          </a:p>
          <a:p>
            <a:pPr lvl="0" eaLnBrk="0" fontAlgn="base" hangingPunct="0">
              <a:spcBef>
                <a:spcPct val="0"/>
              </a:spcBef>
              <a:spcAft>
                <a:spcPct val="0"/>
              </a:spcAft>
              <a:buClrTx/>
            </a:pPr>
            <a:r>
              <a:rPr lang="pt-BR" dirty="0"/>
              <a:t>MICHELETTI, A. D. Avaliação de um modelo ensemble stacking de machine learning para previsão do PIB do Brasil. 2024.</a:t>
            </a:r>
          </a:p>
          <a:p>
            <a:pPr lvl="0" eaLnBrk="0" fontAlgn="base" hangingPunct="0">
              <a:spcBef>
                <a:spcPct val="0"/>
              </a:spcBef>
              <a:spcAft>
                <a:spcPct val="0"/>
              </a:spcAft>
              <a:buClrTx/>
            </a:pPr>
            <a:r>
              <a:rPr lang="pt-BR" dirty="0"/>
              <a:t>MINSKY, M.; PAPERT, S. Perceptrons: An Introduction to Computational Geometry. [S. l.]: MIT Press, 1969.</a:t>
            </a:r>
          </a:p>
          <a:p>
            <a:pPr lvl="0" eaLnBrk="0" fontAlgn="base" hangingPunct="0">
              <a:spcBef>
                <a:spcPct val="0"/>
              </a:spcBef>
              <a:spcAft>
                <a:spcPct val="0"/>
              </a:spcAft>
              <a:buClrTx/>
            </a:pPr>
            <a:r>
              <a:rPr lang="pt-BR" dirty="0"/>
              <a:t>MOURA, B. A.; TIRYAKI, G. F.; TEIXEIRA, D. N. Fragilidade fiscal e os ciclos econômicos no Brasil pós-Plano Real: evidências de um modelo de fator dinâmico associado à análise VAR. Nova Economia, v. 30, n. 2, p. 517–549, 2020.</a:t>
            </a:r>
          </a:p>
          <a:p>
            <a:pPr lvl="0" eaLnBrk="0" fontAlgn="base" hangingPunct="0">
              <a:spcBef>
                <a:spcPct val="0"/>
              </a:spcBef>
              <a:spcAft>
                <a:spcPct val="0"/>
              </a:spcAft>
              <a:buClrTx/>
            </a:pPr>
            <a:r>
              <a:rPr lang="pt-BR" dirty="0"/>
              <a:t>OLIVEIRA, M. C.; JUNIOR, S. d. S. P. Gastos Públicos com Infraestrutura e Disparidades Regionais: impactos no PIB per capita das regiões Sul e Nordeste do Brasil. Natal, RN, 2024.</a:t>
            </a:r>
          </a:p>
          <a:p>
            <a:pPr lvl="0" eaLnBrk="0" fontAlgn="base" hangingPunct="0">
              <a:spcBef>
                <a:spcPct val="0"/>
              </a:spcBef>
              <a:spcAft>
                <a:spcPct val="0"/>
              </a:spcAft>
              <a:buClrTx/>
            </a:pPr>
            <a:r>
              <a:rPr lang="pt-BR" dirty="0"/>
              <a:t>PYTHON. Python Language Reference, version 3.12. [S. l.], 2023. Disponível em: https://www.python.org/doc/. Acesso em: 16 out. 2025.</a:t>
            </a:r>
          </a:p>
          <a:p>
            <a:pPr lvl="0" eaLnBrk="0" fontAlgn="base" hangingPunct="0">
              <a:spcBef>
                <a:spcPct val="0"/>
              </a:spcBef>
              <a:spcAft>
                <a:spcPct val="0"/>
              </a:spcAft>
              <a:buClrTx/>
            </a:pPr>
            <a:r>
              <a:rPr lang="pt-BR" dirty="0"/>
              <a:t>REBELO, M. A. C. Interpretabilidade de Modelos Machine Learning para a Previsão Macroeconómica. Dissertação (Mestrado) – Universidade de Lisboa, 2022.</a:t>
            </a:r>
          </a:p>
          <a:p>
            <a:pPr lvl="0" eaLnBrk="0" fontAlgn="base" hangingPunct="0">
              <a:spcBef>
                <a:spcPct val="0"/>
              </a:spcBef>
              <a:spcAft>
                <a:spcPct val="0"/>
              </a:spcAft>
              <a:buClrTx/>
            </a:pPr>
            <a:r>
              <a:rPr lang="pt-BR" dirty="0"/>
              <a:t>ROSA, Y. C. d. Efeito Dinâmico dos Gastos Tributários sobre a Produtividade Total dos Fatores no Brasil. IDP, 2025.</a:t>
            </a:r>
          </a:p>
          <a:p>
            <a:pPr lvl="0" eaLnBrk="0" fontAlgn="base" hangingPunct="0">
              <a:spcBef>
                <a:spcPct val="0"/>
              </a:spcBef>
              <a:spcAft>
                <a:spcPct val="0"/>
              </a:spcAft>
              <a:buClrTx/>
            </a:pPr>
            <a:r>
              <a:rPr lang="pt-BR" dirty="0"/>
              <a:t>ROSENBLATT, F. The Perceptron: A Probabilistic Model for Information Storage and Organization in the Brain. Psychological Review, v. 65, n. 6, p. 386, 1958.</a:t>
            </a:r>
          </a:p>
        </p:txBody>
      </p:sp>
    </p:spTree>
    <p:extLst>
      <p:ext uri="{BB962C8B-B14F-4D97-AF65-F5344CB8AC3E}">
        <p14:creationId xmlns:p14="http://schemas.microsoft.com/office/powerpoint/2010/main" val="3142993385"/>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Shape 95">
          <a:extLst>
            <a:ext uri="{FF2B5EF4-FFF2-40B4-BE49-F238E27FC236}">
              <a16:creationId xmlns:a16="http://schemas.microsoft.com/office/drawing/2014/main" id="{0F1CA930-D835-832F-65F1-1E2C178D85CB}"/>
            </a:ext>
          </a:extLst>
        </p:cNvPr>
        <p:cNvGrpSpPr/>
        <p:nvPr/>
      </p:nvGrpSpPr>
      <p:grpSpPr>
        <a:xfrm>
          <a:off x="0" y="0"/>
          <a:ext cx="0" cy="0"/>
          <a:chOff x="0" y="0"/>
          <a:chExt cx="0" cy="0"/>
        </a:xfrm>
      </p:grpSpPr>
      <p:sp>
        <p:nvSpPr>
          <p:cNvPr id="96" name="Google Shape;96;p2">
            <a:extLst>
              <a:ext uri="{FF2B5EF4-FFF2-40B4-BE49-F238E27FC236}">
                <a16:creationId xmlns:a16="http://schemas.microsoft.com/office/drawing/2014/main" id="{95563690-368D-A2A9-9C0E-6746031B6067}"/>
              </a:ext>
            </a:extLst>
          </p:cNvPr>
          <p:cNvSpPr txBox="1">
            <a:spLocks noGrp="1"/>
          </p:cNvSpPr>
          <p:nvPr>
            <p:ph type="title"/>
          </p:nvPr>
        </p:nvSpPr>
        <p:spPr>
          <a:xfrm>
            <a:off x="170268" y="190105"/>
            <a:ext cx="10329566" cy="768438"/>
          </a:xfrm>
          <a:prstGeom prst="rect">
            <a:avLst/>
          </a:prstGeom>
          <a:noFill/>
          <a:ln>
            <a:noFill/>
          </a:ln>
        </p:spPr>
        <p:txBody>
          <a:bodyPr spcFirstLastPara="1" wrap="square" lIns="91425" tIns="45700" rIns="91425" bIns="45700" anchor="ctr" anchorCtr="0">
            <a:noAutofit/>
          </a:bodyPr>
          <a:lstStyle/>
          <a:p>
            <a:pPr lvl="0">
              <a:buSzPts val="4400"/>
            </a:pPr>
            <a:r>
              <a:rPr lang="pt-BR" sz="2800" b="1" dirty="0">
                <a:latin typeface="+mj-lt"/>
              </a:rPr>
              <a:t>Referências</a:t>
            </a:r>
            <a:endParaRPr sz="2800" b="1" dirty="0">
              <a:latin typeface="+mj-lt"/>
            </a:endParaRPr>
          </a:p>
        </p:txBody>
      </p:sp>
      <p:pic>
        <p:nvPicPr>
          <p:cNvPr id="98" name="Google Shape;98;p2" descr="Universidade Federal da Fronteira Sul – Wikipédia, a enciclopédia livre">
            <a:extLst>
              <a:ext uri="{FF2B5EF4-FFF2-40B4-BE49-F238E27FC236}">
                <a16:creationId xmlns:a16="http://schemas.microsoft.com/office/drawing/2014/main" id="{1D23F5DB-1861-DC34-793B-7D0043DA6D3E}"/>
              </a:ext>
            </a:extLst>
          </p:cNvPr>
          <p:cNvPicPr preferRelativeResize="0"/>
          <p:nvPr/>
        </p:nvPicPr>
        <p:blipFill rotWithShape="1">
          <a:blip r:embed="rId3">
            <a:alphaModFix/>
          </a:blip>
          <a:srcRect/>
          <a:stretch/>
        </p:blipFill>
        <p:spPr>
          <a:xfrm>
            <a:off x="10978329" y="18255"/>
            <a:ext cx="975614" cy="1325563"/>
          </a:xfrm>
          <a:prstGeom prst="rect">
            <a:avLst/>
          </a:prstGeom>
          <a:noFill/>
          <a:ln>
            <a:noFill/>
          </a:ln>
        </p:spPr>
      </p:pic>
      <p:sp>
        <p:nvSpPr>
          <p:cNvPr id="99" name="Google Shape;99;p2">
            <a:extLst>
              <a:ext uri="{FF2B5EF4-FFF2-40B4-BE49-F238E27FC236}">
                <a16:creationId xmlns:a16="http://schemas.microsoft.com/office/drawing/2014/main" id="{44904156-2707-B48A-7ACC-C95ECA2A692B}"/>
              </a:ext>
            </a:extLst>
          </p:cNvPr>
          <p:cNvSpPr/>
          <p:nvPr/>
        </p:nvSpPr>
        <p:spPr>
          <a:xfrm>
            <a:off x="170268" y="958543"/>
            <a:ext cx="10515600" cy="63062"/>
          </a:xfrm>
          <a:prstGeom prst="rect">
            <a:avLst/>
          </a:prstGeom>
          <a:solidFill>
            <a:srgbClr val="548135"/>
          </a:solidFill>
          <a:ln w="12700" cap="flat" cmpd="sng">
            <a:solidFill>
              <a:srgbClr val="1C3052"/>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00" name="Google Shape;100;p2">
            <a:extLst>
              <a:ext uri="{FF2B5EF4-FFF2-40B4-BE49-F238E27FC236}">
                <a16:creationId xmlns:a16="http://schemas.microsoft.com/office/drawing/2014/main" id="{09E09FD0-3045-3A25-5A99-31CDC0527284}"/>
              </a:ext>
            </a:extLst>
          </p:cNvPr>
          <p:cNvSpPr txBox="1">
            <a:spLocks noGrp="1"/>
          </p:cNvSpPr>
          <p:nvPr>
            <p:ph type="sldNum" idx="12"/>
          </p:nvPr>
        </p:nvSpPr>
        <p:spPr>
          <a:xfrm>
            <a:off x="9440152" y="6492875"/>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pt-BR" sz="1800"/>
              <a:t>46</a:t>
            </a:fld>
            <a:endParaRPr sz="1800" dirty="0"/>
          </a:p>
        </p:txBody>
      </p:sp>
      <p:sp>
        <p:nvSpPr>
          <p:cNvPr id="3" name="Rectangle 1">
            <a:extLst>
              <a:ext uri="{FF2B5EF4-FFF2-40B4-BE49-F238E27FC236}">
                <a16:creationId xmlns:a16="http://schemas.microsoft.com/office/drawing/2014/main" id="{5A991CD8-5CDF-ECB4-A9C2-227F767F3C26}"/>
              </a:ext>
            </a:extLst>
          </p:cNvPr>
          <p:cNvSpPr>
            <a:spLocks noChangeArrowheads="1"/>
          </p:cNvSpPr>
          <p:nvPr/>
        </p:nvSpPr>
        <p:spPr bwMode="auto">
          <a:xfrm>
            <a:off x="170268" y="1343818"/>
            <a:ext cx="11715886" cy="33239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lvl="0" eaLnBrk="0" fontAlgn="base" hangingPunct="0">
              <a:spcBef>
                <a:spcPct val="0"/>
              </a:spcBef>
              <a:spcAft>
                <a:spcPct val="0"/>
              </a:spcAft>
              <a:buClrTx/>
            </a:pPr>
            <a:r>
              <a:rPr lang="pt-BR" dirty="0"/>
              <a:t>RUMELHART, D. E.; HINTON, G. E.; WILLIAMS, R. J. Learning Representations by Back-Propagating Errors. Nature, v. 323, n. 6088, p. 533–536, 1986.</a:t>
            </a:r>
          </a:p>
          <a:p>
            <a:pPr lvl="0" eaLnBrk="0" fontAlgn="base" hangingPunct="0">
              <a:spcBef>
                <a:spcPct val="0"/>
              </a:spcBef>
              <a:spcAft>
                <a:spcPct val="0"/>
              </a:spcAft>
              <a:buClrTx/>
            </a:pPr>
            <a:r>
              <a:rPr lang="pt-BR" dirty="0"/>
              <a:t>SANTANA, A. A.; SILVA, C. R. da; TIMOTEO, L. C. da S.; OLIVEIRA, R. M. de; NARCISO, R. Aprimorando a tomada de decisões empresariais: o papel dos dados, análises de negócios e novas tecnologias. Revista Ilustração, v. 4, n. 2, p. 75–83, 2023.</a:t>
            </a:r>
          </a:p>
          <a:p>
            <a:pPr lvl="0" eaLnBrk="0" fontAlgn="base" hangingPunct="0">
              <a:spcBef>
                <a:spcPct val="0"/>
              </a:spcBef>
              <a:spcAft>
                <a:spcPct val="0"/>
              </a:spcAft>
              <a:buClrTx/>
            </a:pPr>
            <a:r>
              <a:rPr lang="pt-BR" dirty="0"/>
              <a:t>SANTOS, F.; NOLAU, I. Previsão de inflação: análise preliminar de desempenho de técnicas de machine learning. [S. l.], 2022.</a:t>
            </a:r>
          </a:p>
          <a:p>
            <a:pPr lvl="0" eaLnBrk="0" fontAlgn="base" hangingPunct="0">
              <a:spcBef>
                <a:spcPct val="0"/>
              </a:spcBef>
              <a:spcAft>
                <a:spcPct val="0"/>
              </a:spcAft>
              <a:buClrTx/>
            </a:pPr>
            <a:r>
              <a:rPr lang="pt-BR" dirty="0"/>
              <a:t>SERRANO, F. M. Impacto regional da política monetária no Brasil: uma abordagem bayesiana. Dissertação (Mestrado em Teoria Econômica) – Universidade de São Paulo, 2014. Disponível em: https://doi.org/10.11606/D.12.2014.tde-16032015-132813.</a:t>
            </a:r>
          </a:p>
          <a:p>
            <a:pPr lvl="0" eaLnBrk="0" fontAlgn="base" hangingPunct="0">
              <a:spcBef>
                <a:spcPct val="0"/>
              </a:spcBef>
              <a:spcAft>
                <a:spcPct val="0"/>
              </a:spcAft>
              <a:buClrTx/>
            </a:pPr>
            <a:r>
              <a:rPr lang="pt-BR" dirty="0"/>
              <a:t>SILVA, P. N.; SILVA, G. V. P. d. Dados abertos do IBGE: recuperação na API de dados agregados. Encontros Bibli, v. 29, p. e96185, 2024.</a:t>
            </a:r>
          </a:p>
          <a:p>
            <a:pPr lvl="0" eaLnBrk="0" fontAlgn="base" hangingPunct="0">
              <a:spcBef>
                <a:spcPct val="0"/>
              </a:spcBef>
              <a:spcAft>
                <a:spcPct val="0"/>
              </a:spcAft>
              <a:buClrTx/>
            </a:pPr>
            <a:r>
              <a:rPr lang="pt-BR" dirty="0"/>
              <a:t>SILVA, T. R. d.; CLERICUZI, A. Z.; CARVALHO, J. N. d. Modelagem de séries temporais utilizando ARIMA: previsão futura do PIB brasileiro. International Contemporary Management Review, v. 6, n. 2, p. e385, 2025.</a:t>
            </a:r>
          </a:p>
          <a:p>
            <a:pPr lvl="0" eaLnBrk="0" fontAlgn="base" hangingPunct="0">
              <a:spcBef>
                <a:spcPct val="0"/>
              </a:spcBef>
              <a:spcAft>
                <a:spcPct val="0"/>
              </a:spcAft>
              <a:buClrTx/>
            </a:pPr>
            <a:r>
              <a:rPr lang="pt-BR" dirty="0"/>
              <a:t>SIMS, C. A. Macroeconomics and Reality. Econometrica, p. 1–48, 1980.</a:t>
            </a:r>
          </a:p>
          <a:p>
            <a:pPr lvl="0" eaLnBrk="0" fontAlgn="base" hangingPunct="0">
              <a:spcBef>
                <a:spcPct val="0"/>
              </a:spcBef>
              <a:spcAft>
                <a:spcPct val="0"/>
              </a:spcAft>
              <a:buClrTx/>
            </a:pPr>
            <a:r>
              <a:rPr lang="pt-BR" dirty="0"/>
              <a:t>U.S. Bureau of Economic Analysis. Gross Domestic Product. 2026. Disponível em: https://www.bea.gov/data/gdp/gross-domestic-product.</a:t>
            </a:r>
          </a:p>
          <a:p>
            <a:pPr lvl="0" eaLnBrk="0" fontAlgn="base" hangingPunct="0">
              <a:spcBef>
                <a:spcPct val="0"/>
              </a:spcBef>
              <a:spcAft>
                <a:spcPct val="0"/>
              </a:spcAft>
              <a:buClrTx/>
            </a:pPr>
            <a:r>
              <a:rPr lang="pt-BR" dirty="0"/>
              <a:t>VASCONCELOS, B. F. B. de. Poder preditivo de métodos de Machine Learning com processos de seleção de variáveis: uma aplicação às projeções de produto de países. Tese (Doutorado) – Universidade de Brasília, 2017. Disponível em: http://dx.doi.org/10.26512/2017.03.D.23995.</a:t>
            </a:r>
          </a:p>
          <a:p>
            <a:pPr lvl="0" eaLnBrk="0" fontAlgn="base" hangingPunct="0">
              <a:spcBef>
                <a:spcPct val="0"/>
              </a:spcBef>
              <a:spcAft>
                <a:spcPct val="0"/>
              </a:spcAft>
              <a:buClrTx/>
            </a:pPr>
            <a:r>
              <a:rPr lang="pt-BR" dirty="0"/>
              <a:t>VASCONCELOS, M. Atlas de Economia. 2. ed. São Paulo: Atlas, 2020.</a:t>
            </a:r>
          </a:p>
        </p:txBody>
      </p:sp>
    </p:spTree>
    <p:extLst>
      <p:ext uri="{BB962C8B-B14F-4D97-AF65-F5344CB8AC3E}">
        <p14:creationId xmlns:p14="http://schemas.microsoft.com/office/powerpoint/2010/main" val="3790380238"/>
      </p:ext>
    </p:extLst>
  </p:cSld>
  <p:clrMapOvr>
    <a:masterClrMapping/>
  </p:clrMapOvr>
</p:sld>
</file>

<file path=ppt/theme/theme1.xml><?xml version="1.0" encoding="utf-8"?>
<a:theme xmlns:a="http://schemas.openxmlformats.org/drawingml/2006/main" name="Tema do Offic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Tema do Offic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5293</TotalTime>
  <Words>5171</Words>
  <Application>Microsoft Office PowerPoint</Application>
  <PresentationFormat>Widescreen</PresentationFormat>
  <Paragraphs>276</Paragraphs>
  <Slides>46</Slides>
  <Notes>46</Notes>
  <HiddenSlides>0</HiddenSlides>
  <MMClips>0</MMClips>
  <ScaleCrop>false</ScaleCrop>
  <HeadingPairs>
    <vt:vector size="6" baseType="variant">
      <vt:variant>
        <vt:lpstr>Fontes usadas</vt:lpstr>
      </vt:variant>
      <vt:variant>
        <vt:i4>2</vt:i4>
      </vt:variant>
      <vt:variant>
        <vt:lpstr>Tema</vt:lpstr>
      </vt:variant>
      <vt:variant>
        <vt:i4>1</vt:i4>
      </vt:variant>
      <vt:variant>
        <vt:lpstr>Títulos de slides</vt:lpstr>
      </vt:variant>
      <vt:variant>
        <vt:i4>46</vt:i4>
      </vt:variant>
    </vt:vector>
  </HeadingPairs>
  <TitlesOfParts>
    <vt:vector size="49" baseType="lpstr">
      <vt:lpstr>Arial</vt:lpstr>
      <vt:lpstr>Calibri</vt:lpstr>
      <vt:lpstr>Tema do Office</vt:lpstr>
      <vt:lpstr>AS MÁQUINAS ECONÔMICAS:  PREDIÇÃO DO PIB BRASILEIRO UTILIZANDO INTELIGÊNCIA ARTIFICIAL</vt:lpstr>
      <vt:lpstr>Introdução</vt:lpstr>
      <vt:lpstr>Introdução</vt:lpstr>
      <vt:lpstr>Tema</vt:lpstr>
      <vt:lpstr>Problema de Pesquisa</vt:lpstr>
      <vt:lpstr>Objetivos</vt:lpstr>
      <vt:lpstr>Justificativa</vt:lpstr>
      <vt:lpstr>Revisão de literatura</vt:lpstr>
      <vt:lpstr>Revisão de literatura</vt:lpstr>
      <vt:lpstr>Revisão de literatura</vt:lpstr>
      <vt:lpstr>Revisão de literatura</vt:lpstr>
      <vt:lpstr>Revisão de literatura</vt:lpstr>
      <vt:lpstr>Revisão de literatura</vt:lpstr>
      <vt:lpstr>Revisão de literatura</vt:lpstr>
      <vt:lpstr>Revisão de literatura</vt:lpstr>
      <vt:lpstr>Revisão de literatura</vt:lpstr>
      <vt:lpstr>Revisão de literatura</vt:lpstr>
      <vt:lpstr>Metodologia</vt:lpstr>
      <vt:lpstr>Metodologia</vt:lpstr>
      <vt:lpstr>Resultados - ARIMA</vt:lpstr>
      <vt:lpstr>Resultados - ARIMA</vt:lpstr>
      <vt:lpstr>Resultados - ARIMA</vt:lpstr>
      <vt:lpstr>Resultados – VAR</vt:lpstr>
      <vt:lpstr>Resultados - VAR</vt:lpstr>
      <vt:lpstr>Resultados - VAR</vt:lpstr>
      <vt:lpstr>Resultados - VAR</vt:lpstr>
      <vt:lpstr>Resultados - MIDAS</vt:lpstr>
      <vt:lpstr>Resultados - MIDAS</vt:lpstr>
      <vt:lpstr>Resultados - MIDAS</vt:lpstr>
      <vt:lpstr>Resultados - DFM</vt:lpstr>
      <vt:lpstr>Resultados - DFM</vt:lpstr>
      <vt:lpstr>Resultados - DFM</vt:lpstr>
      <vt:lpstr>Resultados - DFM</vt:lpstr>
      <vt:lpstr>Resultados - DFM</vt:lpstr>
      <vt:lpstr>Resultados – Rede Neural</vt:lpstr>
      <vt:lpstr>Resultados – Rede Neural</vt:lpstr>
      <vt:lpstr>Resultados – Rede Neural</vt:lpstr>
      <vt:lpstr>Resultados – Random Forest</vt:lpstr>
      <vt:lpstr>Resultados – Random Forest</vt:lpstr>
      <vt:lpstr>Resultados – Random Forest</vt:lpstr>
      <vt:lpstr>Resultados – Random Forest</vt:lpstr>
      <vt:lpstr>Conclusão e trabalhos futuros – Em progresso</vt:lpstr>
      <vt:lpstr>Referências</vt:lpstr>
      <vt:lpstr>Referências</vt:lpstr>
      <vt:lpstr>Referências</vt:lpstr>
      <vt:lpstr>Referências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MACROECONOMIA III</dc:title>
  <dc:creator>User</dc:creator>
  <cp:lastModifiedBy>Leonilso Fandres Wrublak</cp:lastModifiedBy>
  <cp:revision>27</cp:revision>
  <dcterms:created xsi:type="dcterms:W3CDTF">2024-11-26T00:22:11Z</dcterms:created>
  <dcterms:modified xsi:type="dcterms:W3CDTF">2026-10-22T19:44:50Z</dcterms:modified>
</cp:coreProperties>
</file>